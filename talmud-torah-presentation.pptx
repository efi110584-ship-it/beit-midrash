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7" r:id="rId4"/>
    <p:sldId id="262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61" r:id="rId17"/>
    <p:sldId id="272" r:id="rId18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  <a:srgbClr val="00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D1A0D8-0CB7-4CB2-AD4B-ACA36FF0676D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A17731A-4310-4FBA-B7FE-9C193E5A0A08}">
      <dgm:prSet/>
      <dgm:spPr/>
      <dgm:t>
        <a:bodyPr/>
        <a:lstStyle/>
        <a:p>
          <a:r>
            <a:rPr lang="he-IL" dirty="0">
              <a:latin typeface="Assistant" panose="00000500000000000000" pitchFamily="2" charset="-79"/>
              <a:cs typeface="Assistant" panose="00000500000000000000" pitchFamily="2" charset="-79"/>
            </a:rPr>
            <a:t>הגדרת המצווה- המקור בתורה ובחז"ל</a:t>
          </a:r>
          <a:endParaRPr lang="en-US" dirty="0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A1AF50C4-228E-405E-8BC1-F35CD044C1FF}" type="parTrans" cxnId="{A61AB59A-7893-485F-942A-FDC53BE9961C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60B16745-B0A4-4F14-BBB4-0590912F54AE}" type="sibTrans" cxnId="{A61AB59A-7893-485F-942A-FDC53BE9961C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5DA0A94F-72F7-49D4-9615-D8481238062F}">
      <dgm:prSet/>
      <dgm:spPr/>
      <dgm:t>
        <a:bodyPr/>
        <a:lstStyle/>
        <a:p>
          <a:r>
            <a:rPr lang="he-IL">
              <a:latin typeface="Assistant" panose="00000500000000000000" pitchFamily="2" charset="-79"/>
              <a:cs typeface="Assistant" panose="00000500000000000000" pitchFamily="2" charset="-79"/>
            </a:rPr>
            <a:t>שורש המצווה- ההסבר, הטעם למצווה הזו</a:t>
          </a:r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60EDC498-8451-49CE-9708-955F9EF87F1F}" type="parTrans" cxnId="{9B88BCBB-9641-4523-8B60-E7A8385C1F50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4857AA51-F648-42DF-BE8A-0EC7D0308101}" type="sibTrans" cxnId="{9B88BCBB-9641-4523-8B60-E7A8385C1F50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E456B64D-A9ED-4256-AAFB-1A40A1BB6445}">
      <dgm:prSet/>
      <dgm:spPr/>
      <dgm:t>
        <a:bodyPr/>
        <a:lstStyle/>
        <a:p>
          <a:r>
            <a:rPr lang="he-IL" dirty="0">
              <a:latin typeface="Assistant" panose="00000500000000000000" pitchFamily="2" charset="-79"/>
              <a:cs typeface="Assistant" panose="00000500000000000000" pitchFamily="2" charset="-79"/>
            </a:rPr>
            <a:t>דיני המצווה- ההלכות שנלמדות מהמצווה</a:t>
          </a:r>
          <a:endParaRPr lang="en-US" dirty="0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70C89C0C-CF25-4A66-99E3-C83E438AAA45}" type="parTrans" cxnId="{CA032663-870D-4759-897D-458B63FE5617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2D24F132-C193-4C08-8BF1-4204117DD4DC}" type="sibTrans" cxnId="{CA032663-870D-4759-897D-458B63FE5617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D1780AC5-10A3-4DB4-A636-86AED5DD9330}">
      <dgm:prSet/>
      <dgm:spPr/>
      <dgm:t>
        <a:bodyPr/>
        <a:lstStyle/>
        <a:p>
          <a:r>
            <a:rPr lang="he-IL" dirty="0">
              <a:latin typeface="Assistant" panose="00000500000000000000" pitchFamily="2" charset="-79"/>
              <a:cs typeface="Assistant" panose="00000500000000000000" pitchFamily="2" charset="-79"/>
            </a:rPr>
            <a:t>למעשה- מתי עושים אותה, היכן היא נוהגת את מי היא מחייבת ומה העונש. </a:t>
          </a:r>
          <a:endParaRPr lang="en-US" dirty="0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F3609DC0-E0EA-422B-A865-9E4279D8610E}" type="parTrans" cxnId="{999A6B6D-7393-4426-8BDD-7DBD0C56D75C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ADF28171-6A15-4D51-8412-5EC79CA4434B}" type="sibTrans" cxnId="{999A6B6D-7393-4426-8BDD-7DBD0C56D75C}">
      <dgm:prSet/>
      <dgm:spPr/>
      <dgm:t>
        <a:bodyPr/>
        <a:lstStyle/>
        <a:p>
          <a:endParaRPr lang="en-US">
            <a:latin typeface="Assistant" panose="00000500000000000000" pitchFamily="2" charset="-79"/>
            <a:cs typeface="Assistant" panose="00000500000000000000" pitchFamily="2" charset="-79"/>
          </a:endParaRPr>
        </a:p>
      </dgm:t>
    </dgm:pt>
    <dgm:pt modelId="{B6722550-90A6-4AF0-A88B-405FA135A2C6}" type="pres">
      <dgm:prSet presAssocID="{A0D1A0D8-0CB7-4CB2-AD4B-ACA36FF0676D}" presName="outerComposite" presStyleCnt="0">
        <dgm:presLayoutVars>
          <dgm:chMax val="5"/>
          <dgm:dir/>
          <dgm:resizeHandles val="exact"/>
        </dgm:presLayoutVars>
      </dgm:prSet>
      <dgm:spPr/>
    </dgm:pt>
    <dgm:pt modelId="{817EDEA5-C3D5-4004-9EF8-9CE7DD63F8AB}" type="pres">
      <dgm:prSet presAssocID="{A0D1A0D8-0CB7-4CB2-AD4B-ACA36FF0676D}" presName="dummyMaxCanvas" presStyleCnt="0">
        <dgm:presLayoutVars/>
      </dgm:prSet>
      <dgm:spPr/>
    </dgm:pt>
    <dgm:pt modelId="{B0F831B0-279A-4BA6-A802-05C6B22A1A19}" type="pres">
      <dgm:prSet presAssocID="{A0D1A0D8-0CB7-4CB2-AD4B-ACA36FF0676D}" presName="FourNodes_1" presStyleLbl="node1" presStyleIdx="0" presStyleCnt="4">
        <dgm:presLayoutVars>
          <dgm:bulletEnabled val="1"/>
        </dgm:presLayoutVars>
      </dgm:prSet>
      <dgm:spPr/>
    </dgm:pt>
    <dgm:pt modelId="{F2DCC05C-E1DE-46FD-8297-5AF5C53A208E}" type="pres">
      <dgm:prSet presAssocID="{A0D1A0D8-0CB7-4CB2-AD4B-ACA36FF0676D}" presName="FourNodes_2" presStyleLbl="node1" presStyleIdx="1" presStyleCnt="4" custLinFactNeighborX="349">
        <dgm:presLayoutVars>
          <dgm:bulletEnabled val="1"/>
        </dgm:presLayoutVars>
      </dgm:prSet>
      <dgm:spPr/>
    </dgm:pt>
    <dgm:pt modelId="{439EAE60-0C22-4EFF-8D3D-14525E6F5C99}" type="pres">
      <dgm:prSet presAssocID="{A0D1A0D8-0CB7-4CB2-AD4B-ACA36FF0676D}" presName="FourNodes_3" presStyleLbl="node1" presStyleIdx="2" presStyleCnt="4">
        <dgm:presLayoutVars>
          <dgm:bulletEnabled val="1"/>
        </dgm:presLayoutVars>
      </dgm:prSet>
      <dgm:spPr/>
    </dgm:pt>
    <dgm:pt modelId="{BA008E45-B7CC-41D8-AFBC-802095066C22}" type="pres">
      <dgm:prSet presAssocID="{A0D1A0D8-0CB7-4CB2-AD4B-ACA36FF0676D}" presName="FourNodes_4" presStyleLbl="node1" presStyleIdx="3" presStyleCnt="4">
        <dgm:presLayoutVars>
          <dgm:bulletEnabled val="1"/>
        </dgm:presLayoutVars>
      </dgm:prSet>
      <dgm:spPr/>
    </dgm:pt>
    <dgm:pt modelId="{FDB4E4E3-6D6C-47A9-BD6D-F5B630A70E59}" type="pres">
      <dgm:prSet presAssocID="{A0D1A0D8-0CB7-4CB2-AD4B-ACA36FF0676D}" presName="FourConn_1-2" presStyleLbl="fgAccFollowNode1" presStyleIdx="0" presStyleCnt="3">
        <dgm:presLayoutVars>
          <dgm:bulletEnabled val="1"/>
        </dgm:presLayoutVars>
      </dgm:prSet>
      <dgm:spPr/>
    </dgm:pt>
    <dgm:pt modelId="{3B0B84EB-5F8F-40CF-B815-7DFF6C1D4AE7}" type="pres">
      <dgm:prSet presAssocID="{A0D1A0D8-0CB7-4CB2-AD4B-ACA36FF0676D}" presName="FourConn_2-3" presStyleLbl="fgAccFollowNode1" presStyleIdx="1" presStyleCnt="3">
        <dgm:presLayoutVars>
          <dgm:bulletEnabled val="1"/>
        </dgm:presLayoutVars>
      </dgm:prSet>
      <dgm:spPr/>
    </dgm:pt>
    <dgm:pt modelId="{495656A7-27F9-4D8B-9A38-F976AA3CBEDE}" type="pres">
      <dgm:prSet presAssocID="{A0D1A0D8-0CB7-4CB2-AD4B-ACA36FF0676D}" presName="FourConn_3-4" presStyleLbl="fgAccFollowNode1" presStyleIdx="2" presStyleCnt="3">
        <dgm:presLayoutVars>
          <dgm:bulletEnabled val="1"/>
        </dgm:presLayoutVars>
      </dgm:prSet>
      <dgm:spPr/>
    </dgm:pt>
    <dgm:pt modelId="{719C0E79-885F-4777-80D5-F1F366E46E7A}" type="pres">
      <dgm:prSet presAssocID="{A0D1A0D8-0CB7-4CB2-AD4B-ACA36FF0676D}" presName="FourNodes_1_text" presStyleLbl="node1" presStyleIdx="3" presStyleCnt="4">
        <dgm:presLayoutVars>
          <dgm:bulletEnabled val="1"/>
        </dgm:presLayoutVars>
      </dgm:prSet>
      <dgm:spPr/>
    </dgm:pt>
    <dgm:pt modelId="{ECC2C7D5-6CED-49B4-8A4F-28DF0C702B85}" type="pres">
      <dgm:prSet presAssocID="{A0D1A0D8-0CB7-4CB2-AD4B-ACA36FF0676D}" presName="FourNodes_2_text" presStyleLbl="node1" presStyleIdx="3" presStyleCnt="4">
        <dgm:presLayoutVars>
          <dgm:bulletEnabled val="1"/>
        </dgm:presLayoutVars>
      </dgm:prSet>
      <dgm:spPr/>
    </dgm:pt>
    <dgm:pt modelId="{7CDDA1F7-6CED-45AC-B3D5-ADD582A9B3D9}" type="pres">
      <dgm:prSet presAssocID="{A0D1A0D8-0CB7-4CB2-AD4B-ACA36FF0676D}" presName="FourNodes_3_text" presStyleLbl="node1" presStyleIdx="3" presStyleCnt="4">
        <dgm:presLayoutVars>
          <dgm:bulletEnabled val="1"/>
        </dgm:presLayoutVars>
      </dgm:prSet>
      <dgm:spPr/>
    </dgm:pt>
    <dgm:pt modelId="{5DCE10BF-ED57-4558-9D3A-4FDAEB32D497}" type="pres">
      <dgm:prSet presAssocID="{A0D1A0D8-0CB7-4CB2-AD4B-ACA36FF0676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2D8831A-CFB8-4016-9EB4-AA3698633153}" type="presOf" srcId="{E456B64D-A9ED-4256-AAFB-1A40A1BB6445}" destId="{439EAE60-0C22-4EFF-8D3D-14525E6F5C99}" srcOrd="0" destOrd="0" presId="urn:microsoft.com/office/officeart/2005/8/layout/vProcess5"/>
    <dgm:cxn modelId="{CA2FE71D-274F-43B2-9DC2-25F3CAFD11AC}" type="presOf" srcId="{D1780AC5-10A3-4DB4-A636-86AED5DD9330}" destId="{5DCE10BF-ED57-4558-9D3A-4FDAEB32D497}" srcOrd="1" destOrd="0" presId="urn:microsoft.com/office/officeart/2005/8/layout/vProcess5"/>
    <dgm:cxn modelId="{D34B9528-A6DA-4CF0-B22A-D9C3471A9A7E}" type="presOf" srcId="{DA17731A-4310-4FBA-B7FE-9C193E5A0A08}" destId="{B0F831B0-279A-4BA6-A802-05C6B22A1A19}" srcOrd="0" destOrd="0" presId="urn:microsoft.com/office/officeart/2005/8/layout/vProcess5"/>
    <dgm:cxn modelId="{9287C940-2A66-4FFF-B1B0-C374C6FF874D}" type="presOf" srcId="{DA17731A-4310-4FBA-B7FE-9C193E5A0A08}" destId="{719C0E79-885F-4777-80D5-F1F366E46E7A}" srcOrd="1" destOrd="0" presId="urn:microsoft.com/office/officeart/2005/8/layout/vProcess5"/>
    <dgm:cxn modelId="{CA032663-870D-4759-897D-458B63FE5617}" srcId="{A0D1A0D8-0CB7-4CB2-AD4B-ACA36FF0676D}" destId="{E456B64D-A9ED-4256-AAFB-1A40A1BB6445}" srcOrd="2" destOrd="0" parTransId="{70C89C0C-CF25-4A66-99E3-C83E438AAA45}" sibTransId="{2D24F132-C193-4C08-8BF1-4204117DD4DC}"/>
    <dgm:cxn modelId="{999A6B6D-7393-4426-8BDD-7DBD0C56D75C}" srcId="{A0D1A0D8-0CB7-4CB2-AD4B-ACA36FF0676D}" destId="{D1780AC5-10A3-4DB4-A636-86AED5DD9330}" srcOrd="3" destOrd="0" parTransId="{F3609DC0-E0EA-422B-A865-9E4279D8610E}" sibTransId="{ADF28171-6A15-4D51-8412-5EC79CA4434B}"/>
    <dgm:cxn modelId="{C68D3281-F99F-42FD-86A1-B96605814E0E}" type="presOf" srcId="{2D24F132-C193-4C08-8BF1-4204117DD4DC}" destId="{495656A7-27F9-4D8B-9A38-F976AA3CBEDE}" srcOrd="0" destOrd="0" presId="urn:microsoft.com/office/officeart/2005/8/layout/vProcess5"/>
    <dgm:cxn modelId="{551C0288-38C2-455C-B3EA-27AC763B21F9}" type="presOf" srcId="{E456B64D-A9ED-4256-AAFB-1A40A1BB6445}" destId="{7CDDA1F7-6CED-45AC-B3D5-ADD582A9B3D9}" srcOrd="1" destOrd="0" presId="urn:microsoft.com/office/officeart/2005/8/layout/vProcess5"/>
    <dgm:cxn modelId="{E53E6C89-9525-4CBE-B6AA-EB37DDC22C1F}" type="presOf" srcId="{A0D1A0D8-0CB7-4CB2-AD4B-ACA36FF0676D}" destId="{B6722550-90A6-4AF0-A88B-405FA135A2C6}" srcOrd="0" destOrd="0" presId="urn:microsoft.com/office/officeart/2005/8/layout/vProcess5"/>
    <dgm:cxn modelId="{1B8DF491-3BDB-491E-8F9E-A5B6B5FE53D3}" type="presOf" srcId="{5DA0A94F-72F7-49D4-9615-D8481238062F}" destId="{ECC2C7D5-6CED-49B4-8A4F-28DF0C702B85}" srcOrd="1" destOrd="0" presId="urn:microsoft.com/office/officeart/2005/8/layout/vProcess5"/>
    <dgm:cxn modelId="{D4304D92-320F-4BFF-B5D4-57E75AD75884}" type="presOf" srcId="{4857AA51-F648-42DF-BE8A-0EC7D0308101}" destId="{3B0B84EB-5F8F-40CF-B815-7DFF6C1D4AE7}" srcOrd="0" destOrd="0" presId="urn:microsoft.com/office/officeart/2005/8/layout/vProcess5"/>
    <dgm:cxn modelId="{A61AB59A-7893-485F-942A-FDC53BE9961C}" srcId="{A0D1A0D8-0CB7-4CB2-AD4B-ACA36FF0676D}" destId="{DA17731A-4310-4FBA-B7FE-9C193E5A0A08}" srcOrd="0" destOrd="0" parTransId="{A1AF50C4-228E-405E-8BC1-F35CD044C1FF}" sibTransId="{60B16745-B0A4-4F14-BBB4-0590912F54AE}"/>
    <dgm:cxn modelId="{49808FA6-EC6B-43BA-8B3A-CDB387A6171E}" type="presOf" srcId="{60B16745-B0A4-4F14-BBB4-0590912F54AE}" destId="{FDB4E4E3-6D6C-47A9-BD6D-F5B630A70E59}" srcOrd="0" destOrd="0" presId="urn:microsoft.com/office/officeart/2005/8/layout/vProcess5"/>
    <dgm:cxn modelId="{9B88BCBB-9641-4523-8B60-E7A8385C1F50}" srcId="{A0D1A0D8-0CB7-4CB2-AD4B-ACA36FF0676D}" destId="{5DA0A94F-72F7-49D4-9615-D8481238062F}" srcOrd="1" destOrd="0" parTransId="{60EDC498-8451-49CE-9708-955F9EF87F1F}" sibTransId="{4857AA51-F648-42DF-BE8A-0EC7D0308101}"/>
    <dgm:cxn modelId="{8255CAED-ADA9-4329-BEB3-4DA7F94FEEC1}" type="presOf" srcId="{5DA0A94F-72F7-49D4-9615-D8481238062F}" destId="{F2DCC05C-E1DE-46FD-8297-5AF5C53A208E}" srcOrd="0" destOrd="0" presId="urn:microsoft.com/office/officeart/2005/8/layout/vProcess5"/>
    <dgm:cxn modelId="{F9C3B1EE-A047-4904-AE6B-BDC9B666C4C0}" type="presOf" srcId="{D1780AC5-10A3-4DB4-A636-86AED5DD9330}" destId="{BA008E45-B7CC-41D8-AFBC-802095066C22}" srcOrd="0" destOrd="0" presId="urn:microsoft.com/office/officeart/2005/8/layout/vProcess5"/>
    <dgm:cxn modelId="{D592FED6-9146-4B16-B238-9E5892F5A69D}" type="presParOf" srcId="{B6722550-90A6-4AF0-A88B-405FA135A2C6}" destId="{817EDEA5-C3D5-4004-9EF8-9CE7DD63F8AB}" srcOrd="0" destOrd="0" presId="urn:microsoft.com/office/officeart/2005/8/layout/vProcess5"/>
    <dgm:cxn modelId="{DFA8FB0C-3DEC-4844-BA31-7E6520276BC4}" type="presParOf" srcId="{B6722550-90A6-4AF0-A88B-405FA135A2C6}" destId="{B0F831B0-279A-4BA6-A802-05C6B22A1A19}" srcOrd="1" destOrd="0" presId="urn:microsoft.com/office/officeart/2005/8/layout/vProcess5"/>
    <dgm:cxn modelId="{82EA210C-6CFD-446E-9F52-EE34B22F519F}" type="presParOf" srcId="{B6722550-90A6-4AF0-A88B-405FA135A2C6}" destId="{F2DCC05C-E1DE-46FD-8297-5AF5C53A208E}" srcOrd="2" destOrd="0" presId="urn:microsoft.com/office/officeart/2005/8/layout/vProcess5"/>
    <dgm:cxn modelId="{7639F6FD-A2A4-4EEC-8DCC-0C10A37F5738}" type="presParOf" srcId="{B6722550-90A6-4AF0-A88B-405FA135A2C6}" destId="{439EAE60-0C22-4EFF-8D3D-14525E6F5C99}" srcOrd="3" destOrd="0" presId="urn:microsoft.com/office/officeart/2005/8/layout/vProcess5"/>
    <dgm:cxn modelId="{95DC2C07-B303-4369-BB39-6BB870BB0DBB}" type="presParOf" srcId="{B6722550-90A6-4AF0-A88B-405FA135A2C6}" destId="{BA008E45-B7CC-41D8-AFBC-802095066C22}" srcOrd="4" destOrd="0" presId="urn:microsoft.com/office/officeart/2005/8/layout/vProcess5"/>
    <dgm:cxn modelId="{A8719300-67EF-4971-A5D7-D78B8DA7D189}" type="presParOf" srcId="{B6722550-90A6-4AF0-A88B-405FA135A2C6}" destId="{FDB4E4E3-6D6C-47A9-BD6D-F5B630A70E59}" srcOrd="5" destOrd="0" presId="urn:microsoft.com/office/officeart/2005/8/layout/vProcess5"/>
    <dgm:cxn modelId="{8B5B8D7F-E044-4AC3-8CC5-B0CECEBA37FF}" type="presParOf" srcId="{B6722550-90A6-4AF0-A88B-405FA135A2C6}" destId="{3B0B84EB-5F8F-40CF-B815-7DFF6C1D4AE7}" srcOrd="6" destOrd="0" presId="urn:microsoft.com/office/officeart/2005/8/layout/vProcess5"/>
    <dgm:cxn modelId="{C4C9B6DD-3124-40F5-888B-CC5EC6355437}" type="presParOf" srcId="{B6722550-90A6-4AF0-A88B-405FA135A2C6}" destId="{495656A7-27F9-4D8B-9A38-F976AA3CBEDE}" srcOrd="7" destOrd="0" presId="urn:microsoft.com/office/officeart/2005/8/layout/vProcess5"/>
    <dgm:cxn modelId="{6844CD81-7B5B-4200-8061-5EC088685F19}" type="presParOf" srcId="{B6722550-90A6-4AF0-A88B-405FA135A2C6}" destId="{719C0E79-885F-4777-80D5-F1F366E46E7A}" srcOrd="8" destOrd="0" presId="urn:microsoft.com/office/officeart/2005/8/layout/vProcess5"/>
    <dgm:cxn modelId="{E1B1E443-DF43-4192-A08A-4D1B7956725F}" type="presParOf" srcId="{B6722550-90A6-4AF0-A88B-405FA135A2C6}" destId="{ECC2C7D5-6CED-49B4-8A4F-28DF0C702B85}" srcOrd="9" destOrd="0" presId="urn:microsoft.com/office/officeart/2005/8/layout/vProcess5"/>
    <dgm:cxn modelId="{EDAA470E-17EC-472D-B10B-8E87347AB92E}" type="presParOf" srcId="{B6722550-90A6-4AF0-A88B-405FA135A2C6}" destId="{7CDDA1F7-6CED-45AC-B3D5-ADD582A9B3D9}" srcOrd="10" destOrd="0" presId="urn:microsoft.com/office/officeart/2005/8/layout/vProcess5"/>
    <dgm:cxn modelId="{2E7B03AB-7937-4458-9538-C993FC01C95D}" type="presParOf" srcId="{B6722550-90A6-4AF0-A88B-405FA135A2C6}" destId="{5DCE10BF-ED57-4558-9D3A-4FDAEB32D49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831B0-279A-4BA6-A802-05C6B22A1A19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>
              <a:latin typeface="Assistant" panose="00000500000000000000" pitchFamily="2" charset="-79"/>
              <a:cs typeface="Assistant" panose="00000500000000000000" pitchFamily="2" charset="-79"/>
            </a:rPr>
            <a:t>הגדרת המצווה- המקור בתורה ובחז"ל</a:t>
          </a:r>
          <a:endParaRPr lang="en-US" sz="2400" kern="1200" dirty="0">
            <a:latin typeface="Assistant" panose="00000500000000000000" pitchFamily="2" charset="-79"/>
            <a:cs typeface="Assistant" panose="00000500000000000000" pitchFamily="2" charset="-79"/>
          </a:endParaRPr>
        </a:p>
      </dsp:txBody>
      <dsp:txXfrm>
        <a:off x="28038" y="28038"/>
        <a:ext cx="7298593" cy="901218"/>
      </dsp:txXfrm>
    </dsp:sp>
    <dsp:sp modelId="{F2DCC05C-E1DE-46FD-8297-5AF5C53A208E}">
      <dsp:nvSpPr>
        <dsp:cNvPr id="0" name=""/>
        <dsp:cNvSpPr/>
      </dsp:nvSpPr>
      <dsp:spPr>
        <a:xfrm>
          <a:off x="733904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-2252848"/>
            <a:satOff val="-5806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Assistant" panose="00000500000000000000" pitchFamily="2" charset="-79"/>
              <a:cs typeface="Assistant" panose="00000500000000000000" pitchFamily="2" charset="-79"/>
            </a:rPr>
            <a:t>שורש המצווה- ההסבר, הטעם למצווה הזו</a:t>
          </a:r>
          <a:endParaRPr lang="en-US" sz="2400" kern="1200">
            <a:latin typeface="Assistant" panose="00000500000000000000" pitchFamily="2" charset="-79"/>
            <a:cs typeface="Assistant" panose="00000500000000000000" pitchFamily="2" charset="-79"/>
          </a:endParaRPr>
        </a:p>
      </dsp:txBody>
      <dsp:txXfrm>
        <a:off x="761942" y="1159385"/>
        <a:ext cx="7029617" cy="901218"/>
      </dsp:txXfrm>
    </dsp:sp>
    <dsp:sp modelId="{439EAE60-0C22-4EFF-8D3D-14525E6F5C99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-4505695"/>
            <a:satOff val="-11613"/>
            <a:lumOff val="-784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>
              <a:latin typeface="Assistant" panose="00000500000000000000" pitchFamily="2" charset="-79"/>
              <a:cs typeface="Assistant" panose="00000500000000000000" pitchFamily="2" charset="-79"/>
            </a:rPr>
            <a:t>דיני המצווה- ההלכות שנלמדות מהמצווה</a:t>
          </a:r>
          <a:endParaRPr lang="en-US" sz="2400" kern="1200" dirty="0">
            <a:latin typeface="Assistant" panose="00000500000000000000" pitchFamily="2" charset="-79"/>
            <a:cs typeface="Assistant" panose="00000500000000000000" pitchFamily="2" charset="-79"/>
          </a:endParaRPr>
        </a:p>
      </dsp:txBody>
      <dsp:txXfrm>
        <a:off x="1426612" y="2290733"/>
        <a:ext cx="7040133" cy="901218"/>
      </dsp:txXfrm>
    </dsp:sp>
    <dsp:sp modelId="{BA008E45-B7CC-41D8-AFBC-802095066C22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 dirty="0">
              <a:latin typeface="Assistant" panose="00000500000000000000" pitchFamily="2" charset="-79"/>
              <a:cs typeface="Assistant" panose="00000500000000000000" pitchFamily="2" charset="-79"/>
            </a:rPr>
            <a:t>למעשה- מתי עושים אותה, היכן היא נוהגת את מי היא מחייבת ומה העונש. </a:t>
          </a:r>
          <a:endParaRPr lang="en-US" sz="2400" kern="1200" dirty="0">
            <a:latin typeface="Assistant" panose="00000500000000000000" pitchFamily="2" charset="-79"/>
            <a:cs typeface="Assistant" panose="00000500000000000000" pitchFamily="2" charset="-79"/>
          </a:endParaRPr>
        </a:p>
      </dsp:txBody>
      <dsp:txXfrm>
        <a:off x="2131157" y="3422081"/>
        <a:ext cx="7029617" cy="901218"/>
      </dsp:txXfrm>
    </dsp:sp>
    <dsp:sp modelId="{FDB4E4E3-6D6C-47A9-BD6D-F5B630A70E59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Assistant" panose="00000500000000000000" pitchFamily="2" charset="-79"/>
            <a:cs typeface="Assistant" panose="00000500000000000000" pitchFamily="2" charset="-79"/>
          </a:endParaRPr>
        </a:p>
      </dsp:txBody>
      <dsp:txXfrm>
        <a:off x="7930242" y="733200"/>
        <a:ext cx="342233" cy="468236"/>
      </dsp:txXfrm>
    </dsp:sp>
    <dsp:sp modelId="{3B0B84EB-5F8F-40CF-B815-7DFF6C1D4AE7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Assistant" panose="00000500000000000000" pitchFamily="2" charset="-79"/>
            <a:cs typeface="Assistant" panose="00000500000000000000" pitchFamily="2" charset="-79"/>
          </a:endParaRPr>
        </a:p>
      </dsp:txBody>
      <dsp:txXfrm>
        <a:off x="8634787" y="1864548"/>
        <a:ext cx="342233" cy="468236"/>
      </dsp:txXfrm>
    </dsp:sp>
    <dsp:sp modelId="{495656A7-27F9-4D8B-9A38-F976AA3CBEDE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>
            <a:latin typeface="Assistant" panose="00000500000000000000" pitchFamily="2" charset="-79"/>
            <a:cs typeface="Assistant" panose="00000500000000000000" pitchFamily="2" charset="-79"/>
          </a:endParaRPr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A4A4CC-2E1F-41C2-B392-08F1B589D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311781C-23BB-4FD8-9170-C98F0BD78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29D76CE-912D-462E-BA1E-0C140264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35FBED2-6133-4BF3-BC80-7F66154A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3552BBA-AF99-4228-934C-C1DF5161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869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F0CBCCA-074C-44B2-BCC9-8EFD9B13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1F697CB-8091-47BA-A8F6-C4025685F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BE02602-4B4F-41D6-8152-589A5005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C174D65-32FA-46A0-88FC-3E2F6CC18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7CCC03-00E4-4199-A1A9-F66AE77E1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685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E72C40B-356A-4718-8323-E38C88D5F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59FF2DC-F51B-4068-A9D1-C5D2E60CC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36AD4BD-088D-459F-865E-8CAC2D118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E972EA-8C2F-4483-952D-42D15CCD0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6406595-C622-4937-B683-A8A0068E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192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7A6FC8B-402E-4EF4-A136-CB3AD4FAF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A9687ED-513A-4CB3-A7B9-9F5A8F5E1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1456EA9-3FDB-4629-A39D-E8266AEA8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58E1CA4-2D3E-452B-A860-ECC9ED20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1FA4E2B-7057-4A33-9D32-A7294C36D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30B263C-85D6-4001-AAE5-D934173DC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0475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9672FD-CCE4-42B1-8713-74AD39D3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E6F4CFB-5898-4B3C-AF45-141169CDA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F9A10C7-E828-44D9-A2BD-14F02CBD60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E53E841-31DA-46AC-B42D-053CC647FC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4409761A-857C-469F-B42C-E584D475C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0C6BA1D-E8D0-4B30-936C-20B40562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E4EAC176-36DD-4371-9121-CB9D1756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8A71B2E-F254-432B-81B0-F78F7703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7285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3809A6-3449-4827-BB5D-778B5040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4AA6188-A5A7-45BD-AC45-B5773C32D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B081E7A-26F9-4BBC-8159-D626CBC8D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23ADA79-D24E-4967-B24B-32362AA2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964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C2A0A4D-14A6-4E6C-B2BA-0CEB81946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9B91970-24AC-40F0-91B4-30AC8F17F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A853565-F718-465E-840A-21FF9FEA5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984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728095A-511C-4408-9F18-5B523C72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405663B-2D59-4F88-871E-2FEF2FC03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7147020-6D4B-403E-83B8-B6757E371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CDD1CB3-1669-4D0F-8DC9-8CD1B042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B4E8564-8A43-4BBD-A4D5-0AD315EC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9856607-B568-4705-8C99-4661CDED3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755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6BFA6A-1DAD-4252-94A8-DF2FBF4F3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CE160D3-4F69-4561-98E2-AE74576F0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7F980F2-CF7A-4E05-A634-9428E71EA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BF4CBE4-9F6A-48A1-AB39-D18AA235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93B66E5-50AC-44C2-9EEA-998D2821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44BD338-A62E-4692-9621-BEC5D0E6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5183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F3CAFFC-1759-45F7-AA69-DC102D9B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D55895D-9CA6-42D7-ACB8-55F663DC7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236589-5AD4-4427-9924-8242BCACE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C52EA6A-9F3A-4E98-9044-592CD2F89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4F37DFD-3408-49C3-9758-3DF6AD82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8755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931A15D-7E22-429B-9336-A10130ED1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DCE5E7BC-81AC-4CC9-95FC-AC8830420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3D498CD-25F5-47B4-8155-DAF96C87F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B25BC6B-2662-49C3-81EE-074FD7F8B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F520D50-2D5E-4CB4-A2A6-72322B827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3954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3A233F75-CB0D-48E4-ADCA-D13F53A5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EFCE644-9A87-4AF3-8938-9ECEE662E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58CA722-F7FD-4583-AFE0-8E59CE890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044D7-D7C6-4959-92DE-93DF6E9F3000}" type="datetimeFigureOut">
              <a:rPr lang="he-IL" smtClean="0"/>
              <a:t>ה'/אדר/תשפ"א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5E9749D-A8F4-43C5-A91F-BEECAAEAC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68CE8F1-3D77-457E-AD41-706361A6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86BFB-86D8-49A3-BFA7-8521877B763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4168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75F4D120-3921-42A8-A063-46B023CB0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תוצאת תמונה עבור לימוד תורה">
            <a:extLst>
              <a:ext uri="{FF2B5EF4-FFF2-40B4-BE49-F238E27FC236}">
                <a16:creationId xmlns:a16="http://schemas.microsoft.com/office/drawing/2014/main" id="{4EDEA8C4-068F-4BBD-B7FA-C3FAE6885F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6" r="3414" b="-1"/>
          <a:stretch/>
        </p:blipFill>
        <p:spPr bwMode="auto">
          <a:xfrm>
            <a:off x="4476307" y="595421"/>
            <a:ext cx="7715693" cy="565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9D01B3E5-85F4-41A9-A504-D5E6268DE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9"/>
          <a:stretch>
            <a:fillRect/>
          </a:stretch>
        </p:blipFill>
        <p:spPr>
          <a:xfrm>
            <a:off x="3466214" y="550975"/>
            <a:ext cx="8725786" cy="5756049"/>
          </a:xfrm>
          <a:custGeom>
            <a:avLst/>
            <a:gdLst>
              <a:gd name="connsiteX0" fmla="*/ 0 w 8725786"/>
              <a:gd name="connsiteY0" fmla="*/ 0 h 5756049"/>
              <a:gd name="connsiteX1" fmla="*/ 8725786 w 8725786"/>
              <a:gd name="connsiteY1" fmla="*/ 0 h 5756049"/>
              <a:gd name="connsiteX2" fmla="*/ 8725786 w 8725786"/>
              <a:gd name="connsiteY2" fmla="*/ 5756049 h 5756049"/>
              <a:gd name="connsiteX3" fmla="*/ 0 w 8725786"/>
              <a:gd name="connsiteY3" fmla="*/ 5756049 h 5756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25786" h="5756049">
                <a:moveTo>
                  <a:pt x="0" y="0"/>
                </a:moveTo>
                <a:lnTo>
                  <a:pt x="8725786" y="0"/>
                </a:lnTo>
                <a:lnTo>
                  <a:pt x="8725786" y="5756049"/>
                </a:lnTo>
                <a:lnTo>
                  <a:pt x="0" y="5756049"/>
                </a:lnTo>
                <a:close/>
              </a:path>
            </a:pathLst>
          </a:custGeom>
        </p:spPr>
      </p:pic>
      <p:sp>
        <p:nvSpPr>
          <p:cNvPr id="2" name="כותרת 1">
            <a:extLst>
              <a:ext uri="{FF2B5EF4-FFF2-40B4-BE49-F238E27FC236}">
                <a16:creationId xmlns:a16="http://schemas.microsoft.com/office/drawing/2014/main" id="{638B64DE-C8A4-4571-A001-20F364FCD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066" y="2461098"/>
            <a:ext cx="3948269" cy="2383844"/>
          </a:xfrm>
        </p:spPr>
        <p:txBody>
          <a:bodyPr anchor="t">
            <a:normAutofit/>
          </a:bodyPr>
          <a:lstStyle/>
          <a:p>
            <a:r>
              <a:rPr lang="he-IL" sz="4400" dirty="0">
                <a:solidFill>
                  <a:srgbClr val="00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מצווה תי"ט- </a:t>
            </a:r>
            <a:br>
              <a:rPr lang="en-US" sz="4400" dirty="0">
                <a:solidFill>
                  <a:srgbClr val="00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</a:br>
            <a:r>
              <a:rPr lang="he-IL" sz="4400" dirty="0">
                <a:solidFill>
                  <a:srgbClr val="000000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rPr>
              <a:t>מצוות תלמוד תורה</a:t>
            </a:r>
          </a:p>
        </p:txBody>
      </p:sp>
    </p:spTree>
    <p:extLst>
      <p:ext uri="{BB962C8B-B14F-4D97-AF65-F5344CB8AC3E}">
        <p14:creationId xmlns:p14="http://schemas.microsoft.com/office/powerpoint/2010/main" val="316457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תיבת טקסט 4">
            <a:extLst>
              <a:ext uri="{FF2B5EF4-FFF2-40B4-BE49-F238E27FC236}">
                <a16:creationId xmlns:a16="http://schemas.microsoft.com/office/drawing/2014/main" id="{A6FF883E-0390-49DF-B7EF-1262BD853E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1873598"/>
              </p:ext>
            </p:extLst>
          </p:nvPr>
        </p:nvGraphicFramePr>
        <p:xfrm>
          <a:off x="704850" y="1149350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43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24906DD-05FD-4F87-966A-440A0E41B1C8}"/>
              </a:ext>
            </a:extLst>
          </p:cNvPr>
          <p:cNvSpPr txBox="1"/>
          <p:nvPr/>
        </p:nvSpPr>
        <p:spPr>
          <a:xfrm>
            <a:off x="-21252345" y="1311826"/>
            <a:ext cx="32595378" cy="3709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he-IL" sz="3200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lnSpc>
                <a:spcPct val="150000"/>
              </a:lnSpc>
            </a:pPr>
            <a:r>
              <a:rPr lang="he-IL" sz="3200" dirty="0">
                <a:latin typeface="Assistant" panose="00000500000000000000" pitchFamily="2" charset="-79"/>
                <a:cs typeface="Assistant" panose="00000500000000000000" pitchFamily="2" charset="-79"/>
              </a:rPr>
              <a:t>מצות עשה </a:t>
            </a:r>
            <a:r>
              <a:rPr lang="he-IL" sz="3200" b="1" dirty="0">
                <a:solidFill>
                  <a:srgbClr val="0070C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ללמוד חכמת התורה וללמדה</a:t>
            </a:r>
            <a:r>
              <a:rPr lang="he-IL" sz="3200" dirty="0"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he-IL" sz="3200" dirty="0">
                <a:latin typeface="Assistant" panose="00000500000000000000" pitchFamily="2" charset="-79"/>
                <a:cs typeface="Assistant" panose="00000500000000000000" pitchFamily="2" charset="-79"/>
              </a:rPr>
              <a:t>כלומר כיצד נעשה המצוות, ונשמר ממה שמנענו האל ממנו,</a:t>
            </a:r>
          </a:p>
          <a:p>
            <a:pPr>
              <a:lnSpc>
                <a:spcPct val="150000"/>
              </a:lnSpc>
            </a:pPr>
            <a:r>
              <a:rPr lang="he-IL" sz="3200" dirty="0">
                <a:latin typeface="Assistant" panose="00000500000000000000" pitchFamily="2" charset="-79"/>
                <a:cs typeface="Assistant" panose="00000500000000000000" pitchFamily="2" charset="-79"/>
              </a:rPr>
              <a:t>ולדעת גם כן משפטי התורה על כיוון האמת. </a:t>
            </a:r>
          </a:p>
          <a:p>
            <a:pPr>
              <a:lnSpc>
                <a:spcPct val="150000"/>
              </a:lnSpc>
            </a:pPr>
            <a:endParaRPr lang="he-IL" sz="32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10" name="קבוצה 9">
            <a:extLst>
              <a:ext uri="{FF2B5EF4-FFF2-40B4-BE49-F238E27FC236}">
                <a16:creationId xmlns:a16="http://schemas.microsoft.com/office/drawing/2014/main" id="{25C8ECF1-DEB7-4C4C-B108-586DB19BA078}"/>
              </a:ext>
            </a:extLst>
          </p:cNvPr>
          <p:cNvGrpSpPr/>
          <p:nvPr/>
        </p:nvGrpSpPr>
        <p:grpSpPr>
          <a:xfrm>
            <a:off x="3320995" y="455631"/>
            <a:ext cx="8412480" cy="957294"/>
            <a:chOff x="0" y="0"/>
            <a:chExt cx="8412480" cy="957294"/>
          </a:xfrm>
        </p:grpSpPr>
        <p:sp>
          <p:nvSpPr>
            <p:cNvPr id="11" name="מלבן: פינות מעוגלות 10">
              <a:extLst>
                <a:ext uri="{FF2B5EF4-FFF2-40B4-BE49-F238E27FC236}">
                  <a16:creationId xmlns:a16="http://schemas.microsoft.com/office/drawing/2014/main" id="{F91B1A89-4316-48F8-A9F5-E5C83378E096}"/>
                </a:ext>
              </a:extLst>
            </p:cNvPr>
            <p:cNvSpPr/>
            <p:nvPr/>
          </p:nvSpPr>
          <p:spPr>
            <a:xfrm>
              <a:off x="0" y="0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מלבן: פינות מעוגלות 4">
              <a:extLst>
                <a:ext uri="{FF2B5EF4-FFF2-40B4-BE49-F238E27FC236}">
                  <a16:creationId xmlns:a16="http://schemas.microsoft.com/office/drawing/2014/main" id="{9A25EEB7-0EDC-49B6-9515-80458D00F76C}"/>
                </a:ext>
              </a:extLst>
            </p:cNvPr>
            <p:cNvSpPr txBox="1"/>
            <p:nvPr/>
          </p:nvSpPr>
          <p:spPr>
            <a:xfrm>
              <a:off x="28038" y="28038"/>
              <a:ext cx="729859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600" b="1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הגדרת המצווה- המקור בתורה ובחז"ל</a:t>
              </a:r>
              <a:endParaRPr lang="en-US" sz="3600" b="1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1031" name="Picture 7" descr="תוצאת תמונה עבור לימוד תורה">
            <a:extLst>
              <a:ext uri="{FF2B5EF4-FFF2-40B4-BE49-F238E27FC236}">
                <a16:creationId xmlns:a16="http://schemas.microsoft.com/office/drawing/2014/main" id="{632A5334-C8B4-4AF9-BE12-0BA364090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42" y="3671445"/>
            <a:ext cx="2946291" cy="2946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45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71A5832-E87D-4B27-AB82-207A258A8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ועל כל זה נאמר "</a:t>
            </a:r>
            <a:r>
              <a:rPr lang="he-IL" sz="2800" dirty="0" err="1">
                <a:latin typeface="Assistant" panose="00000500000000000000" pitchFamily="2" charset="-79"/>
                <a:cs typeface="Assistant" panose="00000500000000000000" pitchFamily="2" charset="-79"/>
              </a:rPr>
              <a:t>ושננתם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 לבניך"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דברים ו, ז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),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ואמרו רבותינו </a:t>
            </a:r>
            <a:r>
              <a:rPr lang="he-IL" sz="2800" dirty="0" err="1">
                <a:latin typeface="Assistant" panose="00000500000000000000" pitchFamily="2" charset="-79"/>
                <a:cs typeface="Assistant" panose="00000500000000000000" pitchFamily="2" charset="-79"/>
              </a:rPr>
              <a:t>זכרונם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 לברכה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ספרי שם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): </a:t>
            </a:r>
            <a:r>
              <a:rPr lang="he-IL" sz="2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בניך- אלו תלמידיך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וכן אתה מוצא שהתלמידים קרויים בנים, שנאמר "ויצאו בני הנביאים"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מלכים ב </a:t>
            </a:r>
            <a:r>
              <a:rPr lang="he-IL" sz="2000" dirty="0" err="1">
                <a:latin typeface="Assistant" panose="00000500000000000000" pitchFamily="2" charset="-79"/>
                <a:cs typeface="Assistant" panose="00000500000000000000" pitchFamily="2" charset="-79"/>
              </a:rPr>
              <a:t>ב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, ג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),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ושם נאמר "</a:t>
            </a:r>
            <a:r>
              <a:rPr lang="he-IL" sz="2800" dirty="0" err="1">
                <a:latin typeface="Assistant" panose="00000500000000000000" pitchFamily="2" charset="-79"/>
                <a:cs typeface="Assistant" panose="00000500000000000000" pitchFamily="2" charset="-79"/>
              </a:rPr>
              <a:t>ושננתם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" </a:t>
            </a:r>
            <a:r>
              <a:rPr lang="he-IL" sz="2800" b="1" dirty="0">
                <a:solidFill>
                  <a:srgbClr val="00B0F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שיהיו מסודרים בתוך פיך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כשאדם שואלך דבר אל תהא מגמגם לו, אלא תהא אומר לו מיד.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ונכפלה מצוה זו במקומות רבים, שנאמר "ולמדתם", "ועשיתם", "ולמען ילמדו"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דברים ה, א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"ולמדתם אותם את בניכם"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שם יא, </a:t>
            </a:r>
            <a:r>
              <a:rPr lang="he-IL" sz="2000" dirty="0" err="1">
                <a:latin typeface="Assistant" panose="00000500000000000000" pitchFamily="2" charset="-79"/>
                <a:cs typeface="Assistant" panose="00000500000000000000" pitchFamily="2" charset="-79"/>
              </a:rPr>
              <a:t>יט</a:t>
            </a:r>
            <a:r>
              <a:rPr lang="he-IL" sz="2800" dirty="0">
                <a:latin typeface="Assistant" panose="00000500000000000000" pitchFamily="2" charset="-79"/>
                <a:cs typeface="Assistant" panose="00000500000000000000" pitchFamily="2" charset="-79"/>
              </a:rPr>
              <a:t>).</a:t>
            </a:r>
          </a:p>
          <a:p>
            <a:pPr>
              <a:lnSpc>
                <a:spcPct val="150000"/>
              </a:lnSpc>
            </a:pPr>
            <a:endParaRPr lang="he-IL" sz="2800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lnSpc>
                <a:spcPct val="150000"/>
              </a:lnSpc>
            </a:pPr>
            <a:endParaRPr lang="he-IL" dirty="0"/>
          </a:p>
        </p:txBody>
      </p:sp>
      <p:grpSp>
        <p:nvGrpSpPr>
          <p:cNvPr id="5" name="קבוצה 4">
            <a:extLst>
              <a:ext uri="{FF2B5EF4-FFF2-40B4-BE49-F238E27FC236}">
                <a16:creationId xmlns:a16="http://schemas.microsoft.com/office/drawing/2014/main" id="{EB214393-4A97-442B-975D-74295B3503F4}"/>
              </a:ext>
            </a:extLst>
          </p:cNvPr>
          <p:cNvGrpSpPr/>
          <p:nvPr/>
        </p:nvGrpSpPr>
        <p:grpSpPr>
          <a:xfrm>
            <a:off x="3320995" y="455631"/>
            <a:ext cx="8412480" cy="957294"/>
            <a:chOff x="0" y="0"/>
            <a:chExt cx="8412480" cy="957294"/>
          </a:xfrm>
        </p:grpSpPr>
        <p:sp>
          <p:nvSpPr>
            <p:cNvPr id="6" name="מלבן: פינות מעוגלות 5">
              <a:extLst>
                <a:ext uri="{FF2B5EF4-FFF2-40B4-BE49-F238E27FC236}">
                  <a16:creationId xmlns:a16="http://schemas.microsoft.com/office/drawing/2014/main" id="{BF5B0B74-A504-4DF0-BE18-55FEF2855C95}"/>
                </a:ext>
              </a:extLst>
            </p:cNvPr>
            <p:cNvSpPr/>
            <p:nvPr/>
          </p:nvSpPr>
          <p:spPr>
            <a:xfrm>
              <a:off x="0" y="0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מלבן: פינות מעוגלות 4">
              <a:extLst>
                <a:ext uri="{FF2B5EF4-FFF2-40B4-BE49-F238E27FC236}">
                  <a16:creationId xmlns:a16="http://schemas.microsoft.com/office/drawing/2014/main" id="{544BA133-2726-40A2-9FF2-EF4AAC0C30F0}"/>
                </a:ext>
              </a:extLst>
            </p:cNvPr>
            <p:cNvSpPr txBox="1"/>
            <p:nvPr/>
          </p:nvSpPr>
          <p:spPr>
            <a:xfrm>
              <a:off x="28038" y="28038"/>
              <a:ext cx="729859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28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הגדרת המצווה- המקור בתורה ובחז"ל- המשך</a:t>
              </a:r>
              <a:endParaRPr lang="en-US" sz="28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3074" name="Picture 2" descr="תוצאת תמונה עבור איש קורא">
            <a:extLst>
              <a:ext uri="{FF2B5EF4-FFF2-40B4-BE49-F238E27FC236}">
                <a16:creationId xmlns:a16="http://schemas.microsoft.com/office/drawing/2014/main" id="{6CA82BDD-AFA3-47B4-AE5E-F0B3A70FB7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10"/>
          <a:stretch/>
        </p:blipFill>
        <p:spPr bwMode="auto">
          <a:xfrm>
            <a:off x="314325" y="294273"/>
            <a:ext cx="2724150" cy="263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015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38F4C0-D2F2-4D72-9DD6-5AD1C399E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314450" y="1616075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שרש מצוה זו ידוע,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כי </a:t>
            </a:r>
            <a:r>
              <a:rPr lang="he-IL" b="1" dirty="0">
                <a:solidFill>
                  <a:srgbClr val="00B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בלימוד ידע האדם דרכי השם יתברך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וזולתו לא ידע ולא יבין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ונחשב כבהמה.</a:t>
            </a:r>
          </a:p>
          <a:p>
            <a:pPr>
              <a:lnSpc>
                <a:spcPct val="150000"/>
              </a:lnSpc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lnSpc>
                <a:spcPct val="150000"/>
              </a:lnSpc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AEE28BFC-9EAE-4BB9-B5C8-DF5E8BD4343E}"/>
              </a:ext>
            </a:extLst>
          </p:cNvPr>
          <p:cNvGrpSpPr/>
          <p:nvPr/>
        </p:nvGrpSpPr>
        <p:grpSpPr>
          <a:xfrm>
            <a:off x="3318510" y="407178"/>
            <a:ext cx="8412480" cy="957294"/>
            <a:chOff x="733904" y="1131347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0F4F097B-757A-49CD-B23A-3DDC54FDCAD8}"/>
                </a:ext>
              </a:extLst>
            </p:cNvPr>
            <p:cNvSpPr/>
            <p:nvPr/>
          </p:nvSpPr>
          <p:spPr>
            <a:xfrm>
              <a:off x="733904" y="1131347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2252848"/>
                <a:satOff val="-5806"/>
                <a:lumOff val="-3922"/>
                <a:alphaOff val="0"/>
              </a:schemeClr>
            </a:fillRef>
            <a:effectRef idx="0">
              <a:schemeClr val="accent5">
                <a:hueOff val="-2252848"/>
                <a:satOff val="-5806"/>
                <a:lumOff val="-3922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BBA1B092-23A2-4434-9302-9394EF373E9A}"/>
                </a:ext>
              </a:extLst>
            </p:cNvPr>
            <p:cNvSpPr txBox="1"/>
            <p:nvPr/>
          </p:nvSpPr>
          <p:spPr>
            <a:xfrm>
              <a:off x="761942" y="1159385"/>
              <a:ext cx="7029617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b="1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שורש המצווה- ההסבר, הטעם למצווה הזו</a:t>
              </a:r>
              <a:endParaRPr lang="en-US" sz="3200" b="1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4098" name="Picture 2" descr="תוצאת תמונה עבור איש לומד">
            <a:extLst>
              <a:ext uri="{FF2B5EF4-FFF2-40B4-BE49-F238E27FC236}">
                <a16:creationId xmlns:a16="http://schemas.microsoft.com/office/drawing/2014/main" id="{0A8778A4-F417-4D62-ADA4-FDE1D0B4EC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86" b="11905"/>
          <a:stretch/>
        </p:blipFill>
        <p:spPr bwMode="auto">
          <a:xfrm flipH="1">
            <a:off x="9021718" y="4457699"/>
            <a:ext cx="3170282" cy="231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170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1425574"/>
            <a:ext cx="10515600" cy="52800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מדיני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המצוה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א.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מה שאמרו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זכרונם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לברכה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סוכה </a:t>
            </a:r>
            <a:r>
              <a:rPr lang="he-IL" sz="2000" dirty="0" err="1">
                <a:latin typeface="Assistant" panose="00000500000000000000" pitchFamily="2" charset="-79"/>
                <a:cs typeface="Assistant" panose="00000500000000000000" pitchFamily="2" charset="-79"/>
              </a:rPr>
              <a:t>מב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.):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מאימתי מתחיל האב ללמד את בנו תורה?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u="sng" dirty="0" err="1">
                <a:latin typeface="Assistant" panose="00000500000000000000" pitchFamily="2" charset="-79"/>
                <a:cs typeface="Assistant" panose="00000500000000000000" pitchFamily="2" charset="-79"/>
              </a:rPr>
              <a:t>משיתחיל</a:t>
            </a:r>
            <a:r>
              <a:rPr lang="he-IL" u="sng" dirty="0">
                <a:latin typeface="Assistant" panose="00000500000000000000" pitchFamily="2" charset="-79"/>
                <a:cs typeface="Assistant" panose="00000500000000000000" pitchFamily="2" charset="-79"/>
              </a:rPr>
              <a:t> לדבר-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מלמדו "תורה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צוה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לנו משה"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דברים לג, ד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 ופסוק ראשון מקריאת שמע שהוא "שמע ישראל",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u="sng" dirty="0">
                <a:latin typeface="Assistant" panose="00000500000000000000" pitchFamily="2" charset="-79"/>
                <a:cs typeface="Assistant" panose="00000500000000000000" pitchFamily="2" charset="-79"/>
              </a:rPr>
              <a:t>ואחר כך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מלמדו מעט מעט מפסוקי התורה עד שיהא בן שש או בן שבע, שמוליכו אצל מלמדי תינוקות. </a:t>
            </a: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b="1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</a:t>
              </a:r>
              <a:endParaRPr lang="en-US" sz="3200" b="1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5124" name="Picture 4" descr="תוצאת תמונה עבור אבא ובן לומדים תורה">
            <a:extLst>
              <a:ext uri="{FF2B5EF4-FFF2-40B4-BE49-F238E27FC236}">
                <a16:creationId xmlns:a16="http://schemas.microsoft.com/office/drawing/2014/main" id="{5A4B7652-9643-400E-B326-1454276D2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79"/>
          <a:stretch/>
        </p:blipFill>
        <p:spPr bwMode="auto">
          <a:xfrm>
            <a:off x="676275" y="1785938"/>
            <a:ext cx="3113605" cy="1871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4272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7775" y="1561859"/>
            <a:ext cx="10515600" cy="487045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וראוי לכל בן דעת,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שיתן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לבו </a:t>
            </a:r>
            <a:r>
              <a:rPr lang="he-IL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שלא להכביד על הילד בלימוד בעודנו רך האברים ורך הלבב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עד שיגדל ויתחזק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כח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לבו ותקף אבריו, ועצמותיו ימלאו מח ויוכל לסבל יגיעת הלמוד,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ולא יקרנו חולי ההתעלפות בסיבת היגיעה הרבה עליו.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	ואולם, אחר התחזק כוחו ויאורו עיניו להבין לקול מוריו,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אז ראוי וכשר הדבר ומחייב להביא צווארו בעולה של תורה.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ולא ירפוהו ממנה אפילו כחוט השערה וישקוהו תמיד מיין רקחה ויאכילוהו מדבשה.</a:t>
            </a:r>
          </a:p>
          <a:p>
            <a:pPr>
              <a:lnSpc>
                <a:spcPct val="150000"/>
              </a:lnSpc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lnSpc>
                <a:spcPct val="150000"/>
              </a:lnSpc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>
              <a:lnSpc>
                <a:spcPct val="150000"/>
              </a:lnSpc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6146" name="Picture 2" descr="תוצאת תמונה עבור תינוק קורא ספר">
            <a:extLst>
              <a:ext uri="{FF2B5EF4-FFF2-40B4-BE49-F238E27FC236}">
                <a16:creationId xmlns:a16="http://schemas.microsoft.com/office/drawing/2014/main" id="{3F2B3381-E3DD-4CB6-AD19-156C2990E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321453"/>
            <a:ext cx="247650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436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337" y="1370822"/>
            <a:ext cx="10515600" cy="5165725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ב.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וכן מענין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המצוה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, מה שאמרו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זכרונם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לברכה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קידושין ל.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עד היכן חייב אדם ללמד את בנו תורה?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אמר רב יהודה אמר שמואל:  כגון זבולון בן דן.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פרוש - אדם שהיה בדורם ששמו כן, שלמדו אבי אביו מקרא, ומשנה, תלמוד, הלכות, ואגדות.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והקשו על זה בגמרא מה שהקשו, והיה התרוץ</a:t>
            </a:r>
            <a:r>
              <a:rPr lang="he-IL" dirty="0">
                <a:solidFill>
                  <a:schemeClr val="accent6">
                    <a:lumMod val="60000"/>
                    <a:lumOff val="4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b="1" u="sng" dirty="0">
                <a:solidFill>
                  <a:schemeClr val="accent6">
                    <a:lumMod val="60000"/>
                    <a:lumOff val="4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שהחיוב ללמדם מקרא, דהיינו תורה, כמו שעשה אבי אביו של זבולון.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(ואף על פי שזבולון בן דן למדו אבי אביו יותר, ומי שהוסיף על חיוב המצווה כאבי אביו של זבולון בן דן תבוא עליו ברכה). </a:t>
            </a:r>
          </a:p>
          <a:p>
            <a:pPr>
              <a:lnSpc>
                <a:spcPct val="150000"/>
              </a:lnSpc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14338" name="Picture 2" descr="תוצאת תמונה עבור אבא ובן">
            <a:extLst>
              <a:ext uri="{FF2B5EF4-FFF2-40B4-BE49-F238E27FC236}">
                <a16:creationId xmlns:a16="http://schemas.microsoft.com/office/drawing/2014/main" id="{224914F1-65BC-4E34-9708-7F6514579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395413"/>
            <a:ext cx="254317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466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תוצאת תמונה עבור אבא ובן">
            <a:extLst>
              <a:ext uri="{FF2B5EF4-FFF2-40B4-BE49-F238E27FC236}">
                <a16:creationId xmlns:a16="http://schemas.microsoft.com/office/drawing/2014/main" id="{4777EC3C-B89D-4D85-A7EB-31424B408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5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ג. </a:t>
            </a:r>
            <a:r>
              <a:rPr lang="he-IL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ומי שלא למדו אותו אבותיו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שהם חייבין בזה, כגון אביו ואבי אביו,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חייב ללמד עצמו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כשיהיה גדול ויכיר בדבר, שנאמר: "ולמדתם ועשיתם אתם".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ד. </a:t>
            </a:r>
            <a:r>
              <a:rPr lang="he-IL" b="1" dirty="0">
                <a:solidFill>
                  <a:srgbClr val="00B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ואם היו האב והבן </a:t>
            </a:r>
            <a:r>
              <a:rPr lang="he-IL" b="1" dirty="0" err="1">
                <a:solidFill>
                  <a:srgbClr val="00B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צריכין</a:t>
            </a:r>
            <a:r>
              <a:rPr lang="he-IL" b="1" dirty="0">
                <a:solidFill>
                  <a:srgbClr val="00B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ללמוד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, ואין בידו של אב שיוכלו שניהם ללמוד תמיד,  </a:t>
            </a:r>
            <a:r>
              <a:rPr lang="he-IL" b="1" dirty="0">
                <a:solidFill>
                  <a:srgbClr val="00B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הוא קודם לבנו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, ואם בנו נבון ממנו ותלמודו מתקיים בידו יותר ממנו, בנו קודמו. </a:t>
            </a:r>
          </a:p>
          <a:p>
            <a:pPr>
              <a:lnSpc>
                <a:spcPct val="150000"/>
              </a:lnSpc>
            </a:pPr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5945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ה. </a:t>
            </a:r>
            <a:r>
              <a:rPr lang="he-IL" b="1" dirty="0">
                <a:solidFill>
                  <a:schemeClr val="accent6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ועד אימתי חייב כל אדם ללמד תורה?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b="1" dirty="0">
                <a:solidFill>
                  <a:schemeClr val="accent6">
                    <a:lumMod val="50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עד יום מותו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, שנאמר "ופן יסורו מלבבך </a:t>
            </a:r>
            <a:r>
              <a:rPr lang="he-IL" u="sng" dirty="0">
                <a:latin typeface="Assistant" panose="00000500000000000000" pitchFamily="2" charset="-79"/>
                <a:cs typeface="Assistant" panose="00000500000000000000" pitchFamily="2" charset="-79"/>
              </a:rPr>
              <a:t>כל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ימי חייך"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דברים ד, ט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ועוד הפליגו חכמים בדבר על דרך המוסר וללמד בני אדם חפץ,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ואמרו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שבת פג: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 שאפילו בשעת מיתה חייב אדם ללמד תורה,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שנאמר "זאת התורה אדם כי ימות באהל"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במדבר </a:t>
            </a:r>
            <a:r>
              <a:rPr lang="he-IL" sz="2000" dirty="0" err="1">
                <a:latin typeface="Assistant" panose="00000500000000000000" pitchFamily="2" charset="-79"/>
                <a:cs typeface="Assistant" panose="00000500000000000000" pitchFamily="2" charset="-79"/>
              </a:rPr>
              <a:t>יט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, יד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). </a:t>
            </a:r>
          </a:p>
          <a:p>
            <a:pPr>
              <a:lnSpc>
                <a:spcPct val="150000"/>
              </a:lnSpc>
            </a:pPr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12292" name="Picture 4" descr="תוצאת תמונה עבור תורה">
            <a:extLst>
              <a:ext uri="{FF2B5EF4-FFF2-40B4-BE49-F238E27FC236}">
                <a16:creationId xmlns:a16="http://schemas.microsoft.com/office/drawing/2014/main" id="{D6EB3D3E-2609-4A51-9701-16B5D7396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4529893"/>
            <a:ext cx="3267075" cy="219394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099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ו. </a:t>
            </a:r>
            <a:r>
              <a:rPr lang="he-IL" b="1" dirty="0">
                <a:solidFill>
                  <a:srgbClr val="00B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וכל אחד מישראל חייב בתלמוד תורה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יומא לה: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בין עני בין עשיר, בין בריא בין בעל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ייסורין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וכבר אמרו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זכרונם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לברכה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עירובין נד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.), שבעסק התורה יתרפאו כל האברים.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ואפילו עני המחזר על הפתחים, ואפילו בעל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אשה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ובנים,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הכל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חייבים לקבע עתים לתורה ביום ובלילה, שנאמר "והגית בו יומם ולילה"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יהושע א, ח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).</a:t>
            </a:r>
          </a:p>
          <a:p>
            <a:pPr>
              <a:lnSpc>
                <a:spcPct val="150000"/>
              </a:lnSpc>
            </a:pPr>
            <a:endParaRPr lang="he-IL" dirty="0"/>
          </a:p>
          <a:p>
            <a:pPr>
              <a:lnSpc>
                <a:spcPct val="150000"/>
              </a:lnSpc>
            </a:pPr>
            <a:endParaRPr lang="he-IL" dirty="0"/>
          </a:p>
          <a:p>
            <a:pPr>
              <a:lnSpc>
                <a:spcPct val="150000"/>
              </a:lnSpc>
            </a:pPr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11266" name="Picture 2" descr="תוצאת תמונה עבור עני לומד תורה">
            <a:extLst>
              <a:ext uri="{FF2B5EF4-FFF2-40B4-BE49-F238E27FC236}">
                <a16:creationId xmlns:a16="http://schemas.microsoft.com/office/drawing/2014/main" id="{3F16C0EA-C606-42A2-A345-CE1302A3A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" y="169621"/>
            <a:ext cx="2114550" cy="2162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871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ז. </a:t>
            </a:r>
            <a:r>
              <a:rPr lang="he-IL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ותחילת דינו של אדם אחר המוות, הוא על שנתבטל מן הלמוד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וכמו שדרשו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זכרונם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 לברכה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קידושין מ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:) </a:t>
            </a:r>
            <a:r>
              <a:rPr lang="he-IL" dirty="0" err="1">
                <a:latin typeface="Assistant" panose="00000500000000000000" pitchFamily="2" charset="-79"/>
                <a:cs typeface="Assistant" panose="00000500000000000000" pitchFamily="2" charset="-79"/>
              </a:rPr>
              <a:t>מדכתיב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: "פוטר מים ראשית מדון"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משלי </a:t>
            </a:r>
            <a:r>
              <a:rPr lang="he-IL" sz="2000" dirty="0" err="1">
                <a:latin typeface="Assistant" panose="00000500000000000000" pitchFamily="2" charset="-79"/>
                <a:cs typeface="Assistant" panose="00000500000000000000" pitchFamily="2" charset="-79"/>
              </a:rPr>
              <a:t>יז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, יד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כלומר, מי שפוטר עצמו מן המים, ראשית קטטה הוא לנפשו אחר שימות.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(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ואין מים אלא תורה, שנאמר "הוי כל צמא לכו למים" (</a:t>
            </a:r>
            <a:r>
              <a:rPr lang="he-IL" sz="1900" dirty="0">
                <a:latin typeface="Assistant" panose="00000500000000000000" pitchFamily="2" charset="-79"/>
                <a:cs typeface="Assistant" panose="00000500000000000000" pitchFamily="2" charset="-79"/>
              </a:rPr>
              <a:t>ישעיהו </a:t>
            </a:r>
            <a:r>
              <a:rPr lang="he-IL" sz="1900" dirty="0" err="1">
                <a:latin typeface="Assistant" panose="00000500000000000000" pitchFamily="2" charset="-79"/>
                <a:cs typeface="Assistant" panose="00000500000000000000" pitchFamily="2" charset="-79"/>
              </a:rPr>
              <a:t>נה</a:t>
            </a:r>
            <a:r>
              <a:rPr lang="he-IL" sz="1900" dirty="0">
                <a:latin typeface="Assistant" panose="00000500000000000000" pitchFamily="2" charset="-79"/>
                <a:cs typeface="Assistant" panose="00000500000000000000" pitchFamily="2" charset="-79"/>
              </a:rPr>
              <a:t>, א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), ונמשלו דברי תורה למים, לפי שאין התורה מתקיימת, אלא באיש דכא ושפל רוח, ולא בגבה לב, כמו שהמים גם כן אין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עומדין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בהרים, אלא בעמקים (</a:t>
            </a:r>
            <a:r>
              <a:rPr lang="he-IL" sz="1900" dirty="0">
                <a:latin typeface="Assistant" panose="00000500000000000000" pitchFamily="2" charset="-79"/>
                <a:cs typeface="Assistant" panose="00000500000000000000" pitchFamily="2" charset="-79"/>
              </a:rPr>
              <a:t>תענית ז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.). </a:t>
            </a: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  <a:p>
            <a:pPr>
              <a:lnSpc>
                <a:spcPct val="150000"/>
              </a:lnSpc>
            </a:pPr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1360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4" y="1476134"/>
            <a:ext cx="11020425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latin typeface="Assistant" panose="00000500000000000000" pitchFamily="2" charset="-79"/>
                <a:cs typeface="Assistant" panose="00000500000000000000" pitchFamily="2" charset="-79"/>
              </a:rPr>
              <a:t>ח. 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וכן מה שאמרו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זכרונם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לברכה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קידושין ל.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), </a:t>
            </a:r>
            <a:r>
              <a:rPr lang="he-IL" sz="2600" b="1" dirty="0">
                <a:solidFill>
                  <a:srgbClr val="00CC6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שחייב אדם לחלק זמנו לשלשה חלקים,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solidFill>
                  <a:srgbClr val="00CC6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שליש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בעסק תורה שבכתב,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</a:t>
            </a:r>
            <a:r>
              <a:rPr lang="he-IL" sz="2600" b="1" dirty="0">
                <a:solidFill>
                  <a:srgbClr val="00CC6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שליש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בעסק תורה שבעל פה, כלומר, להרגיל עצמו להיות בקי בגרסת המשניות והבריתות, שתהיינה שגורות בפיו,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</a:t>
            </a:r>
            <a:r>
              <a:rPr lang="he-IL" sz="2600" b="1" dirty="0">
                <a:solidFill>
                  <a:srgbClr val="00CC6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שליש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להבין העניינים משורש,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ולא ישית כל לבו באחת מהן פן ישכח השאר, ושלשתן הן עיקר התורה, שאי אפשר לדעת אותה זולתם.</a:t>
            </a:r>
          </a:p>
          <a:p>
            <a:endParaRPr lang="he-IL" dirty="0"/>
          </a:p>
          <a:p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7" name="Picture 2" descr="תוצאת תמונה עבור איש לומד">
            <a:extLst>
              <a:ext uri="{FF2B5EF4-FFF2-40B4-BE49-F238E27FC236}">
                <a16:creationId xmlns:a16="http://schemas.microsoft.com/office/drawing/2014/main" id="{B9DF3BB0-C545-42A6-81CF-8BD292E0D4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92"/>
          <a:stretch/>
        </p:blipFill>
        <p:spPr bwMode="auto">
          <a:xfrm>
            <a:off x="0" y="21431"/>
            <a:ext cx="2543175" cy="155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851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latin typeface="Assistant" panose="00000500000000000000" pitchFamily="2" charset="-79"/>
                <a:cs typeface="Assistant" panose="00000500000000000000" pitchFamily="2" charset="-79"/>
              </a:rPr>
              <a:t>ט. 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וכן מה שאמרו (</a:t>
            </a:r>
            <a:r>
              <a:rPr lang="he-IL" sz="2400" dirty="0">
                <a:latin typeface="Assistant" panose="00000500000000000000" pitchFamily="2" charset="-79"/>
                <a:cs typeface="Assistant" panose="00000500000000000000" pitchFamily="2" charset="-79"/>
              </a:rPr>
              <a:t>בבא </a:t>
            </a:r>
            <a:r>
              <a:rPr lang="he-IL" sz="2400" dirty="0" err="1">
                <a:latin typeface="Assistant" panose="00000500000000000000" pitchFamily="2" charset="-79"/>
                <a:cs typeface="Assistant" panose="00000500000000000000" pitchFamily="2" charset="-79"/>
              </a:rPr>
              <a:t>בתרא</a:t>
            </a:r>
            <a:r>
              <a:rPr lang="he-IL" sz="2400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2400" dirty="0" err="1">
                <a:latin typeface="Assistant" panose="00000500000000000000" pitchFamily="2" charset="-79"/>
                <a:cs typeface="Assistant" panose="00000500000000000000" pitchFamily="2" charset="-79"/>
              </a:rPr>
              <a:t>כא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:),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solidFill>
                  <a:srgbClr val="66FF33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שחייב הצבור שבכל מקום ומקום להושיב מלמדי תינוקות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ועיר שאין בה תינוקות של בית רבן תחרב,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ועשרים וחמשה תינוקות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מושיבין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אצל מלמד אחד. </a:t>
            </a:r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8194" name="Picture 2" descr="תוצאת תמונה עבור ילדים לומדים תור">
            <a:extLst>
              <a:ext uri="{FF2B5EF4-FFF2-40B4-BE49-F238E27FC236}">
                <a16:creationId xmlns:a16="http://schemas.microsoft.com/office/drawing/2014/main" id="{B5E5EA43-292A-4B6D-9515-D6DDDFBEB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8" y="3022716"/>
            <a:ext cx="3386137" cy="370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871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838A2CC-94C0-40E0-86AD-786DBC0F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306786"/>
            <a:ext cx="11191875" cy="555121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latin typeface="Assistant" panose="00000500000000000000" pitchFamily="2" charset="-79"/>
                <a:cs typeface="Assistant" panose="00000500000000000000" pitchFamily="2" charset="-79"/>
              </a:rPr>
              <a:t>י. 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ומה שאמרו (</a:t>
            </a: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אבות פ"ב מ"ד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),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שלא יאמר אדם: "לכשאפנה אשנה" שמא לא יפנה לעולם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כי לא ידע האדם מה ילד יום. שעסקו של עולם מתחדש יום יום, ומדיח את האדם מדבר לדבר ומטרדה לטרדה, ונמצאו כל ימיו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יוצאין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בבהלה, אם לא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יתן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פנאי על כל פנים וידחק עצמו לעסקה של תורה,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2600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וכל שעושה כן וחפץ בברכה, מן השמים </a:t>
            </a:r>
            <a:r>
              <a:rPr lang="he-IL" sz="2600" b="1" dirty="0" err="1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מסייעין</a:t>
            </a:r>
            <a:r>
              <a:rPr lang="he-IL" sz="2600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אותו </a:t>
            </a:r>
            <a:r>
              <a:rPr lang="he-IL" sz="2600" b="1" dirty="0" err="1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ומקילין</a:t>
            </a:r>
            <a:r>
              <a:rPr lang="he-IL" sz="2600" b="1" dirty="0">
                <a:solidFill>
                  <a:schemeClr val="accent6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מעליו 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טרדות העולם המבהילות,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ומעבירין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ממנו עולן של בריות, ושוכן בשמחה כל ימיו בעולם הזה, וטוב לו לעולם הבא, ואשרי המדבר לאזן שומעת.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200" dirty="0">
                <a:latin typeface="Assistant" panose="00000500000000000000" pitchFamily="2" charset="-79"/>
                <a:cs typeface="Assistant" panose="00000500000000000000" pitchFamily="2" charset="-79"/>
              </a:rPr>
              <a:t>ויתר פרטיה, מבוארים בקידושין פרק ראשון ובמקומות מפוזרים בתלמוד.</a:t>
            </a:r>
          </a:p>
          <a:p>
            <a:endParaRPr lang="he-IL" dirty="0"/>
          </a:p>
          <a:p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C25CA5A9-FEEA-468C-819A-E6736B85AEE2}"/>
              </a:ext>
            </a:extLst>
          </p:cNvPr>
          <p:cNvGrpSpPr/>
          <p:nvPr/>
        </p:nvGrpSpPr>
        <p:grpSpPr>
          <a:xfrm>
            <a:off x="3261360" y="321453"/>
            <a:ext cx="8412480" cy="957294"/>
            <a:chOff x="1398574" y="2262695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2B7FB5DF-8DFD-4B7D-91B1-4E8D77A58C58}"/>
                </a:ext>
              </a:extLst>
            </p:cNvPr>
            <p:cNvSpPr/>
            <p:nvPr/>
          </p:nvSpPr>
          <p:spPr>
            <a:xfrm>
              <a:off x="1398574" y="2262695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4505695"/>
                <a:satOff val="-11613"/>
                <a:lumOff val="-7843"/>
                <a:alphaOff val="0"/>
              </a:schemeClr>
            </a:fillRef>
            <a:effectRef idx="0">
              <a:schemeClr val="accent5">
                <a:hueOff val="-4505695"/>
                <a:satOff val="-11613"/>
                <a:lumOff val="-7843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A825F7A8-BD29-4DAF-8230-3D02D6A3816F}"/>
                </a:ext>
              </a:extLst>
            </p:cNvPr>
            <p:cNvSpPr txBox="1"/>
            <p:nvPr/>
          </p:nvSpPr>
          <p:spPr>
            <a:xfrm>
              <a:off x="1426612" y="2290733"/>
              <a:ext cx="7040133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3200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דיני המצווה- ההלכות שנלמדות מהמצווה- המשך</a:t>
              </a:r>
              <a:endParaRPr lang="en-US" sz="3200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7170" name="Picture 2" descr="תוצאת תמונה עבור איש קורא">
            <a:extLst>
              <a:ext uri="{FF2B5EF4-FFF2-40B4-BE49-F238E27FC236}">
                <a16:creationId xmlns:a16="http://schemas.microsoft.com/office/drawing/2014/main" id="{C14296D5-F429-4336-B0F3-43D0A1819A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340" b="14340"/>
          <a:stretch/>
        </p:blipFill>
        <p:spPr bwMode="auto">
          <a:xfrm flipH="1">
            <a:off x="135339" y="-223837"/>
            <a:ext cx="1809750" cy="252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3615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4BD644-AD52-4C94-AF85-CAEC9616E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11560"/>
            <a:ext cx="10515600" cy="55025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ונוהגת מצוה זו 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בכל מקום ובכל זמן,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solidFill>
                  <a:schemeClr val="accent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בזכרים אבל לא בנקבות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, שנאמר "בניכם" (</a:t>
            </a:r>
            <a:r>
              <a:rPr lang="he-IL" sz="2100" dirty="0">
                <a:latin typeface="Assistant" panose="00000500000000000000" pitchFamily="2" charset="-79"/>
                <a:cs typeface="Assistant" panose="00000500000000000000" pitchFamily="2" charset="-79"/>
              </a:rPr>
              <a:t>דברים יא, </a:t>
            </a:r>
            <a:r>
              <a:rPr lang="he-IL" sz="2100" dirty="0" err="1">
                <a:latin typeface="Assistant" panose="00000500000000000000" pitchFamily="2" charset="-79"/>
                <a:cs typeface="Assistant" panose="00000500000000000000" pitchFamily="2" charset="-79"/>
              </a:rPr>
              <a:t>יט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). ודרשו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זכרונם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לברכה (</a:t>
            </a:r>
            <a:r>
              <a:rPr lang="he-IL" sz="2100" dirty="0">
                <a:latin typeface="Assistant" panose="00000500000000000000" pitchFamily="2" charset="-79"/>
                <a:cs typeface="Assistant" panose="00000500000000000000" pitchFamily="2" charset="-79"/>
              </a:rPr>
              <a:t>קידושין </a:t>
            </a:r>
            <a:r>
              <a:rPr lang="he-IL" sz="2100" dirty="0" err="1">
                <a:latin typeface="Assistant" panose="00000500000000000000" pitchFamily="2" charset="-79"/>
                <a:cs typeface="Assistant" panose="00000500000000000000" pitchFamily="2" charset="-79"/>
              </a:rPr>
              <a:t>כט</a:t>
            </a:r>
            <a:r>
              <a:rPr lang="he-IL" sz="2100" dirty="0">
                <a:latin typeface="Assistant" panose="00000500000000000000" pitchFamily="2" charset="-79"/>
                <a:cs typeface="Assistant" panose="00000500000000000000" pitchFamily="2" charset="-79"/>
              </a:rPr>
              <a:t>:) 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ולא בנותיכם. וכן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אשה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אינה חייבת ללמד את בנה,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דכל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שאינו בחיוב ללמוד אינו בחיוב ללמד.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אבל מכל מקום ראוי לכל אישה להשתדל שלא יהיו בניה עמי הארץ, אף על פי שאינה מצוה מדין התורה, ושכר טוב יש לה בעמלה (</a:t>
            </a:r>
            <a:r>
              <a:rPr lang="he-IL" sz="2100" dirty="0">
                <a:latin typeface="Assistant" panose="00000500000000000000" pitchFamily="2" charset="-79"/>
                <a:cs typeface="Assistant" panose="00000500000000000000" pitchFamily="2" charset="-79"/>
              </a:rPr>
              <a:t>סוטה </a:t>
            </a:r>
            <a:r>
              <a:rPr lang="he-IL" sz="2100" dirty="0" err="1">
                <a:latin typeface="Assistant" panose="00000500000000000000" pitchFamily="2" charset="-79"/>
                <a:cs typeface="Assistant" panose="00000500000000000000" pitchFamily="2" charset="-79"/>
              </a:rPr>
              <a:t>כא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.).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וגם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האשה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שלמדה תורה שכר יש לה, ואף על פי כן צוו חכמים (</a:t>
            </a:r>
            <a:r>
              <a:rPr lang="he-IL" sz="2100" dirty="0">
                <a:latin typeface="Assistant" panose="00000500000000000000" pitchFamily="2" charset="-79"/>
                <a:cs typeface="Assistant" panose="00000500000000000000" pitchFamily="2" charset="-79"/>
              </a:rPr>
              <a:t>סוטה כ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.) שלא ילמד אדם לבתו תורה, לפי שדעת הנשים קלה </a:t>
            </a:r>
            <a:r>
              <a:rPr lang="he-IL" sz="2600" dirty="0" err="1">
                <a:latin typeface="Assistant" panose="00000500000000000000" pitchFamily="2" charset="-79"/>
                <a:cs typeface="Assistant" panose="00000500000000000000" pitchFamily="2" charset="-79"/>
              </a:rPr>
              <a:t>ומוציאין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דברי תורה לדברי הבאי בעניות דעתן.</a:t>
            </a:r>
          </a:p>
          <a:p>
            <a:pPr marL="0" indent="0">
              <a:lnSpc>
                <a:spcPct val="150000"/>
              </a:lnSpc>
              <a:buNone/>
            </a:pPr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4F209BCB-4410-43CB-9974-E623D160C828}"/>
              </a:ext>
            </a:extLst>
          </p:cNvPr>
          <p:cNvGrpSpPr/>
          <p:nvPr/>
        </p:nvGrpSpPr>
        <p:grpSpPr>
          <a:xfrm>
            <a:off x="3242310" y="426228"/>
            <a:ext cx="8412480" cy="957294"/>
            <a:chOff x="2103119" y="3394043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F74943E8-774A-46B9-B225-2AD8E172E479}"/>
                </a:ext>
              </a:extLst>
            </p:cNvPr>
            <p:cNvSpPr/>
            <p:nvPr/>
          </p:nvSpPr>
          <p:spPr>
            <a:xfrm>
              <a:off x="2103119" y="3394043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6758543"/>
                <a:satOff val="-17419"/>
                <a:lumOff val="-11765"/>
                <a:alphaOff val="0"/>
              </a:schemeClr>
            </a:fillRef>
            <a:effectRef idx="0">
              <a:schemeClr val="accent5">
                <a:hueOff val="-6758543"/>
                <a:satOff val="-17419"/>
                <a:lumOff val="-1176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0F07618D-882D-4BD6-9F16-BE25D9A2DDDF}"/>
                </a:ext>
              </a:extLst>
            </p:cNvPr>
            <p:cNvSpPr txBox="1"/>
            <p:nvPr/>
          </p:nvSpPr>
          <p:spPr>
            <a:xfrm>
              <a:off x="2131157" y="3422081"/>
              <a:ext cx="7029617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2400" b="1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למעשה- מתי עושים אותה, היכן היא נוהגת את מי היא מחייבת ומה העונש. </a:t>
              </a:r>
              <a:endParaRPr lang="en-US" sz="2400" b="1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15362" name="Picture 2" descr="תוצאת תמונה עבור בנות מדרשה">
            <a:extLst>
              <a:ext uri="{FF2B5EF4-FFF2-40B4-BE49-F238E27FC236}">
                <a16:creationId xmlns:a16="http://schemas.microsoft.com/office/drawing/2014/main" id="{A5292ADE-4628-4505-BAA9-C11F368E6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217894"/>
            <a:ext cx="2503552" cy="164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2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34BD644-AD52-4C94-AF85-CAEC9616E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6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והעובר על זה </a:t>
            </a: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ולא למד את בנו תורה,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 עד שידע לקרות בספר תורה ויבין פירוש הכתובים כפשטן, בטל עשה זה.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600" dirty="0">
                <a:latin typeface="Assistant" panose="00000500000000000000" pitchFamily="2" charset="-79"/>
                <a:cs typeface="Assistant" panose="00000500000000000000" pitchFamily="2" charset="-79"/>
              </a:rPr>
              <a:t>וכן כל מי שיש סיפק בידו ללמד בשום צד, הוא בכלל עשה זה, וענשו גדול מאד אם לא יקימנו, כי המצווה הזאת היא אם לכולן.</a:t>
            </a:r>
          </a:p>
          <a:p>
            <a:pPr>
              <a:lnSpc>
                <a:spcPct val="150000"/>
              </a:lnSpc>
            </a:pPr>
            <a:endParaRPr lang="he-IL" dirty="0"/>
          </a:p>
        </p:txBody>
      </p:sp>
      <p:grpSp>
        <p:nvGrpSpPr>
          <p:cNvPr id="4" name="קבוצה 3">
            <a:extLst>
              <a:ext uri="{FF2B5EF4-FFF2-40B4-BE49-F238E27FC236}">
                <a16:creationId xmlns:a16="http://schemas.microsoft.com/office/drawing/2014/main" id="{4F209BCB-4410-43CB-9974-E623D160C828}"/>
              </a:ext>
            </a:extLst>
          </p:cNvPr>
          <p:cNvGrpSpPr/>
          <p:nvPr/>
        </p:nvGrpSpPr>
        <p:grpSpPr>
          <a:xfrm>
            <a:off x="3242310" y="426228"/>
            <a:ext cx="8412480" cy="957294"/>
            <a:chOff x="2103119" y="3394043"/>
            <a:chExt cx="8412480" cy="957294"/>
          </a:xfrm>
        </p:grpSpPr>
        <p:sp>
          <p:nvSpPr>
            <p:cNvPr id="5" name="מלבן: פינות מעוגלות 4">
              <a:extLst>
                <a:ext uri="{FF2B5EF4-FFF2-40B4-BE49-F238E27FC236}">
                  <a16:creationId xmlns:a16="http://schemas.microsoft.com/office/drawing/2014/main" id="{F74943E8-774A-46B9-B225-2AD8E172E479}"/>
                </a:ext>
              </a:extLst>
            </p:cNvPr>
            <p:cNvSpPr/>
            <p:nvPr/>
          </p:nvSpPr>
          <p:spPr>
            <a:xfrm>
              <a:off x="2103119" y="3394043"/>
              <a:ext cx="8412480" cy="957294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6758543"/>
                <a:satOff val="-17419"/>
                <a:lumOff val="-11765"/>
                <a:alphaOff val="0"/>
              </a:schemeClr>
            </a:fillRef>
            <a:effectRef idx="0">
              <a:schemeClr val="accent5">
                <a:hueOff val="-6758543"/>
                <a:satOff val="-17419"/>
                <a:lumOff val="-1176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מלבן: פינות מעוגלות 4">
              <a:extLst>
                <a:ext uri="{FF2B5EF4-FFF2-40B4-BE49-F238E27FC236}">
                  <a16:creationId xmlns:a16="http://schemas.microsoft.com/office/drawing/2014/main" id="{0F07618D-882D-4BD6-9F16-BE25D9A2DDDF}"/>
                </a:ext>
              </a:extLst>
            </p:cNvPr>
            <p:cNvSpPr txBox="1"/>
            <p:nvPr/>
          </p:nvSpPr>
          <p:spPr>
            <a:xfrm>
              <a:off x="2131157" y="3422081"/>
              <a:ext cx="7029617" cy="90121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he-IL" sz="2400" b="1" kern="1200" dirty="0">
                  <a:latin typeface="Assistant" panose="00000500000000000000" pitchFamily="2" charset="-79"/>
                  <a:cs typeface="Assistant" panose="00000500000000000000" pitchFamily="2" charset="-79"/>
                </a:rPr>
                <a:t>למעשה- מתי עושים אותה, היכן היא נוהגת את מי היא מחייבת ומה העונש. </a:t>
              </a:r>
              <a:endParaRPr lang="en-US" sz="2400" b="1" kern="1200" dirty="0">
                <a:latin typeface="Assistant" panose="00000500000000000000" pitchFamily="2" charset="-79"/>
                <a:cs typeface="Assistant" panose="00000500000000000000" pitchFamily="2" charset="-79"/>
              </a:endParaRPr>
            </a:p>
          </p:txBody>
        </p:sp>
      </p:grpSp>
      <p:pic>
        <p:nvPicPr>
          <p:cNvPr id="16386" name="Picture 2" descr="תוצאת תמונה עבור תורה">
            <a:extLst>
              <a:ext uri="{FF2B5EF4-FFF2-40B4-BE49-F238E27FC236}">
                <a16:creationId xmlns:a16="http://schemas.microsoft.com/office/drawing/2014/main" id="{118AC897-A016-492C-BD90-A7B628757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4866466"/>
            <a:ext cx="2609850" cy="17526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17370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1254</Words>
  <Application>Microsoft Office PowerPoint</Application>
  <PresentationFormat>מסך רחב</PresentationFormat>
  <Paragraphs>92</Paragraphs>
  <Slides>17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3" baseType="lpstr">
      <vt:lpstr>Arial</vt:lpstr>
      <vt:lpstr>Assistant</vt:lpstr>
      <vt:lpstr>Assistant ExtraBold</vt:lpstr>
      <vt:lpstr>Calibri</vt:lpstr>
      <vt:lpstr>Calibri Light</vt:lpstr>
      <vt:lpstr>ערכת נושא Office</vt:lpstr>
      <vt:lpstr>מצווה תי"ט-  מצוות תלמוד תורה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מצווה תי"ט-  מצוות תלמוד תורה</dc:title>
  <dc:creator>אבנר פניני</dc:creator>
  <cp:lastModifiedBy>אבנר פניני</cp:lastModifiedBy>
  <cp:revision>19</cp:revision>
  <dcterms:created xsi:type="dcterms:W3CDTF">2021-02-17T14:43:37Z</dcterms:created>
  <dcterms:modified xsi:type="dcterms:W3CDTF">2021-02-17T21:51:50Z</dcterms:modified>
</cp:coreProperties>
</file>