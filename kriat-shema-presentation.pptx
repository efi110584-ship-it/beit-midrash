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2" r:id="rId4"/>
    <p:sldId id="261" r:id="rId5"/>
    <p:sldId id="258" r:id="rId6"/>
    <p:sldId id="259" r:id="rId7"/>
    <p:sldId id="263" r:id="rId8"/>
    <p:sldId id="264" r:id="rId9"/>
    <p:sldId id="260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דוד קליר" initials="דק" lastIdx="2" clrIdx="0">
    <p:extLst>
      <p:ext uri="{19B8F6BF-5375-455C-9EA6-DF929625EA0E}">
        <p15:presenceInfo xmlns:p15="http://schemas.microsoft.com/office/powerpoint/2012/main" userId="S::davidcl@my.ohalo.ac.il::b809b554-7881-471b-9a2b-623e5115175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11-12T19:14:51.671" idx="1">
    <p:pos x="7091" y="1734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11-14T22:47:12.407" idx="2">
    <p:pos x="2075" y="302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9CE67E76-6BAF-485D-A7BE-123D0D3DE712}" type="datetimeFigureOut">
              <a:rPr lang="en-US" smtClean="0"/>
              <a:t>10/19/2023</a:t>
            </a:fld>
            <a:endParaRPr lang="en-US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US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04E5436B-A74F-4407-81B2-2CD1ED096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92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E5436B-A74F-4407-81B2-2CD1ED096A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27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E5436B-A74F-4407-81B2-2CD1ED096AC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466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E5436B-A74F-4407-81B2-2CD1ED096A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894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E5436B-A74F-4407-81B2-2CD1ED096AC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19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E5436B-A74F-4407-81B2-2CD1ED096AC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92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E5436B-A74F-4407-81B2-2CD1ED096AC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192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E5436B-A74F-4407-81B2-2CD1ED096AC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46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E5436B-A74F-4407-81B2-2CD1ED096AC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33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E5436B-A74F-4407-81B2-2CD1ED096AC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5022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E5436B-A74F-4407-81B2-2CD1ED096AC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18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E5436B-A74F-4407-81B2-2CD1ED096AC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87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E5436B-A74F-4407-81B2-2CD1ED096AC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3655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E5436B-A74F-4407-81B2-2CD1ED096AC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02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0636C53-0090-4B0A-B224-07C2084A3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C53D09D-3FD8-47D8-94E2-421A86879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2D4C3F3-5DDD-4E05-A63F-0F2FDDF2B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8F1E-A771-4734-A847-5EC84DFAFBDD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6BC93E4-ED53-4C19-8FAB-813BB0A6E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67B9466-0EF9-45E3-A422-8AAAC40C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BEA4-4208-472C-8BED-5C2DE7CA082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381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018E6C9-B436-4254-B391-3855E5701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3CDB7A2-C66B-4F5D-AC53-7EBEB064C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A345835-7836-4C30-BAC7-4C9BD5CE8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8F1E-A771-4734-A847-5EC84DFAFBDD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27F36FE-0E3C-47B9-BEB2-A3108E0CB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29C16FA-C432-4316-A9EB-45F99A945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BEA4-4208-472C-8BED-5C2DE7CA082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31390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C064FF-3B49-46BE-8F64-531195FDC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AAABCA7-9FFC-429A-BE77-CA8D6BA3A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1C3C3E7-71F2-4BD8-B084-57004ABD1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8F1E-A771-4734-A847-5EC84DFAFBDD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E2A5C68-DECF-40A4-A01A-26F88F681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978EA98-5DE4-42A5-862E-DCEBF6F9D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BEA4-4208-472C-8BED-5C2DE7CA082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062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167BC1F-CDD5-4DFC-AB37-EE6A35C1A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73881EB-7310-4CC8-9772-A3AA8451C7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6640A24D-3EAF-40E8-9132-509781812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C2AB315-F1AD-4C8A-B7DA-2D0581CC6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8F1E-A771-4734-A847-5EC84DFAFBDD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09D8DC9-C6A5-493E-BC08-6EC140746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270EEC7-9DAA-4782-B447-0879366A1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BEA4-4208-472C-8BED-5C2DE7CA082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40857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05445ED-6DE1-4714-9E95-CDF5FD7ED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C3A8D74-B42F-4732-9E7B-450DD5C2A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0999760-D2E5-49E9-99E8-F8AAB76FC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87324149-DAB0-4BF3-B520-48F7B735C9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DDA2622C-57A6-4CD2-8366-0DD2BAA78C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F65C26E-DC44-4755-9CCD-CE3B7073C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8F1E-A771-4734-A847-5EC84DFAFBDD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7DB9ADF0-7181-4C74-8B46-1E3510615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548B403F-E3FA-4503-9CDE-540F4DC21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BEA4-4208-472C-8BED-5C2DE7CA082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3747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5E576CD-2A6B-4968-A689-8EA0F4F75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17121093-B5C9-4C51-B6B8-55CE6CF11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8F1E-A771-4734-A847-5EC84DFAFBDD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A2E0C667-C86C-4CF0-A021-2DBF2F894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72098BB-6B80-4595-845C-20664FFEA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BEA4-4208-472C-8BED-5C2DE7CA082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28793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61584D71-134B-4067-9E20-62945DBB9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8F1E-A771-4734-A847-5EC84DFAFBDD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DA502126-D13F-49A4-AC02-B39BE0708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F2F5AA73-73CA-4C0E-A3C3-7B80D439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BEA4-4208-472C-8BED-5C2DE7CA082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76624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1C650DB-D6D7-40A3-A7C7-BE03C25D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DB8710E-126E-4CBA-8B54-45890A2B1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88B9F0E-1996-43B8-933F-78052C90C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E36CD64-7BD0-4EAA-A9A8-29DB57051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8F1E-A771-4734-A847-5EC84DFAFBDD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A7983CF-08B7-46F4-B3B1-3C09A853E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536CBB2-4BC4-4B05-B455-D2A44E12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BEA4-4208-472C-8BED-5C2DE7CA082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9438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92E550F-80EA-4FF6-B7B6-2258928AD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30A9234-855D-4975-8038-6DEDA9F9FB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1DB2080-36E8-465E-B304-288B67371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BE54C5D-B06A-4C23-9287-DF0A069CB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8F1E-A771-4734-A847-5EC84DFAFBDD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D7CB6D1-6911-4136-9B11-0697EECC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AB53BAF-6EAE-408F-B1BF-D9C6B721E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BEA4-4208-472C-8BED-5C2DE7CA082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8729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64C6D12-988A-4E3A-92A6-B94D0C66B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B9DDCCC5-69AA-4F9E-8AB8-47B32025B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140A92C-64C3-4F54-80A3-CB2E30DAB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8F1E-A771-4734-A847-5EC84DFAFBDD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FE89EBB-3622-45DD-BC56-DF4159BA8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991C2B4-CACC-43DE-AF49-F3B968252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BEA4-4208-472C-8BED-5C2DE7CA082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04896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BD683C1B-4859-4C70-B9DB-F0CECFD7C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7F6519A-0986-443E-98C6-3E4CF97EC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884D258-D7CC-4033-A865-94A458B4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38F1E-A771-4734-A847-5EC84DFAFBDD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2FC7E3E-73F2-4640-A457-71B541B59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5A4ABC6-1419-4DDC-8849-BC4EA3B74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8BEA4-4208-472C-8BED-5C2DE7CA082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82595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96E58EB6-6733-4C86-BCF7-146731E44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039B1B2-310F-4DE4-B42E-52557307C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9A49941-36BD-468E-9DF6-EDD34A1542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38F1E-A771-4734-A847-5EC84DFAFBDD}" type="datetimeFigureOut">
              <a:rPr lang="he-IL" smtClean="0"/>
              <a:t>ד'/חשון/תשפ"ד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20EFBAA-5453-4EFE-8DC6-EC71639C2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FC77681-6B2B-4AC8-BFCA-895C0A316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8BEA4-4208-472C-8BED-5C2DE7CA082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25182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E680AE81-B83B-4C8C-A320-729CD15ED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210" y="1039660"/>
            <a:ext cx="5982350" cy="5295061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87218492-8532-4556-8162-2FAE26FA603D}"/>
              </a:ext>
            </a:extLst>
          </p:cNvPr>
          <p:cNvSpPr txBox="1"/>
          <p:nvPr/>
        </p:nvSpPr>
        <p:spPr>
          <a:xfrm rot="20362974">
            <a:off x="1434360" y="3704370"/>
            <a:ext cx="2617939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400" b="1" dirty="0">
                <a:solidFill>
                  <a:schemeClr val="bg1"/>
                </a:solidFill>
              </a:rPr>
              <a:t>מצווה ת"כ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8B4C6D04-0C3B-4580-9200-FC6258BD18CE}"/>
              </a:ext>
            </a:extLst>
          </p:cNvPr>
          <p:cNvSpPr txBox="1"/>
          <p:nvPr/>
        </p:nvSpPr>
        <p:spPr>
          <a:xfrm rot="20514630">
            <a:off x="85033" y="957897"/>
            <a:ext cx="64198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9600" b="1" dirty="0">
                <a:solidFill>
                  <a:schemeClr val="bg1"/>
                </a:solidFill>
              </a:rPr>
              <a:t>קריאת שמע</a:t>
            </a:r>
          </a:p>
        </p:txBody>
      </p:sp>
    </p:spTree>
    <p:extLst>
      <p:ext uri="{BB962C8B-B14F-4D97-AF65-F5344CB8AC3E}">
        <p14:creationId xmlns:p14="http://schemas.microsoft.com/office/powerpoint/2010/main" val="2641588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EF60EBF-6F1E-453E-BBBD-4896F9B9E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 </a:t>
            </a:r>
            <a:r>
              <a:rPr lang="he-IL" sz="5400" b="1" dirty="0">
                <a:solidFill>
                  <a:schemeClr val="accent4"/>
                </a:solidFill>
              </a:rPr>
              <a:t>הגדרת המצווה: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574B450-BE83-48D2-956C-029164379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6575"/>
            <a:ext cx="1086802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e-IL" sz="4000" dirty="0">
                <a:solidFill>
                  <a:schemeClr val="accent4"/>
                </a:solidFill>
              </a:rPr>
              <a:t>הצו מן התורה  </a:t>
            </a:r>
          </a:p>
          <a:p>
            <a:pPr marL="0" indent="0">
              <a:buNone/>
            </a:pPr>
            <a:r>
              <a:rPr lang="he-IL" sz="4000" dirty="0">
                <a:solidFill>
                  <a:schemeClr val="accent4"/>
                </a:solidFill>
              </a:rPr>
              <a:t>לקרוא בכל יום ערב ובוקר </a:t>
            </a:r>
          </a:p>
          <a:p>
            <a:pPr marL="0" indent="0">
              <a:buNone/>
            </a:pPr>
            <a:r>
              <a:rPr lang="he-IL" sz="4000" b="1" dirty="0">
                <a:solidFill>
                  <a:schemeClr val="accent4"/>
                </a:solidFill>
              </a:rPr>
              <a:t> את הפסוק :</a:t>
            </a:r>
          </a:p>
          <a:p>
            <a:pPr marL="0" indent="0">
              <a:buNone/>
            </a:pPr>
            <a:r>
              <a:rPr lang="he-IL" b="1" dirty="0">
                <a:solidFill>
                  <a:schemeClr val="accent4"/>
                </a:solidFill>
              </a:rPr>
              <a:t> </a:t>
            </a:r>
          </a:p>
          <a:p>
            <a:pPr marL="0" indent="0">
              <a:buNone/>
            </a:pPr>
            <a:r>
              <a:rPr lang="he-IL" sz="6600" b="1" dirty="0">
                <a:solidFill>
                  <a:schemeClr val="accent4"/>
                </a:solidFill>
                <a:latin typeface="+mj-lt"/>
                <a:ea typeface="+mj-ea"/>
                <a:cs typeface="+mj-cs"/>
              </a:rPr>
              <a:t>"שמע ישראל ה' אלוהינו ה' אחד"</a:t>
            </a:r>
          </a:p>
          <a:p>
            <a:pPr marL="0" indent="0">
              <a:buNone/>
            </a:pPr>
            <a:r>
              <a:rPr lang="he-IL" sz="6600" b="1" dirty="0">
                <a:solidFill>
                  <a:schemeClr val="accent4"/>
                </a:solidFill>
                <a:latin typeface="+mj-lt"/>
                <a:ea typeface="+mj-ea"/>
                <a:cs typeface="+mj-cs"/>
              </a:rPr>
              <a:t>                                    </a:t>
            </a:r>
            <a:r>
              <a:rPr lang="he-IL" dirty="0">
                <a:solidFill>
                  <a:schemeClr val="accent4"/>
                </a:solidFill>
                <a:latin typeface="+mj-lt"/>
                <a:ea typeface="+mj-ea"/>
                <a:cs typeface="+mj-cs"/>
              </a:rPr>
              <a:t>[דברים ו', ד']. </a:t>
            </a:r>
          </a:p>
          <a:p>
            <a:endParaRPr lang="he-IL" sz="4400" dirty="0">
              <a:latin typeface="+mj-lt"/>
              <a:ea typeface="+mj-ea"/>
              <a:cs typeface="+mj-cs"/>
            </a:endParaRPr>
          </a:p>
          <a:p>
            <a:endParaRPr lang="he-IL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CE9A6E4A-F7E7-47C5-A923-58792825E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700087"/>
            <a:ext cx="5786437" cy="302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10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CFED378-A4DE-4F71-9262-BCFCCAD11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solidFill>
                  <a:schemeClr val="bg1"/>
                </a:solidFill>
              </a:rPr>
              <a:t>"וְדִבַּרְתָּ בָּם בְּשִׁבְתְּךָ בְּבֵיתֶךָ וּבְלֶכְתְּךָ בַדֶּרֶךְ </a:t>
            </a:r>
            <a:r>
              <a:rPr lang="he-IL" dirty="0"/>
              <a:t>                              </a:t>
            </a:r>
            <a:br>
              <a:rPr lang="he-IL" dirty="0"/>
            </a:br>
            <a:r>
              <a:rPr lang="he-IL" dirty="0"/>
              <a:t>                </a:t>
            </a:r>
            <a:r>
              <a:rPr lang="he-IL" dirty="0" err="1">
                <a:solidFill>
                  <a:schemeClr val="accent4"/>
                </a:solidFill>
              </a:rPr>
              <a:t>וּבְשָׁכְבְּך</a:t>
            </a:r>
            <a:r>
              <a:rPr lang="he-IL" dirty="0">
                <a:solidFill>
                  <a:schemeClr val="accent4"/>
                </a:solidFill>
              </a:rPr>
              <a:t>ָ וּבְקוּמֶךָ</a:t>
            </a:r>
            <a:r>
              <a:rPr lang="he-IL" dirty="0"/>
              <a:t>" 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7EA445E3-2797-4DA2-A1DD-6F0A347E692E}"/>
              </a:ext>
            </a:extLst>
          </p:cNvPr>
          <p:cNvSpPr txBox="1"/>
          <p:nvPr/>
        </p:nvSpPr>
        <p:spPr>
          <a:xfrm>
            <a:off x="7447625" y="2219418"/>
            <a:ext cx="3906175" cy="169277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b="1" dirty="0">
                <a:solidFill>
                  <a:schemeClr val="accent4"/>
                </a:solidFill>
              </a:rPr>
              <a:t>"</a:t>
            </a:r>
            <a:r>
              <a:rPr lang="he-IL" sz="3200" b="1" dirty="0" err="1">
                <a:solidFill>
                  <a:schemeClr val="accent4"/>
                </a:solidFill>
              </a:rPr>
              <a:t>בשכבך</a:t>
            </a:r>
            <a:r>
              <a:rPr lang="he-IL" sz="3200" b="1" dirty="0">
                <a:solidFill>
                  <a:schemeClr val="accent4"/>
                </a:solidFill>
              </a:rPr>
              <a:t>"- </a:t>
            </a:r>
          </a:p>
          <a:p>
            <a:r>
              <a:rPr lang="he-IL" sz="2400" b="1" dirty="0">
                <a:solidFill>
                  <a:schemeClr val="bg1"/>
                </a:solidFill>
              </a:rPr>
              <a:t>בשעה שבני אדם </a:t>
            </a:r>
            <a:r>
              <a:rPr lang="he-IL" sz="2400" b="1" dirty="0" err="1">
                <a:solidFill>
                  <a:schemeClr val="bg1"/>
                </a:solidFill>
              </a:rPr>
              <a:t>שוכבין</a:t>
            </a:r>
            <a:r>
              <a:rPr lang="he-IL" sz="2400" b="1" dirty="0">
                <a:solidFill>
                  <a:schemeClr val="bg1"/>
                </a:solidFill>
              </a:rPr>
              <a:t> (ישנים) כלומר,  כל הלילה עד שיעלה עמוד השחר.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88A99BC7-653C-4611-B9D5-B91D57D27645}"/>
              </a:ext>
            </a:extLst>
          </p:cNvPr>
          <p:cNvSpPr txBox="1"/>
          <p:nvPr/>
        </p:nvSpPr>
        <p:spPr>
          <a:xfrm>
            <a:off x="541539" y="2183907"/>
            <a:ext cx="5948038" cy="169277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b="1" dirty="0">
                <a:solidFill>
                  <a:schemeClr val="accent4"/>
                </a:solidFill>
              </a:rPr>
              <a:t>"ובקומך"</a:t>
            </a:r>
            <a:endParaRPr lang="he-IL" dirty="0"/>
          </a:p>
          <a:p>
            <a:r>
              <a:rPr lang="he-IL" sz="2400" b="1" dirty="0">
                <a:solidFill>
                  <a:schemeClr val="bg1"/>
                </a:solidFill>
              </a:rPr>
              <a:t>בשעה שבני אדם קמין. מתחילת היום, </a:t>
            </a:r>
            <a:r>
              <a:rPr lang="he-IL" sz="2400" dirty="0">
                <a:solidFill>
                  <a:schemeClr val="bg1"/>
                </a:solidFill>
              </a:rPr>
              <a:t>כלומר כשהבוקר אור, הזמן שבו אדם מכיר את חברו בריחוק ארבע אמות, עד שלש שעות שלמות.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1D8A7F83-8CE5-40BA-977D-90954A202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78" y="262081"/>
            <a:ext cx="2952565" cy="2259252"/>
          </a:xfrm>
          <a:prstGeom prst="rect">
            <a:avLst/>
          </a:prstGeom>
        </p:spPr>
      </p:pic>
      <p:sp>
        <p:nvSpPr>
          <p:cNvPr id="8" name="פיצוץ : 14 נקודות 7">
            <a:extLst>
              <a:ext uri="{FF2B5EF4-FFF2-40B4-BE49-F238E27FC236}">
                <a16:creationId xmlns:a16="http://schemas.microsoft.com/office/drawing/2014/main" id="{5058D210-2C34-41F0-A0C1-24BFD3E18E1A}"/>
              </a:ext>
            </a:extLst>
          </p:cNvPr>
          <p:cNvSpPr/>
          <p:nvPr/>
        </p:nvSpPr>
        <p:spPr>
          <a:xfrm rot="490305">
            <a:off x="3649410" y="3521073"/>
            <a:ext cx="7062094" cy="3556000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800" dirty="0">
                <a:solidFill>
                  <a:schemeClr val="accent4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המלים מציינות זמן הקריאה ולא את אופן הקריאה.</a:t>
            </a:r>
          </a:p>
        </p:txBody>
      </p:sp>
    </p:spTree>
    <p:extLst>
      <p:ext uri="{BB962C8B-B14F-4D97-AF65-F5344CB8AC3E}">
        <p14:creationId xmlns:p14="http://schemas.microsoft.com/office/powerpoint/2010/main" val="3931207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4F200EA-ED10-47BF-9119-571ADC5D8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070"/>
            <a:ext cx="10515600" cy="1325563"/>
          </a:xfrm>
        </p:spPr>
        <p:txBody>
          <a:bodyPr>
            <a:normAutofit/>
          </a:bodyPr>
          <a:lstStyle/>
          <a:p>
            <a:r>
              <a:rPr lang="he-IL" dirty="0"/>
              <a:t/>
            </a:r>
            <a:br>
              <a:rPr lang="he-IL" dirty="0"/>
            </a:br>
            <a:endParaRPr lang="he-IL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A38A9135-7513-464C-895D-0886D7175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37" y="195851"/>
            <a:ext cx="3868445" cy="2071457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56579885-4A27-498E-8621-4BB969A894CE}"/>
              </a:ext>
            </a:extLst>
          </p:cNvPr>
          <p:cNvSpPr txBox="1"/>
          <p:nvPr/>
        </p:nvSpPr>
        <p:spPr>
          <a:xfrm rot="20559308">
            <a:off x="-3629300" y="1111071"/>
            <a:ext cx="6094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4000" b="1" dirty="0">
                <a:solidFill>
                  <a:schemeClr val="bg1"/>
                </a:solidFill>
              </a:rPr>
              <a:t>כל הלילה 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13CB3EEE-4383-4687-9B3D-FE2A558BD36A}"/>
              </a:ext>
            </a:extLst>
          </p:cNvPr>
          <p:cNvSpPr txBox="1"/>
          <p:nvPr/>
        </p:nvSpPr>
        <p:spPr>
          <a:xfrm>
            <a:off x="4287520" y="272416"/>
            <a:ext cx="6893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4000" dirty="0">
                <a:solidFill>
                  <a:schemeClr val="bg1"/>
                </a:solidFill>
              </a:rPr>
              <a:t>מנין שהכוונה לכל זמן השכיבה?</a:t>
            </a: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B85638F6-25C7-46C8-B861-06586A73A164}"/>
              </a:ext>
            </a:extLst>
          </p:cNvPr>
          <p:cNvSpPr txBox="1"/>
          <p:nvPr/>
        </p:nvSpPr>
        <p:spPr>
          <a:xfrm>
            <a:off x="7142480" y="1900577"/>
            <a:ext cx="464312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>
                <a:solidFill>
                  <a:schemeClr val="bg1"/>
                </a:solidFill>
              </a:rPr>
              <a:t>לשון שכיבה מתייחסת </a:t>
            </a:r>
            <a:r>
              <a:rPr lang="he-IL" sz="2800" dirty="0">
                <a:solidFill>
                  <a:schemeClr val="bg1"/>
                </a:solidFill>
              </a:rPr>
              <a:t>ל</a:t>
            </a:r>
            <a:r>
              <a:rPr lang="he-IL" sz="2800" b="1" dirty="0">
                <a:solidFill>
                  <a:schemeClr val="bg1"/>
                </a:solidFill>
              </a:rPr>
              <a:t>מצב</a:t>
            </a:r>
            <a:r>
              <a:rPr lang="he-IL" dirty="0">
                <a:solidFill>
                  <a:schemeClr val="bg1"/>
                </a:solidFill>
              </a:rPr>
              <a:t> השינה ולא רק ל</a:t>
            </a:r>
            <a:r>
              <a:rPr lang="he-IL" sz="2800" b="1" dirty="0">
                <a:solidFill>
                  <a:schemeClr val="bg1"/>
                </a:solidFill>
              </a:rPr>
              <a:t>פעולת</a:t>
            </a:r>
            <a:r>
              <a:rPr lang="he-IL" dirty="0">
                <a:solidFill>
                  <a:schemeClr val="bg1"/>
                </a:solidFill>
              </a:rPr>
              <a:t> המעבר לשכיבה.</a:t>
            </a:r>
          </a:p>
          <a:p>
            <a:r>
              <a:rPr lang="he-IL" dirty="0">
                <a:solidFill>
                  <a:schemeClr val="bg1"/>
                </a:solidFill>
              </a:rPr>
              <a:t>הוכחה מהפס':</a:t>
            </a:r>
          </a:p>
          <a:p>
            <a:r>
              <a:rPr lang="he-IL" sz="2400" b="1" dirty="0">
                <a:solidFill>
                  <a:schemeClr val="lt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" ושכבתם ואין מחריד"</a:t>
            </a:r>
            <a:r>
              <a:rPr lang="he-IL" dirty="0">
                <a:solidFill>
                  <a:schemeClr val="bg1"/>
                </a:solidFill>
              </a:rPr>
              <a:t>[ויקרא כ"ו, ו']</a:t>
            </a:r>
          </a:p>
          <a:p>
            <a:r>
              <a:rPr lang="he-IL" sz="2400" b="1" dirty="0">
                <a:solidFill>
                  <a:schemeClr val="lt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"לא ישכב עד יאכל טרף"</a:t>
            </a:r>
            <a:r>
              <a:rPr lang="he-IL" sz="3200" dirty="0">
                <a:solidFill>
                  <a:schemeClr val="lt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dirty="0">
                <a:solidFill>
                  <a:schemeClr val="bg1"/>
                </a:solidFill>
              </a:rPr>
              <a:t>[במדבר כ"ג, כ"ד].</a:t>
            </a:r>
          </a:p>
        </p:txBody>
      </p:sp>
      <p:sp>
        <p:nvSpPr>
          <p:cNvPr id="17" name="מלבן: פינות מעוגלות 16">
            <a:extLst>
              <a:ext uri="{FF2B5EF4-FFF2-40B4-BE49-F238E27FC236}">
                <a16:creationId xmlns:a16="http://schemas.microsoft.com/office/drawing/2014/main" id="{7BEA4A3A-B59A-467C-9AA8-7797C47ACD50}"/>
              </a:ext>
            </a:extLst>
          </p:cNvPr>
          <p:cNvSpPr/>
          <p:nvPr/>
        </p:nvSpPr>
        <p:spPr>
          <a:xfrm>
            <a:off x="6003192" y="1097108"/>
            <a:ext cx="2546061" cy="7078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200" dirty="0" err="1">
                <a:latin typeface="David" panose="020E0502060401010101" pitchFamily="34" charset="-79"/>
                <a:cs typeface="David" panose="020E0502060401010101" pitchFamily="34" charset="-79"/>
              </a:rPr>
              <a:t>וּבְשָׁכְבְּך</a:t>
            </a:r>
            <a:endParaRPr lang="he-IL" sz="32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A1B88E94-883B-4174-8F1F-154D6C73D40B}"/>
              </a:ext>
            </a:extLst>
          </p:cNvPr>
          <p:cNvSpPr txBox="1"/>
          <p:nvPr/>
        </p:nvSpPr>
        <p:spPr>
          <a:xfrm>
            <a:off x="1814953" y="2106287"/>
            <a:ext cx="4236720" cy="16312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bg1"/>
                </a:solidFill>
              </a:rPr>
              <a:t>לגבי </a:t>
            </a:r>
            <a:r>
              <a:rPr lang="he-IL" sz="2800" b="1" dirty="0">
                <a:solidFill>
                  <a:schemeClr val="bg1"/>
                </a:solidFill>
              </a:rPr>
              <a:t>המעבר לשכיבה </a:t>
            </a:r>
            <a:r>
              <a:rPr lang="he-IL" dirty="0">
                <a:solidFill>
                  <a:schemeClr val="bg1"/>
                </a:solidFill>
              </a:rPr>
              <a:t>בני אדם שונים זה מזה</a:t>
            </a:r>
          </a:p>
          <a:p>
            <a:r>
              <a:rPr lang="he-IL" dirty="0">
                <a:solidFill>
                  <a:schemeClr val="bg1"/>
                </a:solidFill>
              </a:rPr>
              <a:t> יש מקדימים לישון, יש הישנים בחצי הלילה ויש הישנים בסוף הלילה.</a:t>
            </a:r>
          </a:p>
          <a:p>
            <a:r>
              <a:rPr lang="he-IL" dirty="0">
                <a:solidFill>
                  <a:schemeClr val="bg1"/>
                </a:solidFill>
              </a:rPr>
              <a:t>ולכן כל הלילה נקרא זמן שכיבה.</a:t>
            </a:r>
          </a:p>
        </p:txBody>
      </p:sp>
      <p:sp>
        <p:nvSpPr>
          <p:cNvPr id="19" name="חץ: למטה 18">
            <a:extLst>
              <a:ext uri="{FF2B5EF4-FFF2-40B4-BE49-F238E27FC236}">
                <a16:creationId xmlns:a16="http://schemas.microsoft.com/office/drawing/2014/main" id="{3E46EAEB-C63A-441E-B485-7A8535AACEAA}"/>
              </a:ext>
            </a:extLst>
          </p:cNvPr>
          <p:cNvSpPr/>
          <p:nvPr/>
        </p:nvSpPr>
        <p:spPr>
          <a:xfrm>
            <a:off x="5811520" y="3675662"/>
            <a:ext cx="1869440" cy="11475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985F21B5-FA78-4269-BC40-62409080B051}"/>
              </a:ext>
            </a:extLst>
          </p:cNvPr>
          <p:cNvSpPr txBox="1"/>
          <p:nvPr/>
        </p:nvSpPr>
        <p:spPr>
          <a:xfrm>
            <a:off x="990600" y="4931062"/>
            <a:ext cx="789432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800" b="1" dirty="0">
                <a:solidFill>
                  <a:schemeClr val="bg1"/>
                </a:solidFill>
              </a:rPr>
              <a:t>ולכן זמן תחילת ק"ש של ערבית </a:t>
            </a:r>
          </a:p>
          <a:p>
            <a:r>
              <a:rPr lang="he-IL" sz="2800" b="1" dirty="0">
                <a:solidFill>
                  <a:schemeClr val="bg1"/>
                </a:solidFill>
              </a:rPr>
              <a:t>מצאת הכוכבים, עד שיעלה עמוד השחר.</a:t>
            </a:r>
          </a:p>
          <a:p>
            <a:r>
              <a:rPr lang="he-IL" sz="2000" dirty="0">
                <a:solidFill>
                  <a:schemeClr val="bg1"/>
                </a:solidFill>
              </a:rPr>
              <a:t>        "משעה שהכוהנים </a:t>
            </a:r>
            <a:r>
              <a:rPr lang="he-IL" sz="2000" dirty="0" err="1">
                <a:solidFill>
                  <a:schemeClr val="bg1"/>
                </a:solidFill>
              </a:rPr>
              <a:t>נכנסין</a:t>
            </a:r>
            <a:r>
              <a:rPr lang="he-IL" sz="2000" dirty="0">
                <a:solidFill>
                  <a:schemeClr val="bg1"/>
                </a:solidFill>
              </a:rPr>
              <a:t> לאכול בתרומתן", 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05000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17" grpId="0" animBg="1"/>
      <p:bldP spid="18" grpId="0"/>
      <p:bldP spid="19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EFED35C1-F166-4668-9B4C-6FC7E85CAEF5}"/>
              </a:ext>
            </a:extLst>
          </p:cNvPr>
          <p:cNvSpPr/>
          <p:nvPr/>
        </p:nvSpPr>
        <p:spPr>
          <a:xfrm>
            <a:off x="7432042" y="751841"/>
            <a:ext cx="2631440" cy="89408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4400" dirty="0">
                <a:latin typeface="David" panose="020E0502060401010101" pitchFamily="34" charset="-79"/>
                <a:cs typeface="David" panose="020E0502060401010101" pitchFamily="34" charset="-79"/>
              </a:rPr>
              <a:t>וּבְקוּמֶךָ</a:t>
            </a:r>
            <a:r>
              <a:rPr lang="he-IL" dirty="0"/>
              <a:t>.  </a:t>
            </a: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DDCF8F13-7605-44C7-8566-C777BFC66C54}"/>
              </a:ext>
            </a:extLst>
          </p:cNvPr>
          <p:cNvSpPr/>
          <p:nvPr/>
        </p:nvSpPr>
        <p:spPr>
          <a:xfrm>
            <a:off x="6182360" y="1940560"/>
            <a:ext cx="4754880" cy="65024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800" b="1" dirty="0"/>
              <a:t>"ב</a:t>
            </a:r>
            <a:r>
              <a:rPr lang="he-IL" sz="4400" b="1" dirty="0"/>
              <a:t>זמן </a:t>
            </a:r>
            <a:r>
              <a:rPr lang="he-IL" sz="2800" b="1" dirty="0"/>
              <a:t>שבני אדם קמים "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400D8BFD-D033-4136-BD5F-51B2E951BA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2833"/>
          <a:stretch/>
        </p:blipFill>
        <p:spPr>
          <a:xfrm>
            <a:off x="878667" y="625028"/>
            <a:ext cx="3464906" cy="2749233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BAD080A6-D846-4682-936F-EF3B7033DAEE}"/>
              </a:ext>
            </a:extLst>
          </p:cNvPr>
          <p:cNvSpPr txBox="1"/>
          <p:nvPr/>
        </p:nvSpPr>
        <p:spPr>
          <a:xfrm rot="20208785">
            <a:off x="51797" y="1188947"/>
            <a:ext cx="349253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600" b="1" dirty="0">
                <a:solidFill>
                  <a:srgbClr val="FF0000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בתחילת היום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772E77BA-1000-4F84-9513-89670FFE5340}"/>
              </a:ext>
            </a:extLst>
          </p:cNvPr>
          <p:cNvSpPr txBox="1"/>
          <p:nvPr/>
        </p:nvSpPr>
        <p:spPr>
          <a:xfrm>
            <a:off x="3352800" y="3129279"/>
            <a:ext cx="6990080" cy="126188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>
                <a:solidFill>
                  <a:schemeClr val="bg1"/>
                </a:solidFill>
              </a:rPr>
              <a:t>הזמן הוא בתחילת היום, </a:t>
            </a:r>
            <a:r>
              <a:rPr lang="he-IL" sz="2800" b="1" dirty="0">
                <a:solidFill>
                  <a:schemeClr val="bg1"/>
                </a:solidFill>
              </a:rPr>
              <a:t>בבוקר</a:t>
            </a:r>
            <a:r>
              <a:rPr lang="he-IL" sz="2400" dirty="0">
                <a:solidFill>
                  <a:schemeClr val="bg1"/>
                </a:solidFill>
              </a:rPr>
              <a:t>.</a:t>
            </a:r>
          </a:p>
          <a:p>
            <a:r>
              <a:rPr lang="he-IL" sz="2400" dirty="0">
                <a:solidFill>
                  <a:schemeClr val="bg1"/>
                </a:solidFill>
              </a:rPr>
              <a:t>מהזמן שבו אדם יכול לזהות את חברו במרחק ארבע אמות,</a:t>
            </a:r>
          </a:p>
          <a:p>
            <a:r>
              <a:rPr lang="he-IL" sz="2400" dirty="0">
                <a:solidFill>
                  <a:schemeClr val="bg1"/>
                </a:solidFill>
              </a:rPr>
              <a:t>עד סוף שלוש שעות זמניות.</a:t>
            </a:r>
          </a:p>
        </p:txBody>
      </p: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BA9AC335-33B7-4440-8CDE-5ED66649D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546" y="4591178"/>
            <a:ext cx="6410960" cy="1641794"/>
          </a:xfrm>
          <a:prstGeom prst="rect">
            <a:avLst/>
          </a:prstGeom>
        </p:spPr>
      </p:pic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F6CF0F80-FA42-4F44-BB8E-A62A7EB21A70}"/>
              </a:ext>
            </a:extLst>
          </p:cNvPr>
          <p:cNvSpPr txBox="1"/>
          <p:nvPr/>
        </p:nvSpPr>
        <p:spPr>
          <a:xfrm>
            <a:off x="3830322" y="4811910"/>
            <a:ext cx="491744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b="1" dirty="0">
                <a:solidFill>
                  <a:schemeClr val="bg1"/>
                </a:solidFill>
              </a:rPr>
              <a:t>מי שלא קרא קריאת שמע של שחרית עד סוף שלוש שעות יכול לקרוא עד סוף היום כולל אמירת הברכות. (הרמב"ם)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100C33F1-ECCA-4175-88CE-63F4F6EB5285}"/>
              </a:ext>
            </a:extLst>
          </p:cNvPr>
          <p:cNvSpPr/>
          <p:nvPr/>
        </p:nvSpPr>
        <p:spPr>
          <a:xfrm>
            <a:off x="917952" y="5255580"/>
            <a:ext cx="2432482" cy="13819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למעשה מוסכם להלכה</a:t>
            </a:r>
          </a:p>
          <a:p>
            <a:pPr algn="ctr"/>
            <a:r>
              <a:rPr lang="he-IL" dirty="0"/>
              <a:t>שאין לומר ברכות קריאת שמע לאחר סוף 4 שעות ולכל היותר עד חצות.</a:t>
            </a:r>
          </a:p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842424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0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C39CE7C-8DCF-4074-8F2A-75936BA3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he-IL" sz="5400" b="1" dirty="0">
                <a:solidFill>
                  <a:schemeClr val="accent4"/>
                </a:solidFill>
              </a:rPr>
              <a:t>משורשי המצווה: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6356C61-5F7A-4D38-909F-25D1008B7EC2}"/>
              </a:ext>
            </a:extLst>
          </p:cNvPr>
          <p:cNvSpPr txBox="1"/>
          <p:nvPr/>
        </p:nvSpPr>
        <p:spPr>
          <a:xfrm>
            <a:off x="3200400" y="997000"/>
            <a:ext cx="815340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שרצה השם לזכות עמו, שיקבלו עליהם מלכותו ויחודו </a:t>
            </a:r>
          </a:p>
          <a:p>
            <a:r>
              <a:rPr lang="he-IL" sz="32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בכל יום ולילה ,כל הימים שהם חיים.</a:t>
            </a:r>
          </a:p>
          <a:p>
            <a:endParaRPr lang="he-IL" sz="32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E355B11A-81AE-4631-B3AF-0B407732F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310" y="2304543"/>
            <a:ext cx="3049461" cy="1609725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86558B2F-68F7-4F6F-94C8-F8DE8B3AA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1166" y="2155652"/>
            <a:ext cx="3119484" cy="1743075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3C156D71-5B4A-4CBD-A643-C69818357979}"/>
              </a:ext>
            </a:extLst>
          </p:cNvPr>
          <p:cNvSpPr txBox="1"/>
          <p:nvPr/>
        </p:nvSpPr>
        <p:spPr>
          <a:xfrm>
            <a:off x="8191877" y="2581468"/>
            <a:ext cx="247687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b="1" dirty="0"/>
              <a:t>ביום-</a:t>
            </a:r>
          </a:p>
          <a:p>
            <a:r>
              <a:rPr lang="he-IL" sz="2400" b="1" dirty="0"/>
              <a:t>כדי שהדבר ישפיע על מעשינו ביום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BE56185B-EB8A-4C6D-992E-ACDBD2E56CDC}"/>
              </a:ext>
            </a:extLst>
          </p:cNvPr>
          <p:cNvSpPr txBox="1"/>
          <p:nvPr/>
        </p:nvSpPr>
        <p:spPr>
          <a:xfrm>
            <a:off x="2709975" y="2581468"/>
            <a:ext cx="2651178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b="1" dirty="0">
                <a:solidFill>
                  <a:schemeClr val="bg1"/>
                </a:solidFill>
              </a:rPr>
              <a:t>           בלילה-</a:t>
            </a:r>
          </a:p>
          <a:p>
            <a:r>
              <a:rPr lang="he-IL" sz="2400" b="1" dirty="0">
                <a:solidFill>
                  <a:schemeClr val="bg1"/>
                </a:solidFill>
              </a:rPr>
              <a:t>לשמור אותנו מן החטא בלילה.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F0CBB992-57E8-4909-BEBB-EBDBA7F5CFF2}"/>
              </a:ext>
            </a:extLst>
          </p:cNvPr>
          <p:cNvSpPr/>
          <p:nvPr/>
        </p:nvSpPr>
        <p:spPr>
          <a:xfrm>
            <a:off x="8946480" y="4380845"/>
            <a:ext cx="2407320" cy="58592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b="1" dirty="0">
                <a:solidFill>
                  <a:srgbClr val="002060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האדם חומרי..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A8C94F6A-2CDA-4DAF-B9DF-A2531CF07397}"/>
              </a:ext>
            </a:extLst>
          </p:cNvPr>
          <p:cNvSpPr/>
          <p:nvPr/>
        </p:nvSpPr>
        <p:spPr>
          <a:xfrm>
            <a:off x="3525915" y="4380845"/>
            <a:ext cx="5140170" cy="58592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b="1" dirty="0">
                <a:solidFill>
                  <a:srgbClr val="002060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נמשך אחרי הבלי העולם הזה..</a:t>
            </a:r>
          </a:p>
        </p:txBody>
      </p:sp>
      <p:sp>
        <p:nvSpPr>
          <p:cNvPr id="16" name="אליפסה 15">
            <a:extLst>
              <a:ext uri="{FF2B5EF4-FFF2-40B4-BE49-F238E27FC236}">
                <a16:creationId xmlns:a16="http://schemas.microsoft.com/office/drawing/2014/main" id="{9C579E33-F12F-42D1-B661-929054780C17}"/>
              </a:ext>
            </a:extLst>
          </p:cNvPr>
          <p:cNvSpPr/>
          <p:nvPr/>
        </p:nvSpPr>
        <p:spPr>
          <a:xfrm rot="20311138">
            <a:off x="240618" y="4365493"/>
            <a:ext cx="3895046" cy="9634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6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מלכות ה'</a:t>
            </a:r>
          </a:p>
        </p:txBody>
      </p:sp>
      <p:sp>
        <p:nvSpPr>
          <p:cNvPr id="18" name="אליפסה 17">
            <a:extLst>
              <a:ext uri="{FF2B5EF4-FFF2-40B4-BE49-F238E27FC236}">
                <a16:creationId xmlns:a16="http://schemas.microsoft.com/office/drawing/2014/main" id="{EFC17815-0553-4FBB-9A32-24A4BB0FAA90}"/>
              </a:ext>
            </a:extLst>
          </p:cNvPr>
          <p:cNvSpPr/>
          <p:nvPr/>
        </p:nvSpPr>
        <p:spPr>
          <a:xfrm rot="20689762">
            <a:off x="635485" y="5219217"/>
            <a:ext cx="5220071" cy="894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6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שמירה מהחטא</a:t>
            </a:r>
          </a:p>
        </p:txBody>
      </p:sp>
    </p:spTree>
    <p:extLst>
      <p:ext uri="{BB962C8B-B14F-4D97-AF65-F5344CB8AC3E}">
        <p14:creationId xmlns:p14="http://schemas.microsoft.com/office/powerpoint/2010/main" val="26116857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2" grpId="0" animBg="1"/>
      <p:bldP spid="16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: מסגרת משופעת 5">
            <a:extLst>
              <a:ext uri="{FF2B5EF4-FFF2-40B4-BE49-F238E27FC236}">
                <a16:creationId xmlns:a16="http://schemas.microsoft.com/office/drawing/2014/main" id="{355003B2-9DB1-43D4-B585-9E808ABD236A}"/>
              </a:ext>
            </a:extLst>
          </p:cNvPr>
          <p:cNvSpPr/>
          <p:nvPr/>
        </p:nvSpPr>
        <p:spPr>
          <a:xfrm>
            <a:off x="3235940" y="450573"/>
            <a:ext cx="6480700" cy="941033"/>
          </a:xfrm>
          <a:prstGeom prst="bevel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200" b="1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קריאת שמע זיכרון תמידי </a:t>
            </a:r>
            <a:endParaRPr lang="he-IL" dirty="0"/>
          </a:p>
        </p:txBody>
      </p:sp>
      <p:sp>
        <p:nvSpPr>
          <p:cNvPr id="7" name="פיצוץ : 14 נקודות 6">
            <a:extLst>
              <a:ext uri="{FF2B5EF4-FFF2-40B4-BE49-F238E27FC236}">
                <a16:creationId xmlns:a16="http://schemas.microsoft.com/office/drawing/2014/main" id="{5CF059C5-D42F-47FD-ADA0-9C8CBF702167}"/>
              </a:ext>
            </a:extLst>
          </p:cNvPr>
          <p:cNvSpPr/>
          <p:nvPr/>
        </p:nvSpPr>
        <p:spPr>
          <a:xfrm rot="1052037">
            <a:off x="7909291" y="1464489"/>
            <a:ext cx="3915053" cy="1995052"/>
          </a:xfrm>
          <a:prstGeom prst="irregularSeal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200" b="1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יחוד ה</a:t>
            </a:r>
            <a:r>
              <a:rPr lang="he-IL" dirty="0"/>
              <a:t>'</a:t>
            </a:r>
          </a:p>
        </p:txBody>
      </p:sp>
      <p:sp>
        <p:nvSpPr>
          <p:cNvPr id="8" name="פיצוץ : 14 נקודות 7">
            <a:extLst>
              <a:ext uri="{FF2B5EF4-FFF2-40B4-BE49-F238E27FC236}">
                <a16:creationId xmlns:a16="http://schemas.microsoft.com/office/drawing/2014/main" id="{1838D4FA-6A6A-4B78-8129-FD7B63976071}"/>
              </a:ext>
            </a:extLst>
          </p:cNvPr>
          <p:cNvSpPr/>
          <p:nvPr/>
        </p:nvSpPr>
        <p:spPr>
          <a:xfrm rot="20715717">
            <a:off x="569847" y="1767931"/>
            <a:ext cx="5317724" cy="1817822"/>
          </a:xfrm>
          <a:prstGeom prst="irregularSeal2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200" b="1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מלכות ה'</a:t>
            </a:r>
          </a:p>
        </p:txBody>
      </p:sp>
      <p:sp>
        <p:nvSpPr>
          <p:cNvPr id="9" name="פיצוץ : 14 נקודות 8">
            <a:extLst>
              <a:ext uri="{FF2B5EF4-FFF2-40B4-BE49-F238E27FC236}">
                <a16:creationId xmlns:a16="http://schemas.microsoft.com/office/drawing/2014/main" id="{F5B572AF-2AED-4DB1-92C3-6568A8F2EBA7}"/>
              </a:ext>
            </a:extLst>
          </p:cNvPr>
          <p:cNvSpPr/>
          <p:nvPr/>
        </p:nvSpPr>
        <p:spPr>
          <a:xfrm rot="20786742">
            <a:off x="6923662" y="4178517"/>
            <a:ext cx="4935986" cy="1673803"/>
          </a:xfrm>
          <a:prstGeom prst="irregularSeal2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200" b="1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השגחת ה</a:t>
            </a:r>
            <a:r>
              <a:rPr lang="he-IL" dirty="0"/>
              <a:t>'</a:t>
            </a:r>
          </a:p>
        </p:txBody>
      </p:sp>
      <p:sp>
        <p:nvSpPr>
          <p:cNvPr id="10" name="פיצוץ : 14 נקודות 9">
            <a:extLst>
              <a:ext uri="{FF2B5EF4-FFF2-40B4-BE49-F238E27FC236}">
                <a16:creationId xmlns:a16="http://schemas.microsoft.com/office/drawing/2014/main" id="{3D95DFF4-0DFC-491C-AF3E-398C4959D08B}"/>
              </a:ext>
            </a:extLst>
          </p:cNvPr>
          <p:cNvSpPr/>
          <p:nvPr/>
        </p:nvSpPr>
        <p:spPr>
          <a:xfrm rot="832798">
            <a:off x="1162803" y="4270559"/>
            <a:ext cx="5104660" cy="2013984"/>
          </a:xfrm>
          <a:prstGeom prst="irregularSeal2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200" b="1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יכולת ה' על </a:t>
            </a:r>
            <a:r>
              <a:rPr lang="he-IL" sz="3200" b="1" dirty="0" err="1">
                <a:latin typeface="Guttman Yad-Brush" panose="02010401010101010101" pitchFamily="2" charset="-79"/>
                <a:cs typeface="Guttman Yad-Brush" panose="02010401010101010101" pitchFamily="2" charset="-79"/>
              </a:rPr>
              <a:t>הכל</a:t>
            </a:r>
            <a:r>
              <a:rPr lang="he-IL" dirty="0"/>
              <a:t>.</a:t>
            </a:r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664E4DEE-7819-4C0C-9992-7AF47100F314}"/>
              </a:ext>
            </a:extLst>
          </p:cNvPr>
          <p:cNvSpPr/>
          <p:nvPr/>
        </p:nvSpPr>
        <p:spPr>
          <a:xfrm>
            <a:off x="4831262" y="2718725"/>
            <a:ext cx="3462291" cy="160685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800" b="1" dirty="0"/>
              <a:t>הזיכרון שומר על האדם מפני החטא.</a:t>
            </a:r>
          </a:p>
        </p:txBody>
      </p:sp>
    </p:spTree>
    <p:extLst>
      <p:ext uri="{BB962C8B-B14F-4D97-AF65-F5344CB8AC3E}">
        <p14:creationId xmlns:p14="http://schemas.microsoft.com/office/powerpoint/2010/main" val="36648598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00D7B1D-8023-4ED8-8B43-262C3FDF3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8775" y="1310849"/>
            <a:ext cx="10515600" cy="1325563"/>
          </a:xfrm>
        </p:spPr>
        <p:txBody>
          <a:bodyPr>
            <a:normAutofit/>
          </a:bodyPr>
          <a:lstStyle/>
          <a:p>
            <a:r>
              <a:rPr lang="he-IL" sz="4800" dirty="0">
                <a:solidFill>
                  <a:schemeClr val="accent4"/>
                </a:solidFill>
              </a:rPr>
              <a:t>יש לומר ב</a:t>
            </a:r>
            <a:r>
              <a:rPr lang="he-IL" sz="6000" b="1" dirty="0">
                <a:solidFill>
                  <a:schemeClr val="accent4"/>
                </a:solidFill>
              </a:rPr>
              <a:t>כוונת הלב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5D9ED12-9CFC-42D6-A365-77E671C7EC4A}"/>
              </a:ext>
            </a:extLst>
          </p:cNvPr>
          <p:cNvSpPr txBox="1"/>
          <p:nvPr/>
        </p:nvSpPr>
        <p:spPr>
          <a:xfrm>
            <a:off x="1012054" y="435005"/>
            <a:ext cx="10919534" cy="14465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6600" b="1" dirty="0">
                <a:latin typeface="+mj-lt"/>
                <a:ea typeface="+mj-ea"/>
                <a:cs typeface="+mj-cs"/>
              </a:rPr>
              <a:t>שְׁמַע יִשְׂרָאֵל  ה' אלוהינוּ ה'  </a:t>
            </a:r>
            <a:r>
              <a:rPr lang="he-IL" sz="8800" b="1" dirty="0">
                <a:latin typeface="+mj-lt"/>
                <a:ea typeface="+mj-ea"/>
                <a:cs typeface="+mj-cs"/>
              </a:rPr>
              <a:t>אֶחָד</a:t>
            </a:r>
            <a:r>
              <a:rPr lang="he-IL" sz="6600" b="1" dirty="0">
                <a:latin typeface="+mj-lt"/>
                <a:ea typeface="+mj-ea"/>
                <a:cs typeface="+mj-cs"/>
              </a:rPr>
              <a:t>.  </a:t>
            </a:r>
          </a:p>
        </p:txBody>
      </p:sp>
      <p:sp>
        <p:nvSpPr>
          <p:cNvPr id="5" name="חץ: למטה 4">
            <a:extLst>
              <a:ext uri="{FF2B5EF4-FFF2-40B4-BE49-F238E27FC236}">
                <a16:creationId xmlns:a16="http://schemas.microsoft.com/office/drawing/2014/main" id="{0874F6AB-CB81-43A4-B7C3-CE1E5D923A27}"/>
              </a:ext>
            </a:extLst>
          </p:cNvPr>
          <p:cNvSpPr/>
          <p:nvPr/>
        </p:nvSpPr>
        <p:spPr>
          <a:xfrm>
            <a:off x="1839156" y="2036628"/>
            <a:ext cx="951392" cy="1325563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00DE6F48-DECF-45B9-A110-F4218CE0F881}"/>
              </a:ext>
            </a:extLst>
          </p:cNvPr>
          <p:cNvSpPr/>
          <p:nvPr/>
        </p:nvSpPr>
        <p:spPr>
          <a:xfrm>
            <a:off x="752080" y="3760380"/>
            <a:ext cx="2769833" cy="118960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/>
              <a:t>להמליך את הקב"ה בשמים, בארץ ובארבע רוחות העולם.</a:t>
            </a:r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48A6C743-1830-4783-93BF-87A28056AF16}"/>
              </a:ext>
            </a:extLst>
          </p:cNvPr>
          <p:cNvSpPr/>
          <p:nvPr/>
        </p:nvSpPr>
        <p:spPr>
          <a:xfrm rot="21157278">
            <a:off x="3819638" y="2965532"/>
            <a:ext cx="3591015" cy="506979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/>
              <a:t>שולט ומושל בכל העולם כולו</a:t>
            </a:r>
            <a:r>
              <a:rPr lang="he-IL" dirty="0"/>
              <a:t>.</a:t>
            </a: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947C4F6A-5177-405A-ACD7-684726A8011A}"/>
              </a:ext>
            </a:extLst>
          </p:cNvPr>
          <p:cNvSpPr/>
          <p:nvPr/>
        </p:nvSpPr>
        <p:spPr>
          <a:xfrm rot="152820">
            <a:off x="4023805" y="4101694"/>
            <a:ext cx="3781887" cy="506979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/>
              <a:t>אין דבר שנעלם ממנו</a:t>
            </a:r>
            <a:r>
              <a:rPr lang="he-IL" dirty="0"/>
              <a:t>.</a:t>
            </a: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80EB0BC3-F0A8-41A7-8EF9-BD2CDBC3E654}"/>
              </a:ext>
            </a:extLst>
          </p:cNvPr>
          <p:cNvSpPr/>
          <p:nvPr/>
        </p:nvSpPr>
        <p:spPr>
          <a:xfrm rot="866253">
            <a:off x="3724203" y="5413441"/>
            <a:ext cx="3781887" cy="50698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/>
              <a:t>מקיים את כל העולם.</a:t>
            </a:r>
          </a:p>
        </p:txBody>
      </p:sp>
      <p:sp>
        <p:nvSpPr>
          <p:cNvPr id="10" name="מסגרת 9">
            <a:extLst>
              <a:ext uri="{FF2B5EF4-FFF2-40B4-BE49-F238E27FC236}">
                <a16:creationId xmlns:a16="http://schemas.microsoft.com/office/drawing/2014/main" id="{E7960E8A-774F-4247-A945-BDA0D9BE3243}"/>
              </a:ext>
            </a:extLst>
          </p:cNvPr>
          <p:cNvSpPr/>
          <p:nvPr/>
        </p:nvSpPr>
        <p:spPr>
          <a:xfrm>
            <a:off x="1460377" y="767274"/>
            <a:ext cx="757559" cy="969995"/>
          </a:xfrm>
          <a:prstGeom prst="fram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E45FCBFC-FE3F-4BC0-A024-CBDE3A0C36D8}"/>
              </a:ext>
            </a:extLst>
          </p:cNvPr>
          <p:cNvSpPr/>
          <p:nvPr/>
        </p:nvSpPr>
        <p:spPr>
          <a:xfrm>
            <a:off x="9041908" y="2763848"/>
            <a:ext cx="2769833" cy="17278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800" dirty="0"/>
              <a:t>השכר-</a:t>
            </a:r>
          </a:p>
          <a:p>
            <a:pPr algn="ctr"/>
            <a:r>
              <a:rPr lang="he-IL" sz="2800" dirty="0"/>
              <a:t>"כל המאריך באחד</a:t>
            </a:r>
          </a:p>
          <a:p>
            <a:pPr algn="ctr"/>
            <a:r>
              <a:rPr lang="he-IL" sz="2800" dirty="0"/>
              <a:t> </a:t>
            </a:r>
            <a:r>
              <a:rPr lang="he-IL" sz="2800" dirty="0" err="1"/>
              <a:t>מאריכין</a:t>
            </a:r>
            <a:r>
              <a:rPr lang="he-IL" sz="2800" dirty="0"/>
              <a:t> לו ימיו ושנותיו." 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813530AD-F637-4A3F-9D28-DD02DF642049}"/>
              </a:ext>
            </a:extLst>
          </p:cNvPr>
          <p:cNvSpPr/>
          <p:nvPr/>
        </p:nvSpPr>
        <p:spPr>
          <a:xfrm>
            <a:off x="9641150" y="4692455"/>
            <a:ext cx="1233996" cy="767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800" dirty="0"/>
              <a:t>ובדל"ת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A58BF9AC-B846-44D0-9F97-0A6F01FFDA39}"/>
              </a:ext>
            </a:extLst>
          </p:cNvPr>
          <p:cNvSpPr/>
          <p:nvPr/>
        </p:nvSpPr>
        <p:spPr>
          <a:xfrm>
            <a:off x="9015274" y="5660529"/>
            <a:ext cx="2485748" cy="785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b="1" dirty="0"/>
              <a:t>ובלבד שלא יחטוף בחי"ת</a:t>
            </a:r>
          </a:p>
        </p:txBody>
      </p:sp>
    </p:spTree>
    <p:extLst>
      <p:ext uri="{BB962C8B-B14F-4D97-AF65-F5344CB8AC3E}">
        <p14:creationId xmlns:p14="http://schemas.microsoft.com/office/powerpoint/2010/main" val="40989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3A6C04A-1D4D-4412-9922-80FFA9471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149" y="462779"/>
            <a:ext cx="10515600" cy="1325563"/>
          </a:xfrm>
        </p:spPr>
        <p:txBody>
          <a:bodyPr>
            <a:normAutofit/>
          </a:bodyPr>
          <a:lstStyle/>
          <a:p>
            <a:r>
              <a:rPr lang="he-IL" sz="6000" dirty="0">
                <a:solidFill>
                  <a:schemeClr val="bg1"/>
                </a:solidFill>
              </a:rPr>
              <a:t>מדיני המצווה:</a:t>
            </a: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4B3CBC37-0180-4FE0-9D20-A47D7B9716B4}"/>
              </a:ext>
            </a:extLst>
          </p:cNvPr>
          <p:cNvSpPr/>
          <p:nvPr/>
        </p:nvSpPr>
        <p:spPr>
          <a:xfrm>
            <a:off x="474955" y="512946"/>
            <a:ext cx="7528263" cy="16739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800" b="1" dirty="0"/>
              <a:t>החיוב מן התורה:</a:t>
            </a:r>
            <a:r>
              <a:rPr lang="he-IL" sz="2800" dirty="0"/>
              <a:t> קריאת הפסוק הראשון בלבד.</a:t>
            </a:r>
          </a:p>
          <a:p>
            <a:pPr algn="ctr"/>
            <a:r>
              <a:rPr lang="he-IL" sz="4400" dirty="0">
                <a:solidFill>
                  <a:schemeClr val="accent4"/>
                </a:solidFill>
                <a:latin typeface="+mj-lt"/>
                <a:ea typeface="+mj-ea"/>
                <a:cs typeface="+mj-cs"/>
              </a:rPr>
              <a:t>"שמע ישראל ה' </a:t>
            </a:r>
            <a:r>
              <a:rPr lang="he-IL" sz="4400" dirty="0" err="1">
                <a:solidFill>
                  <a:schemeClr val="accent4"/>
                </a:solidFill>
                <a:latin typeface="+mj-lt"/>
                <a:ea typeface="+mj-ea"/>
                <a:cs typeface="+mj-cs"/>
              </a:rPr>
              <a:t>אלוקנו</a:t>
            </a:r>
            <a:r>
              <a:rPr lang="he-IL" sz="4400" dirty="0">
                <a:solidFill>
                  <a:schemeClr val="accent4"/>
                </a:solidFill>
                <a:latin typeface="+mj-lt"/>
                <a:ea typeface="+mj-ea"/>
                <a:cs typeface="+mj-cs"/>
              </a:rPr>
              <a:t> ה' אחד"</a:t>
            </a:r>
          </a:p>
          <a:p>
            <a:pPr algn="ctr"/>
            <a:endParaRPr lang="he-IL" sz="2800" dirty="0"/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7BD5E7F4-98CB-4157-8D6C-F43B9E5F408B}"/>
              </a:ext>
            </a:extLst>
          </p:cNvPr>
          <p:cNvSpPr/>
          <p:nvPr/>
        </p:nvSpPr>
        <p:spPr>
          <a:xfrm>
            <a:off x="540062" y="2470584"/>
            <a:ext cx="7412853" cy="11480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800" b="1" dirty="0"/>
              <a:t>החיוב מדרבנן: </a:t>
            </a:r>
            <a:r>
              <a:rPr lang="he-IL" sz="2800" dirty="0"/>
              <a:t>קריאת שלש פרשיות:</a:t>
            </a:r>
          </a:p>
          <a:p>
            <a:pPr algn="ctr"/>
            <a:r>
              <a:rPr lang="he-IL" sz="2800" dirty="0"/>
              <a:t> שמע, והיה אם שמוע, ויאמר</a:t>
            </a:r>
            <a:r>
              <a:rPr lang="he-IL" dirty="0"/>
              <a:t>. </a:t>
            </a:r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84CFC190-C793-4A6C-A924-9207D873E71C}"/>
              </a:ext>
            </a:extLst>
          </p:cNvPr>
          <p:cNvSpPr/>
          <p:nvPr/>
        </p:nvSpPr>
        <p:spPr>
          <a:xfrm>
            <a:off x="345489" y="4073889"/>
            <a:ext cx="11501022" cy="21324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b="1" dirty="0"/>
              <a:t>סדר קריאת הפרשיות:</a:t>
            </a:r>
          </a:p>
          <a:p>
            <a:pPr algn="ctr"/>
            <a:r>
              <a:rPr lang="he-IL" sz="2400" dirty="0" err="1"/>
              <a:t>מקדימין</a:t>
            </a:r>
            <a:r>
              <a:rPr lang="he-IL" sz="2400" dirty="0"/>
              <a:t> לקרות </a:t>
            </a:r>
            <a:r>
              <a:rPr lang="he-IL" sz="2400" dirty="0">
                <a:solidFill>
                  <a:schemeClr val="accent4"/>
                </a:solidFill>
              </a:rPr>
              <a:t>פרשת שמע: </a:t>
            </a:r>
            <a:r>
              <a:rPr lang="he-IL" sz="2400" dirty="0"/>
              <a:t>כוללת את המצוות שהן יסוד התורה:</a:t>
            </a:r>
          </a:p>
          <a:p>
            <a:pPr algn="ctr"/>
            <a:r>
              <a:rPr lang="he-IL" sz="2400" dirty="0">
                <a:solidFill>
                  <a:schemeClr val="accent4"/>
                </a:solidFill>
              </a:rPr>
              <a:t> יחוד השם, אהבת ה', תלמוד תורה</a:t>
            </a:r>
            <a:r>
              <a:rPr lang="he-IL" sz="2400" dirty="0"/>
              <a:t>. </a:t>
            </a:r>
          </a:p>
          <a:p>
            <a:pPr algn="ctr"/>
            <a:r>
              <a:rPr lang="he-IL" sz="2400" dirty="0"/>
              <a:t>ואחריה </a:t>
            </a:r>
            <a:r>
              <a:rPr lang="he-IL" sz="2400" dirty="0">
                <a:solidFill>
                  <a:srgbClr val="C00000"/>
                </a:solidFill>
              </a:rPr>
              <a:t>והיה אם שמוע </a:t>
            </a:r>
            <a:r>
              <a:rPr lang="he-IL" sz="2400" dirty="0"/>
              <a:t>שיש בה ציווי על </a:t>
            </a:r>
            <a:r>
              <a:rPr lang="he-IL" sz="2400" dirty="0">
                <a:solidFill>
                  <a:srgbClr val="C00000"/>
                </a:solidFill>
              </a:rPr>
              <a:t>שמירת כל המצוות</a:t>
            </a:r>
            <a:r>
              <a:rPr lang="he-IL" sz="2400" dirty="0"/>
              <a:t>.</a:t>
            </a:r>
          </a:p>
          <a:p>
            <a:pPr algn="ctr"/>
            <a:r>
              <a:rPr lang="he-IL" sz="2400" dirty="0"/>
              <a:t>ואחריה </a:t>
            </a:r>
            <a:r>
              <a:rPr lang="he-IL" sz="2400" dirty="0">
                <a:solidFill>
                  <a:schemeClr val="accent2">
                    <a:lumMod val="50000"/>
                  </a:schemeClr>
                </a:solidFill>
              </a:rPr>
              <a:t>פרשת ציצית </a:t>
            </a:r>
            <a:r>
              <a:rPr lang="he-IL" sz="2400" dirty="0"/>
              <a:t>שגם היא יש בה ציווי על </a:t>
            </a:r>
            <a:r>
              <a:rPr lang="he-IL" sz="2400" dirty="0">
                <a:solidFill>
                  <a:schemeClr val="accent2">
                    <a:lumMod val="50000"/>
                  </a:schemeClr>
                </a:solidFill>
              </a:rPr>
              <a:t>זכירת כל המצוות. </a:t>
            </a:r>
          </a:p>
        </p:txBody>
      </p:sp>
      <p:sp>
        <p:nvSpPr>
          <p:cNvPr id="8" name="פיצוץ : 14 נקודות 7">
            <a:extLst>
              <a:ext uri="{FF2B5EF4-FFF2-40B4-BE49-F238E27FC236}">
                <a16:creationId xmlns:a16="http://schemas.microsoft.com/office/drawing/2014/main" id="{4B830AFA-6CA7-46AF-9251-EE452F7306C8}"/>
              </a:ext>
            </a:extLst>
          </p:cNvPr>
          <p:cNvSpPr/>
          <p:nvPr/>
        </p:nvSpPr>
        <p:spPr>
          <a:xfrm>
            <a:off x="7133204" y="1603035"/>
            <a:ext cx="4518734" cy="1198487"/>
          </a:xfrm>
          <a:prstGeom prst="irregularSeal2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/>
              <a:t>זמן קיום המצווה: פעמיים  ביום.</a:t>
            </a:r>
          </a:p>
        </p:txBody>
      </p:sp>
      <p:sp>
        <p:nvSpPr>
          <p:cNvPr id="9" name="פיצוץ : 14 נקודות 8">
            <a:extLst>
              <a:ext uri="{FF2B5EF4-FFF2-40B4-BE49-F238E27FC236}">
                <a16:creationId xmlns:a16="http://schemas.microsoft.com/office/drawing/2014/main" id="{B68D8085-8379-494C-873B-B50B2E6B29A4}"/>
              </a:ext>
            </a:extLst>
          </p:cNvPr>
          <p:cNvSpPr/>
          <p:nvPr/>
        </p:nvSpPr>
        <p:spPr>
          <a:xfrm>
            <a:off x="6920143" y="2981449"/>
            <a:ext cx="4625266" cy="1198486"/>
          </a:xfrm>
          <a:prstGeom prst="irregularSeal2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/>
              <a:t>אופן הקריאה: בכוונה.</a:t>
            </a:r>
          </a:p>
        </p:txBody>
      </p:sp>
    </p:spTree>
    <p:extLst>
      <p:ext uri="{BB962C8B-B14F-4D97-AF65-F5344CB8AC3E}">
        <p14:creationId xmlns:p14="http://schemas.microsoft.com/office/powerpoint/2010/main" val="18091994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14D415EF-67DD-4E7D-AAC3-C6D6649C80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47"/>
          <a:stretch/>
        </p:blipFill>
        <p:spPr>
          <a:xfrm>
            <a:off x="457200" y="1418150"/>
            <a:ext cx="11277599" cy="4772025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DA003F7D-B33E-404C-9BB3-D69E83C13FC6}"/>
              </a:ext>
            </a:extLst>
          </p:cNvPr>
          <p:cNvSpPr txBox="1"/>
          <p:nvPr/>
        </p:nvSpPr>
        <p:spPr>
          <a:xfrm>
            <a:off x="5273335" y="-59806"/>
            <a:ext cx="6107837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000" b="1" dirty="0">
                <a:solidFill>
                  <a:schemeClr val="accent6"/>
                </a:solidFill>
              </a:rPr>
              <a:t>ברכות קריאת שמע מדרבנן. </a:t>
            </a:r>
          </a:p>
          <a:p>
            <a:r>
              <a:rPr lang="he-IL" sz="4000" b="1" dirty="0">
                <a:solidFill>
                  <a:schemeClr val="accent6"/>
                </a:solidFill>
              </a:rPr>
              <a:t>עזרא ובית דינו תקנום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4997AEE0-BC31-4D1A-89A0-312DA82E3C11}"/>
              </a:ext>
            </a:extLst>
          </p:cNvPr>
          <p:cNvSpPr txBox="1"/>
          <p:nvPr/>
        </p:nvSpPr>
        <p:spPr>
          <a:xfrm>
            <a:off x="3428260" y="2416505"/>
            <a:ext cx="60945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800" b="1" dirty="0"/>
              <a:t>1.יוצר אור.</a:t>
            </a:r>
          </a:p>
          <a:p>
            <a:r>
              <a:rPr lang="he-IL" sz="2800" b="1" dirty="0"/>
              <a:t>2.אהבה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308F1447-84F5-426B-AEA1-36C6A2C64C88}"/>
              </a:ext>
            </a:extLst>
          </p:cNvPr>
          <p:cNvSpPr txBox="1"/>
          <p:nvPr/>
        </p:nvSpPr>
        <p:spPr>
          <a:xfrm>
            <a:off x="3619130" y="4145279"/>
            <a:ext cx="60945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he-IL" sz="2800" b="1" dirty="0"/>
          </a:p>
          <a:p>
            <a:r>
              <a:rPr lang="he-IL" sz="2800" b="1" dirty="0"/>
              <a:t>3. אמת ויציב. 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468105ED-471C-471D-991F-DC51716983BE}"/>
              </a:ext>
            </a:extLst>
          </p:cNvPr>
          <p:cNvSpPr txBox="1"/>
          <p:nvPr/>
        </p:nvSpPr>
        <p:spPr>
          <a:xfrm>
            <a:off x="1241394" y="3419443"/>
            <a:ext cx="6995604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400" b="1" dirty="0"/>
              <a:t>קריאת שמע</a:t>
            </a: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EB9CD7F8-148E-40B8-8108-980B261E7706}"/>
              </a:ext>
            </a:extLst>
          </p:cNvPr>
          <p:cNvSpPr txBox="1"/>
          <p:nvPr/>
        </p:nvSpPr>
        <p:spPr>
          <a:xfrm>
            <a:off x="-722051" y="2302009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800" b="1" dirty="0">
                <a:solidFill>
                  <a:schemeClr val="accent4"/>
                </a:solidFill>
              </a:rPr>
              <a:t>1.מעריב ערבים.</a:t>
            </a:r>
          </a:p>
          <a:p>
            <a:r>
              <a:rPr lang="he-IL" sz="2800" b="1" dirty="0">
                <a:solidFill>
                  <a:schemeClr val="accent4"/>
                </a:solidFill>
              </a:rPr>
              <a:t>2.אהבה</a:t>
            </a:r>
            <a:r>
              <a:rPr lang="he-IL" dirty="0">
                <a:solidFill>
                  <a:schemeClr val="accent4"/>
                </a:solidFill>
              </a:rPr>
              <a:t>.</a:t>
            </a: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1BB84A56-CE8C-415E-A377-612DA752E47F}"/>
              </a:ext>
            </a:extLst>
          </p:cNvPr>
          <p:cNvSpPr txBox="1"/>
          <p:nvPr/>
        </p:nvSpPr>
        <p:spPr>
          <a:xfrm>
            <a:off x="-992081" y="4063152"/>
            <a:ext cx="64540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he-IL" sz="2800" b="1" dirty="0">
              <a:solidFill>
                <a:schemeClr val="accent4"/>
              </a:solidFill>
            </a:endParaRPr>
          </a:p>
          <a:p>
            <a:r>
              <a:rPr lang="he-IL" sz="2800" b="1" dirty="0">
                <a:solidFill>
                  <a:schemeClr val="accent4"/>
                </a:solidFill>
              </a:rPr>
              <a:t>3.אמת אמונה.  </a:t>
            </a:r>
          </a:p>
          <a:p>
            <a:r>
              <a:rPr lang="he-IL" sz="2800" b="1" dirty="0">
                <a:solidFill>
                  <a:schemeClr val="accent4"/>
                </a:solidFill>
              </a:rPr>
              <a:t>4.השכיבנו.</a:t>
            </a:r>
          </a:p>
        </p:txBody>
      </p:sp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F5D8C0C3-86CA-42AC-B7B2-F3088353C065}"/>
              </a:ext>
            </a:extLst>
          </p:cNvPr>
          <p:cNvSpPr txBox="1"/>
          <p:nvPr/>
        </p:nvSpPr>
        <p:spPr>
          <a:xfrm>
            <a:off x="9969622" y="3478242"/>
            <a:ext cx="1411549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>
                <a:solidFill>
                  <a:schemeClr val="accent6">
                    <a:lumMod val="50000"/>
                  </a:schemeClr>
                </a:solidFill>
              </a:rPr>
              <a:t>3 ברכות</a:t>
            </a:r>
          </a:p>
        </p:txBody>
      </p:sp>
      <p:sp>
        <p:nvSpPr>
          <p:cNvPr id="25" name="סוגר מסולסל שמאלי 24">
            <a:extLst>
              <a:ext uri="{FF2B5EF4-FFF2-40B4-BE49-F238E27FC236}">
                <a16:creationId xmlns:a16="http://schemas.microsoft.com/office/drawing/2014/main" id="{76D3FC5F-A31F-4457-9936-B81C2204C393}"/>
              </a:ext>
            </a:extLst>
          </p:cNvPr>
          <p:cNvSpPr/>
          <p:nvPr/>
        </p:nvSpPr>
        <p:spPr>
          <a:xfrm>
            <a:off x="2022628" y="2685606"/>
            <a:ext cx="424649" cy="2458700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6" name="סוגר מסולסל ימני 25">
            <a:extLst>
              <a:ext uri="{FF2B5EF4-FFF2-40B4-BE49-F238E27FC236}">
                <a16:creationId xmlns:a16="http://schemas.microsoft.com/office/drawing/2014/main" id="{DEA93073-BFCF-4830-B504-82B84701DC0D}"/>
              </a:ext>
            </a:extLst>
          </p:cNvPr>
          <p:cNvSpPr/>
          <p:nvPr/>
        </p:nvSpPr>
        <p:spPr>
          <a:xfrm>
            <a:off x="9615994" y="2543175"/>
            <a:ext cx="340678" cy="2285999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8" name="תיבת טקסט 27">
            <a:extLst>
              <a:ext uri="{FF2B5EF4-FFF2-40B4-BE49-F238E27FC236}">
                <a16:creationId xmlns:a16="http://schemas.microsoft.com/office/drawing/2014/main" id="{025567FA-5693-4FCC-9EBB-7B3FB9455CA8}"/>
              </a:ext>
            </a:extLst>
          </p:cNvPr>
          <p:cNvSpPr txBox="1"/>
          <p:nvPr/>
        </p:nvSpPr>
        <p:spPr>
          <a:xfrm>
            <a:off x="365182" y="3665664"/>
            <a:ext cx="1627206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>
                <a:solidFill>
                  <a:schemeClr val="accent4"/>
                </a:solidFill>
              </a:rPr>
              <a:t>4 ברכות</a:t>
            </a:r>
          </a:p>
        </p:txBody>
      </p:sp>
      <p:sp>
        <p:nvSpPr>
          <p:cNvPr id="29" name="תיבת טקסט 28">
            <a:extLst>
              <a:ext uri="{FF2B5EF4-FFF2-40B4-BE49-F238E27FC236}">
                <a16:creationId xmlns:a16="http://schemas.microsoft.com/office/drawing/2014/main" id="{DD554870-F484-40AD-AC1B-EC42CA948A15}"/>
              </a:ext>
            </a:extLst>
          </p:cNvPr>
          <p:cNvSpPr txBox="1"/>
          <p:nvPr/>
        </p:nvSpPr>
        <p:spPr>
          <a:xfrm>
            <a:off x="7370915" y="1440243"/>
            <a:ext cx="191267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600" dirty="0"/>
              <a:t>בבוקר</a:t>
            </a:r>
          </a:p>
        </p:txBody>
      </p:sp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59EBDFAF-6A11-4087-8BB3-F934B9459FD8}"/>
              </a:ext>
            </a:extLst>
          </p:cNvPr>
          <p:cNvSpPr txBox="1"/>
          <p:nvPr/>
        </p:nvSpPr>
        <p:spPr>
          <a:xfrm>
            <a:off x="3114675" y="1461083"/>
            <a:ext cx="155257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600" dirty="0">
                <a:solidFill>
                  <a:schemeClr val="bg1"/>
                </a:solidFill>
              </a:rPr>
              <a:t>בערב</a:t>
            </a:r>
          </a:p>
        </p:txBody>
      </p:sp>
    </p:spTree>
    <p:extLst>
      <p:ext uri="{BB962C8B-B14F-4D97-AF65-F5344CB8AC3E}">
        <p14:creationId xmlns:p14="http://schemas.microsoft.com/office/powerpoint/2010/main" val="346995738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22" grpId="0"/>
      <p:bldP spid="25" grpId="0" animBg="1"/>
      <p:bldP spid="26" grpId="0" animBg="1"/>
      <p:bldP spid="28" grpId="0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3FDB02B-F80D-4BFA-AB19-AC3DCE2B6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52426" y="235336"/>
            <a:ext cx="10515600" cy="682625"/>
          </a:xfrm>
        </p:spPr>
        <p:txBody>
          <a:bodyPr>
            <a:normAutofit fontScale="90000"/>
          </a:bodyPr>
          <a:lstStyle/>
          <a:p>
            <a:r>
              <a:rPr lang="he-IL" dirty="0"/>
              <a:t>אופן  הקריאה: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720575A1-E202-4D47-A5EA-31C632D762C1}"/>
              </a:ext>
            </a:extLst>
          </p:cNvPr>
          <p:cNvSpPr txBox="1"/>
          <p:nvPr/>
        </p:nvSpPr>
        <p:spPr>
          <a:xfrm>
            <a:off x="4905374" y="1095495"/>
            <a:ext cx="68131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400" b="1" dirty="0">
                <a:solidFill>
                  <a:schemeClr val="accent2"/>
                </a:solidFill>
              </a:rPr>
              <a:t>לכתחילה צריך הקורא להשמיע לאזנו מה שמוציא.</a:t>
            </a:r>
          </a:p>
          <a:p>
            <a:r>
              <a:rPr lang="he-IL" sz="2400" b="1" dirty="0">
                <a:solidFill>
                  <a:schemeClr val="accent2"/>
                </a:solidFill>
              </a:rPr>
              <a:t>    בדיעבד, אם לא השמיע לאזנו, אך קרא בשפתיו יצא. 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A8BFD480-6F57-433C-BEA0-BACDCA4484BF}"/>
              </a:ext>
            </a:extLst>
          </p:cNvPr>
          <p:cNvSpPr txBox="1"/>
          <p:nvPr/>
        </p:nvSpPr>
        <p:spPr>
          <a:xfrm rot="20626693">
            <a:off x="-1928674" y="4584707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800" dirty="0">
                <a:solidFill>
                  <a:srgbClr val="FF0000"/>
                </a:solidFill>
              </a:rPr>
              <a:t>הזכרת כל התיבות והאותיות</a:t>
            </a:r>
            <a:r>
              <a:rPr lang="he-IL" sz="2400" dirty="0">
                <a:solidFill>
                  <a:srgbClr val="FF0000"/>
                </a:solidFill>
              </a:rPr>
              <a:t>. </a:t>
            </a:r>
          </a:p>
          <a:p>
            <a:r>
              <a:rPr lang="he-IL" sz="2800" b="1" dirty="0">
                <a:solidFill>
                  <a:srgbClr val="FF0000"/>
                </a:solidFill>
              </a:rPr>
              <a:t>  הדין: </a:t>
            </a:r>
          </a:p>
          <a:p>
            <a:r>
              <a:rPr lang="he-IL" sz="2800" b="1" dirty="0">
                <a:solidFill>
                  <a:srgbClr val="FF0000"/>
                </a:solidFill>
              </a:rPr>
              <a:t>    לא עשה כך לא יצא</a:t>
            </a:r>
            <a:r>
              <a:rPr lang="he-IL" sz="2400" b="1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B395A2FE-0EBC-43F2-9C0F-5D874D6B2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02" y="286434"/>
            <a:ext cx="3799643" cy="2980465"/>
          </a:xfrm>
          <a:prstGeom prst="rect">
            <a:avLst/>
          </a:prstGeom>
        </p:spPr>
      </p:pic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61B60EFD-D692-4FDC-B8F0-DCCC6BBAE8F5}"/>
              </a:ext>
            </a:extLst>
          </p:cNvPr>
          <p:cNvSpPr txBox="1"/>
          <p:nvPr/>
        </p:nvSpPr>
        <p:spPr>
          <a:xfrm>
            <a:off x="2963662" y="2217703"/>
            <a:ext cx="8603942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400" b="1" dirty="0">
                <a:solidFill>
                  <a:schemeClr val="accent4"/>
                </a:solidFill>
              </a:rPr>
              <a:t>מלכתחילה הקורא צריך לדקדק באותיותיה. </a:t>
            </a:r>
          </a:p>
          <a:p>
            <a:r>
              <a:rPr lang="he-IL" sz="2400" dirty="0">
                <a:solidFill>
                  <a:schemeClr val="accent4"/>
                </a:solidFill>
              </a:rPr>
              <a:t> מלה המסתיימת באות מסוימת והמלה אחריה מתחילה באותה אות,      </a:t>
            </a:r>
          </a:p>
          <a:p>
            <a:r>
              <a:rPr lang="he-IL" sz="2400" dirty="0">
                <a:solidFill>
                  <a:schemeClr val="accent4"/>
                </a:solidFill>
              </a:rPr>
              <a:t> יש לתת ריווח בין מלה למלה.</a:t>
            </a:r>
          </a:p>
          <a:p>
            <a:r>
              <a:rPr lang="he-IL" sz="2400" dirty="0">
                <a:solidFill>
                  <a:schemeClr val="accent4"/>
                </a:solidFill>
              </a:rPr>
              <a:t>   כגון: בכ</a:t>
            </a:r>
            <a:r>
              <a:rPr lang="he-IL" sz="2800" b="1" dirty="0">
                <a:solidFill>
                  <a:schemeClr val="accent2"/>
                </a:solidFill>
              </a:rPr>
              <a:t>ל</a:t>
            </a:r>
            <a:r>
              <a:rPr lang="he-IL" sz="2400" dirty="0">
                <a:solidFill>
                  <a:schemeClr val="accent4"/>
                </a:solidFill>
              </a:rPr>
              <a:t> </a:t>
            </a:r>
            <a:r>
              <a:rPr lang="he-IL" sz="2800" b="1" dirty="0">
                <a:solidFill>
                  <a:schemeClr val="accent2"/>
                </a:solidFill>
              </a:rPr>
              <a:t>ל</a:t>
            </a:r>
            <a:r>
              <a:rPr lang="he-IL" sz="2400" dirty="0">
                <a:solidFill>
                  <a:schemeClr val="accent4"/>
                </a:solidFill>
              </a:rPr>
              <a:t>בבך, עש</a:t>
            </a:r>
            <a:r>
              <a:rPr lang="he-IL" sz="2800" b="1" dirty="0">
                <a:solidFill>
                  <a:schemeClr val="accent2"/>
                </a:solidFill>
              </a:rPr>
              <a:t>ב ב</a:t>
            </a:r>
            <a:r>
              <a:rPr lang="he-IL" sz="2400" dirty="0">
                <a:solidFill>
                  <a:schemeClr val="accent4"/>
                </a:solidFill>
              </a:rPr>
              <a:t>שדך, ואבדת</a:t>
            </a:r>
            <a:r>
              <a:rPr lang="he-IL" sz="2800" b="1" dirty="0">
                <a:solidFill>
                  <a:schemeClr val="accent2"/>
                </a:solidFill>
              </a:rPr>
              <a:t>ם מ</a:t>
            </a:r>
            <a:r>
              <a:rPr lang="he-IL" sz="2400" dirty="0">
                <a:solidFill>
                  <a:schemeClr val="accent4"/>
                </a:solidFill>
              </a:rPr>
              <a:t>הרה, בכ</a:t>
            </a:r>
            <a:r>
              <a:rPr lang="he-IL" sz="2800" b="1" dirty="0">
                <a:solidFill>
                  <a:schemeClr val="accent2"/>
                </a:solidFill>
              </a:rPr>
              <a:t>ל</a:t>
            </a:r>
            <a:r>
              <a:rPr lang="he-IL" sz="2400" dirty="0">
                <a:solidFill>
                  <a:schemeClr val="accent2"/>
                </a:solidFill>
              </a:rPr>
              <a:t> </a:t>
            </a:r>
            <a:r>
              <a:rPr lang="he-IL" sz="2800" b="1" dirty="0">
                <a:solidFill>
                  <a:schemeClr val="accent2"/>
                </a:solidFill>
              </a:rPr>
              <a:t>ל</a:t>
            </a:r>
            <a:r>
              <a:rPr lang="he-IL" sz="2400" dirty="0">
                <a:solidFill>
                  <a:schemeClr val="accent4"/>
                </a:solidFill>
              </a:rPr>
              <a:t>בבכם, </a:t>
            </a:r>
          </a:p>
          <a:p>
            <a:r>
              <a:rPr lang="he-IL" sz="2400" dirty="0">
                <a:solidFill>
                  <a:schemeClr val="accent4"/>
                </a:solidFill>
              </a:rPr>
              <a:t>      הכנ</a:t>
            </a:r>
            <a:r>
              <a:rPr lang="he-IL" sz="2800" b="1" dirty="0">
                <a:solidFill>
                  <a:schemeClr val="accent2"/>
                </a:solidFill>
              </a:rPr>
              <a:t>ף פ</a:t>
            </a:r>
            <a:r>
              <a:rPr lang="he-IL" sz="2400" dirty="0">
                <a:solidFill>
                  <a:schemeClr val="accent4"/>
                </a:solidFill>
              </a:rPr>
              <a:t>תיל. </a:t>
            </a:r>
          </a:p>
          <a:p>
            <a:r>
              <a:rPr lang="he-IL" sz="2400" dirty="0">
                <a:solidFill>
                  <a:schemeClr val="accent4"/>
                </a:solidFill>
              </a:rPr>
              <a:t> </a:t>
            </a:r>
          </a:p>
          <a:p>
            <a:r>
              <a:rPr lang="he-IL" sz="2400" dirty="0">
                <a:solidFill>
                  <a:schemeClr val="accent4"/>
                </a:solidFill>
              </a:rPr>
              <a:t>  להתיז ז'  של המלה "ת</a:t>
            </a:r>
            <a:r>
              <a:rPr lang="he-IL" sz="2800" b="1" dirty="0">
                <a:solidFill>
                  <a:schemeClr val="accent2"/>
                </a:solidFill>
              </a:rPr>
              <a:t>ז</a:t>
            </a:r>
            <a:r>
              <a:rPr lang="he-IL" sz="2400" dirty="0">
                <a:solidFill>
                  <a:schemeClr val="accent4"/>
                </a:solidFill>
              </a:rPr>
              <a:t>כרו".</a:t>
            </a:r>
          </a:p>
          <a:p>
            <a:r>
              <a:rPr lang="he-IL" sz="2400" dirty="0">
                <a:solidFill>
                  <a:schemeClr val="accent4"/>
                </a:solidFill>
              </a:rPr>
              <a:t>  להאריך דל"ת כפי הראוי.</a:t>
            </a:r>
          </a:p>
          <a:p>
            <a:r>
              <a:rPr lang="he-IL" sz="2400" dirty="0">
                <a:solidFill>
                  <a:schemeClr val="accent4"/>
                </a:solidFill>
              </a:rPr>
              <a:t>                 </a:t>
            </a:r>
            <a:r>
              <a:rPr lang="he-IL" sz="2800" b="1" dirty="0">
                <a:solidFill>
                  <a:schemeClr val="accent4"/>
                </a:solidFill>
              </a:rPr>
              <a:t>הדין: בדיעבד אם לא עשה זאת יצא.</a:t>
            </a:r>
          </a:p>
        </p:txBody>
      </p:sp>
    </p:spTree>
    <p:extLst>
      <p:ext uri="{BB962C8B-B14F-4D97-AF65-F5344CB8AC3E}">
        <p14:creationId xmlns:p14="http://schemas.microsoft.com/office/powerpoint/2010/main" val="396522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4CC2136-D2AF-47B2-8418-344066BD0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227" y="250521"/>
            <a:ext cx="10515600" cy="1020330"/>
          </a:xfrm>
        </p:spPr>
        <p:txBody>
          <a:bodyPr/>
          <a:lstStyle/>
          <a:p>
            <a:r>
              <a:rPr lang="he-IL" dirty="0">
                <a:solidFill>
                  <a:schemeClr val="bg1"/>
                </a:solidFill>
              </a:rPr>
              <a:t>שאילת שלום והשבת שלום בקריאת שמע וברכותיה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E2B506CB-5049-4B51-97DE-C12475546316}"/>
              </a:ext>
            </a:extLst>
          </p:cNvPr>
          <p:cNvSpPr/>
          <p:nvPr/>
        </p:nvSpPr>
        <p:spPr>
          <a:xfrm>
            <a:off x="8788891" y="1447496"/>
            <a:ext cx="2749857" cy="848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solidFill>
                  <a:schemeClr val="accent4"/>
                </a:solidFill>
              </a:rPr>
              <a:t>מקום ההוספה: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4A623FD6-2981-466C-99F7-7AB19BFA3079}"/>
              </a:ext>
            </a:extLst>
          </p:cNvPr>
          <p:cNvSpPr/>
          <p:nvPr/>
        </p:nvSpPr>
        <p:spPr>
          <a:xfrm>
            <a:off x="8831059" y="2582221"/>
            <a:ext cx="2707689" cy="1020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solidFill>
                  <a:schemeClr val="accent4"/>
                </a:solidFill>
              </a:rPr>
              <a:t>בין הפרקים-</a:t>
            </a:r>
          </a:p>
          <a:p>
            <a:pPr algn="ctr"/>
            <a:r>
              <a:rPr lang="he-IL" dirty="0"/>
              <a:t>בין פרשה לפרשה. </a:t>
            </a:r>
          </a:p>
          <a:p>
            <a:pPr algn="ctr"/>
            <a:r>
              <a:rPr lang="he-IL" dirty="0"/>
              <a:t>בין ברכה לברכה.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4F5D39DD-FAF3-49E1-9331-AA6E75F35CB8}"/>
              </a:ext>
            </a:extLst>
          </p:cNvPr>
          <p:cNvSpPr/>
          <p:nvPr/>
        </p:nvSpPr>
        <p:spPr>
          <a:xfrm>
            <a:off x="8873227" y="3860439"/>
            <a:ext cx="2707690" cy="1349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solidFill>
                  <a:schemeClr val="accent4"/>
                </a:solidFill>
              </a:rPr>
              <a:t>באמצע-</a:t>
            </a:r>
          </a:p>
          <a:p>
            <a:pPr algn="ctr"/>
            <a:r>
              <a:rPr lang="he-IL" dirty="0"/>
              <a:t>באמצע  אחת מפרשיות קריאת שמע.</a:t>
            </a:r>
          </a:p>
          <a:p>
            <a:pPr algn="ctr"/>
            <a:r>
              <a:rPr lang="he-IL" dirty="0"/>
              <a:t>באמצע אחת מברכות קריאת שמע.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AFFD5FA8-A25F-4E0F-87AD-F476D7FF3F0E}"/>
              </a:ext>
            </a:extLst>
          </p:cNvPr>
          <p:cNvSpPr/>
          <p:nvPr/>
        </p:nvSpPr>
        <p:spPr>
          <a:xfrm>
            <a:off x="5519690" y="1447496"/>
            <a:ext cx="2876365" cy="852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solidFill>
                  <a:schemeClr val="accent4"/>
                </a:solidFill>
              </a:rPr>
              <a:t>לשאול בשלום</a:t>
            </a:r>
            <a:r>
              <a:rPr lang="he-IL" b="1" dirty="0"/>
              <a:t>.</a:t>
            </a:r>
          </a:p>
          <a:p>
            <a:pPr algn="ctr"/>
            <a:r>
              <a:rPr lang="he-IL" dirty="0"/>
              <a:t>הקורא יוזם את הדבור.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70CC8AC0-C982-4649-8E55-D534D5D127F4}"/>
              </a:ext>
            </a:extLst>
          </p:cNvPr>
          <p:cNvSpPr/>
          <p:nvPr/>
        </p:nvSpPr>
        <p:spPr>
          <a:xfrm>
            <a:off x="5459765" y="2584139"/>
            <a:ext cx="2996213" cy="967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/>
              <a:t>רק כלפי מי שיש לכבדו, </a:t>
            </a:r>
          </a:p>
          <a:p>
            <a:pPr algn="ctr"/>
            <a:r>
              <a:rPr lang="he-IL"/>
              <a:t>או שיראים ממנו.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49C8F21B-D718-40CF-AA7B-C9D4B2840CC2}"/>
              </a:ext>
            </a:extLst>
          </p:cNvPr>
          <p:cNvSpPr/>
          <p:nvPr/>
        </p:nvSpPr>
        <p:spPr>
          <a:xfrm>
            <a:off x="5519690" y="3845379"/>
            <a:ext cx="2996214" cy="1349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רק כלפי מי שיראים ממנו</a:t>
            </a:r>
          </a:p>
          <a:p>
            <a:pPr algn="ctr"/>
            <a:r>
              <a:rPr lang="he-IL" b="1" dirty="0"/>
              <a:t>יש מפרשים: </a:t>
            </a:r>
          </a:p>
          <a:p>
            <a:pPr algn="ctr"/>
            <a:r>
              <a:rPr lang="he-IL" dirty="0"/>
              <a:t>מלכים גויים או שרים גדולים.</a:t>
            </a:r>
          </a:p>
          <a:p>
            <a:pPr algn="ctr"/>
            <a:r>
              <a:rPr lang="he-IL" b="1" dirty="0"/>
              <a:t>יש מפרשים: </a:t>
            </a:r>
            <a:r>
              <a:rPr lang="he-IL" dirty="0"/>
              <a:t>אביו או רבו.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062ACCF3-A272-4409-B3A1-392524EEB62D}"/>
              </a:ext>
            </a:extLst>
          </p:cNvPr>
          <p:cNvSpPr/>
          <p:nvPr/>
        </p:nvSpPr>
        <p:spPr>
          <a:xfrm>
            <a:off x="2130641" y="1447496"/>
            <a:ext cx="3116062" cy="8254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solidFill>
                  <a:schemeClr val="accent4"/>
                </a:solidFill>
              </a:rPr>
              <a:t>להשיב שלום.</a:t>
            </a:r>
          </a:p>
          <a:p>
            <a:pPr algn="ctr"/>
            <a:r>
              <a:rPr lang="he-IL" dirty="0"/>
              <a:t>הקורא משיב לאדם לאחר ששאל בשלומו.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D3829527-62AA-4E2F-B94E-3672EBDF7EE4}"/>
              </a:ext>
            </a:extLst>
          </p:cNvPr>
          <p:cNvSpPr/>
          <p:nvPr/>
        </p:nvSpPr>
        <p:spPr>
          <a:xfrm>
            <a:off x="2135078" y="2557505"/>
            <a:ext cx="3116062" cy="967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/>
              <a:t>לכל אדם.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B979BE6A-B6AD-4028-9454-8A54C55B10CB}"/>
              </a:ext>
            </a:extLst>
          </p:cNvPr>
          <p:cNvSpPr/>
          <p:nvPr/>
        </p:nvSpPr>
        <p:spPr>
          <a:xfrm>
            <a:off x="2135078" y="3877861"/>
            <a:ext cx="3116062" cy="1349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/>
              <a:t>למי שיש לכבדו,</a:t>
            </a:r>
          </a:p>
          <a:p>
            <a:pPr algn="ctr"/>
            <a:r>
              <a:rPr lang="he-IL"/>
              <a:t> וכן מי שיראים ממנו.</a:t>
            </a:r>
          </a:p>
        </p:txBody>
      </p: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672BE932-4C9D-46B3-A4C0-924A779429D0}"/>
              </a:ext>
            </a:extLst>
          </p:cNvPr>
          <p:cNvSpPr txBox="1"/>
          <p:nvPr/>
        </p:nvSpPr>
        <p:spPr>
          <a:xfrm>
            <a:off x="-532662" y="5580558"/>
            <a:ext cx="10342485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b="1" dirty="0"/>
              <a:t>ספר החינוך מעיר שלמרות ההיתר, אין זה מקובל להפסיק</a:t>
            </a:r>
            <a:r>
              <a:rPr lang="he-IL" sz="2000" dirty="0"/>
              <a:t>.</a:t>
            </a:r>
          </a:p>
          <a:p>
            <a:r>
              <a:rPr lang="he-IL" sz="2000" dirty="0"/>
              <a:t>ולא מצוי שאדם מקפיד על חברו על שלא הפסיק כדי לשאול בשלומו או מלהשיב לו </a:t>
            </a:r>
          </a:p>
          <a:p>
            <a:r>
              <a:rPr lang="he-IL" sz="2000" dirty="0"/>
              <a:t>אפילו בין הפרקים שדינם קל יותר.</a:t>
            </a:r>
          </a:p>
        </p:txBody>
      </p:sp>
    </p:spTree>
    <p:extLst>
      <p:ext uri="{BB962C8B-B14F-4D97-AF65-F5344CB8AC3E}">
        <p14:creationId xmlns:p14="http://schemas.microsoft.com/office/powerpoint/2010/main" val="1224492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CA5134C-3930-4947-AD1F-48BA480FE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386" y="1375784"/>
            <a:ext cx="10898080" cy="1325563"/>
          </a:xfrm>
        </p:spPr>
        <p:txBody>
          <a:bodyPr/>
          <a:lstStyle/>
          <a:p>
            <a:r>
              <a:rPr lang="he-IL" dirty="0"/>
              <a:t> </a:t>
            </a:r>
            <a:r>
              <a:rPr lang="he-IL" sz="7200" dirty="0">
                <a:solidFill>
                  <a:schemeClr val="bg1"/>
                </a:solidFill>
              </a:rPr>
              <a:t>נוֹהֶגֶת :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35102D57-603F-4CCE-9325-B36C185A2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240" y="505289"/>
            <a:ext cx="3011685" cy="3066554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A23191A6-DFDD-4371-8763-C6002D66A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249" y="491632"/>
            <a:ext cx="3773751" cy="3063875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1C88DB21-A219-44D9-B010-2380C99C9F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94" y="433419"/>
            <a:ext cx="1852390" cy="4897114"/>
          </a:xfrm>
          <a:prstGeom prst="rect">
            <a:avLst/>
          </a:prstGeom>
        </p:spPr>
      </p:pic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B9BCE1CD-1A15-44B9-AFA2-39A1C706BE31}"/>
              </a:ext>
            </a:extLst>
          </p:cNvPr>
          <p:cNvSpPr txBox="1"/>
          <p:nvPr/>
        </p:nvSpPr>
        <p:spPr>
          <a:xfrm>
            <a:off x="6844220" y="975788"/>
            <a:ext cx="2024109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5400" b="1" dirty="0"/>
              <a:t>בכל מקום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056CDBEF-D91B-4826-B5D1-07C85D84D0A2}"/>
              </a:ext>
            </a:extLst>
          </p:cNvPr>
          <p:cNvSpPr txBox="1"/>
          <p:nvPr/>
        </p:nvSpPr>
        <p:spPr>
          <a:xfrm>
            <a:off x="2893075" y="1127650"/>
            <a:ext cx="2113209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5400" b="1" dirty="0"/>
              <a:t>בכל זמן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3C462579-47EB-4F3D-8553-A6AD3C91B0B7}"/>
              </a:ext>
            </a:extLst>
          </p:cNvPr>
          <p:cNvSpPr txBox="1"/>
          <p:nvPr/>
        </p:nvSpPr>
        <p:spPr>
          <a:xfrm rot="19346653">
            <a:off x="-268429" y="3093842"/>
            <a:ext cx="2970319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5400" b="1" dirty="0"/>
              <a:t>בזכרים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F6B60CFC-8FDA-402E-8D13-3921CC504C21}"/>
              </a:ext>
            </a:extLst>
          </p:cNvPr>
          <p:cNvSpPr/>
          <p:nvPr/>
        </p:nvSpPr>
        <p:spPr>
          <a:xfrm rot="19442338">
            <a:off x="331592" y="4800693"/>
            <a:ext cx="2898901" cy="11761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solidFill>
                  <a:schemeClr val="tx1"/>
                </a:solidFill>
              </a:rPr>
              <a:t>לא בנקבות-</a:t>
            </a:r>
          </a:p>
          <a:p>
            <a:pPr algn="ctr"/>
            <a:r>
              <a:rPr lang="he-IL" sz="2000" b="1" dirty="0">
                <a:solidFill>
                  <a:schemeClr val="tx1"/>
                </a:solidFill>
              </a:rPr>
              <a:t>מצוות עשה שהזמן </a:t>
            </a:r>
            <a:r>
              <a:rPr lang="he-IL" sz="2000" b="1" dirty="0" err="1">
                <a:solidFill>
                  <a:schemeClr val="tx1"/>
                </a:solidFill>
              </a:rPr>
              <a:t>גרמא</a:t>
            </a:r>
            <a:r>
              <a:rPr lang="he-IL" sz="2000" dirty="0"/>
              <a:t>.</a:t>
            </a: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0A2D7338-A7E9-4E36-A116-0FD6DBED87D1}"/>
              </a:ext>
            </a:extLst>
          </p:cNvPr>
          <p:cNvSpPr/>
          <p:nvPr/>
        </p:nvSpPr>
        <p:spPr>
          <a:xfrm>
            <a:off x="3429332" y="3931958"/>
            <a:ext cx="7554897" cy="8345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000" b="1" dirty="0"/>
              <a:t>מי שלא קרא קריאת שמע באחד מן הזמנים שנקבעו-ביטל מצוות עשה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A0F6783B-94EA-4CEE-A2B8-20D952117A9C}"/>
              </a:ext>
            </a:extLst>
          </p:cNvPr>
          <p:cNvSpPr/>
          <p:nvPr/>
        </p:nvSpPr>
        <p:spPr>
          <a:xfrm>
            <a:off x="4425188" y="4946922"/>
            <a:ext cx="5985769" cy="17258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000" b="1" dirty="0"/>
              <a:t>הרמב"ן מנה את מצוות קריאת שמע כ</a:t>
            </a:r>
            <a:r>
              <a:rPr lang="he-IL" sz="2800" b="1" dirty="0"/>
              <a:t>שת</a:t>
            </a:r>
            <a:r>
              <a:rPr lang="he-IL" sz="2000" b="1" dirty="0"/>
              <a:t>י מצוות:</a:t>
            </a:r>
          </a:p>
          <a:p>
            <a:pPr algn="ctr"/>
            <a:r>
              <a:rPr lang="he-IL" sz="2000" b="1" dirty="0"/>
              <a:t>קריאת שמע </a:t>
            </a:r>
            <a:r>
              <a:rPr lang="he-IL" sz="2400" b="1" dirty="0"/>
              <a:t>ביום</a:t>
            </a:r>
          </a:p>
          <a:p>
            <a:pPr algn="ctr"/>
            <a:r>
              <a:rPr lang="he-IL" sz="2000" b="1" dirty="0"/>
              <a:t>קריאת שמע </a:t>
            </a:r>
            <a:r>
              <a:rPr lang="he-IL" sz="2400" b="1" dirty="0"/>
              <a:t>בלילה</a:t>
            </a:r>
          </a:p>
          <a:p>
            <a:r>
              <a:rPr lang="he-IL" sz="2400" b="1" dirty="0"/>
              <a:t>              </a:t>
            </a:r>
            <a:r>
              <a:rPr lang="he-IL" sz="2000" b="1" dirty="0"/>
              <a:t>מפני ש : זמניהן שונים. וזו אינה מעכבת זו. </a:t>
            </a:r>
          </a:p>
          <a:p>
            <a:pPr algn="ctr"/>
            <a:endParaRPr lang="he-IL" sz="2400" b="1" dirty="0"/>
          </a:p>
        </p:txBody>
      </p:sp>
    </p:spTree>
    <p:extLst>
      <p:ext uri="{BB962C8B-B14F-4D97-AF65-F5344CB8AC3E}">
        <p14:creationId xmlns:p14="http://schemas.microsoft.com/office/powerpoint/2010/main" val="3887271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 animBg="1"/>
      <p:bldP spid="14" grpId="0" animBg="1"/>
      <p:bldP spid="15" grpId="0" animBg="1"/>
    </p:bld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838</Words>
  <Application>Microsoft Office PowerPoint</Application>
  <PresentationFormat>מסך רחב</PresentationFormat>
  <Paragraphs>157</Paragraphs>
  <Slides>13</Slides>
  <Notes>13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David</vt:lpstr>
      <vt:lpstr>Guttman Yad-Brush</vt:lpstr>
      <vt:lpstr>Times New Roman</vt:lpstr>
      <vt:lpstr>ערכת נושא Office</vt:lpstr>
      <vt:lpstr>מצגת של PowerPoint‏</vt:lpstr>
      <vt:lpstr> הגדרת המצווה:</vt:lpstr>
      <vt:lpstr>"וְדִבַּרְתָּ בָּם בְּשִׁבְתְּךָ בְּבֵיתֶךָ וּבְלֶכְתְּךָ בַדֶּרֶךְ                                                וּבְשָׁכְבְּךָ וּבְקוּמֶךָ" </vt:lpstr>
      <vt:lpstr> </vt:lpstr>
      <vt:lpstr>מצגת של PowerPoint‏</vt:lpstr>
      <vt:lpstr>משורשי המצווה:</vt:lpstr>
      <vt:lpstr>מצגת של PowerPoint‏</vt:lpstr>
      <vt:lpstr>יש לומר בכוונת הלב</vt:lpstr>
      <vt:lpstr>מדיני המצווה:</vt:lpstr>
      <vt:lpstr>מצגת של PowerPoint‏</vt:lpstr>
      <vt:lpstr>אופן  הקריאה:</vt:lpstr>
      <vt:lpstr>שאילת שלום והשבת שלום בקריאת שמע וברכותיה</vt:lpstr>
      <vt:lpstr> נוֹהֶגֶת 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דוד קליר</dc:creator>
  <cp:lastModifiedBy>דוד עצמון</cp:lastModifiedBy>
  <cp:revision>14</cp:revision>
  <dcterms:created xsi:type="dcterms:W3CDTF">2020-11-12T16:16:56Z</dcterms:created>
  <dcterms:modified xsi:type="dcterms:W3CDTF">2023-10-19T11:41:05Z</dcterms:modified>
</cp:coreProperties>
</file>