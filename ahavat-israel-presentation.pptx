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4" r:id="rId9"/>
    <p:sldId id="263" r:id="rId10"/>
    <p:sldId id="266" r:id="rId11"/>
    <p:sldId id="265" r:id="rId1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82A2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D97CA0F-61DE-4416-A697-4EF2001F5A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3E889EDA-EA26-46EA-A4E0-5B89FB632F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D6B2727-ADA3-415A-A446-4C58E81DE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CAC6B-A7AD-45F5-8A08-7C6E7AE5F969}" type="datetimeFigureOut">
              <a:rPr lang="he-IL" smtClean="0"/>
              <a:t>י"ח/תמוז/תשפ"ו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BE06B72-F775-4959-95A7-8D1FE5181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4DAF404-5CDE-4D12-B97D-AE9EC6CD8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3C756-692A-49A7-BB10-5E679885293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05532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7383AFC-404A-458F-A2B8-A5306765B2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C5EDB0F-374A-4459-9256-21E297D9B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84F75C8-7321-4F83-B20A-F9BA09BB4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CAC6B-A7AD-45F5-8A08-7C6E7AE5F969}" type="datetimeFigureOut">
              <a:rPr lang="he-IL" smtClean="0"/>
              <a:t>י"ח/תמוז/תשפ"ו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3B10E62-061C-48C1-BB4F-757989F99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6E839AB-6948-42E2-A2A5-BD53F234F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3C756-692A-49A7-BB10-5E679885293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98051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5A5D820-3397-450B-B9C5-0D5DF8DB8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751F064A-08B3-41FE-A2CB-AB7B6A37F8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F2EAE68-00FB-42E4-9C86-928824E12F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CAC6B-A7AD-45F5-8A08-7C6E7AE5F969}" type="datetimeFigureOut">
              <a:rPr lang="he-IL" smtClean="0"/>
              <a:t>י"ח/תמוז/תשפ"ו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DE6FD59-AF7A-4057-AAD6-A31CEED09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C71CEB1-0305-4DBD-8D79-3B3E8024E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3C756-692A-49A7-BB10-5E679885293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7130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6CAD75E-653B-4225-9669-14C3494A0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58192B2-D55A-4C0D-8B29-4849EB1998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83606D0A-F312-42E7-8590-B730C7AF88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53B079C2-0F6C-48B8-813B-02815E869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CAC6B-A7AD-45F5-8A08-7C6E7AE5F969}" type="datetimeFigureOut">
              <a:rPr lang="he-IL" smtClean="0"/>
              <a:t>י"ח/תמוז/תשפ"ו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9A8B53C8-F83A-4D16-8083-A968B5A5E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8B4CD4CF-69ED-45FB-A8FE-6796EF0CD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3C756-692A-49A7-BB10-5E679885293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24966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8728632-A661-4C0D-93D6-EE6CD012C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31360DE-D4DD-44E9-BD05-0F13974975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67EBE232-A03B-4F7F-A76D-E5C42179D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84C57FD4-88E0-4A34-BF04-038ACBC661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F17AF2B3-7A47-403C-88B8-498CB6FA98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95BD42C7-64DC-481D-8645-57F787AF9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CAC6B-A7AD-45F5-8A08-7C6E7AE5F969}" type="datetimeFigureOut">
              <a:rPr lang="he-IL" smtClean="0"/>
              <a:t>י"ח/תמוז/תשפ"ו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2355FC7B-7774-4E20-A320-E75D3D01D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5D273068-39FC-4F07-A74D-28C39D18E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3C756-692A-49A7-BB10-5E679885293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19069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393F168-ABC6-4466-BDB8-D17321DCB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218E6EDE-FBD7-4FB6-A8AF-AEC6002F5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CAC6B-A7AD-45F5-8A08-7C6E7AE5F969}" type="datetimeFigureOut">
              <a:rPr lang="he-IL" smtClean="0"/>
              <a:t>י"ח/תמוז/תשפ"ו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65EB4DF1-75C8-4118-A49A-42CFFE671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33090E03-08B2-4F86-8F4A-C10A0BA59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3C756-692A-49A7-BB10-5E679885293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769222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9EE0616E-EFBD-4936-861D-2B04F7DB5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CAC6B-A7AD-45F5-8A08-7C6E7AE5F969}" type="datetimeFigureOut">
              <a:rPr lang="he-IL" smtClean="0"/>
              <a:t>י"ח/תמוז/תשפ"ו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399C07BB-4B8F-46A3-83A7-D72383DD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CFBB153E-D30A-4C5C-82C0-E154B79C2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3C756-692A-49A7-BB10-5E679885293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78976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1865F41-1FD7-4692-BAEF-9CD3D1A61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85C66E7-06B2-433E-B077-0FDDBCCD5C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875F73CE-9013-4EB1-880F-0BC35E472A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AA1FADEA-7654-421F-AE6F-8C393C68C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CAC6B-A7AD-45F5-8A08-7C6E7AE5F969}" type="datetimeFigureOut">
              <a:rPr lang="he-IL" smtClean="0"/>
              <a:t>י"ח/תמוז/תשפ"ו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7DAC2C3F-F424-4C52-9F99-45C5E10F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FBBD0B8A-3E6E-4C25-944C-96942FC87F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3C756-692A-49A7-BB10-5E679885293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04882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5DE55CA-095E-4CD5-BB5B-3333BC621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93CCE8AC-EE19-4179-BC81-C055ACBC2E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83763182-4308-4EBB-851B-E81FA082C1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1B4A5087-C0A4-41C5-8505-A87D88089B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CAC6B-A7AD-45F5-8A08-7C6E7AE5F969}" type="datetimeFigureOut">
              <a:rPr lang="he-IL" smtClean="0"/>
              <a:t>י"ח/תמוז/תשפ"ו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2D0E05F9-F015-48B2-A956-C1028CCCD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721DFB52-47F2-49C7-A8A8-7785E1108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3C756-692A-49A7-BB10-5E679885293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5075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0546D4F-F9D9-4101-BD62-FB8EC9CC0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7BE658FC-E4D1-47A9-A881-5CF5E6680B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C1CD34E-38B1-4B6A-88B4-A91415A4C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CAC6B-A7AD-45F5-8A08-7C6E7AE5F969}" type="datetimeFigureOut">
              <a:rPr lang="he-IL" smtClean="0"/>
              <a:t>י"ח/תמוז/תשפ"ו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ED4FA4E-DF4E-4F52-AEBB-8A0A0E780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F3A6AA3-18A7-4789-B251-4EE57353B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3C756-692A-49A7-BB10-5E679885293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73030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C1CAF44E-AB60-493B-820B-D793832C58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B5FBD746-8CD1-4D04-8BE1-9D49B49499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E170EDB-3A9C-4D91-AA10-D2BA257A7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ECAC6B-A7AD-45F5-8A08-7C6E7AE5F969}" type="datetimeFigureOut">
              <a:rPr lang="he-IL" smtClean="0"/>
              <a:t>י"ח/תמוז/תשפ"ו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0F392D22-6D42-4BD9-BFB9-F8CFE693E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22FF05F-7C6F-456B-9BFB-A3BB38437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3C756-692A-49A7-BB10-5E679885293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94413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4AB5D96D-A3F7-46D3-8570-19B21F9FB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F4133A1-6706-49DD-A387-D50039581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E64E365-8354-4029-A1ED-503CA5C484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ECAC6B-A7AD-45F5-8A08-7C6E7AE5F969}" type="datetimeFigureOut">
              <a:rPr lang="he-IL" smtClean="0"/>
              <a:t>י"ח/תמוז/תשפ"ו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1E57DF7-7DC4-4F85-9E28-FD71A59894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86B4986-E03F-4EE7-AB91-4BE844A362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3C756-692A-49A7-BB10-5E679885293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82135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1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תמונה 6" descr="ידיים גדולות וקטנות אוחזות בלב אדום">
            <a:extLst>
              <a:ext uri="{FF2B5EF4-FFF2-40B4-BE49-F238E27FC236}">
                <a16:creationId xmlns:a16="http://schemas.microsoft.com/office/drawing/2014/main" id="{B19F0FD9-8C45-46E8-B501-950F2829149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566A9874-776B-420C-B294-7DAC9E9047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60052" y="1081983"/>
            <a:ext cx="10058400" cy="13876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he-IL" sz="7200" dirty="0">
                <a:solidFill>
                  <a:srgbClr val="FFFFFF"/>
                </a:solidFill>
                <a:latin typeface="FbTip Regular" panose="02020603050405020304" pitchFamily="18" charset="-79"/>
                <a:cs typeface="FbTip Regular" panose="02020603050405020304" pitchFamily="18" charset="-79"/>
              </a:rPr>
              <a:t>אהבת ישראל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80F4025C-3E29-43F2-8279-F6542C62F4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83572" y="3105675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he-IL" sz="4800" dirty="0">
                <a:solidFill>
                  <a:srgbClr val="FFFFFF"/>
                </a:solidFill>
                <a:latin typeface="FbTip Regular" panose="02020603050405020304" pitchFamily="18" charset="-79"/>
                <a:cs typeface="FbTip Regular" panose="02020603050405020304" pitchFamily="18" charset="-79"/>
              </a:rPr>
              <a:t>מצווה רמ"ג</a:t>
            </a:r>
          </a:p>
        </p:txBody>
      </p:sp>
      <p:cxnSp>
        <p:nvCxnSpPr>
          <p:cNvPr id="9" name="מחבר ישר 8">
            <a:extLst>
              <a:ext uri="{FF2B5EF4-FFF2-40B4-BE49-F238E27FC236}">
                <a16:creationId xmlns:a16="http://schemas.microsoft.com/office/drawing/2014/main" id="{A9FAF8B3-BB44-4C4C-A0A3-072AFDFB4BAF}"/>
              </a:ext>
            </a:extLst>
          </p:cNvPr>
          <p:cNvCxnSpPr/>
          <p:nvPr/>
        </p:nvCxnSpPr>
        <p:spPr>
          <a:xfrm>
            <a:off x="7033150" y="2674289"/>
            <a:ext cx="3478695" cy="0"/>
          </a:xfrm>
          <a:prstGeom prst="line">
            <a:avLst/>
          </a:prstGeom>
          <a:ln w="76200" cmpd="dbl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9743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3" name="קבוצה 2">
            <a:extLst>
              <a:ext uri="{FF2B5EF4-FFF2-40B4-BE49-F238E27FC236}">
                <a16:creationId xmlns:a16="http://schemas.microsoft.com/office/drawing/2014/main" id="{296F43ED-A31E-4B93-8076-D01F31B86085}"/>
              </a:ext>
            </a:extLst>
          </p:cNvPr>
          <p:cNvGrpSpPr/>
          <p:nvPr/>
        </p:nvGrpSpPr>
        <p:grpSpPr>
          <a:xfrm>
            <a:off x="-277876" y="0"/>
            <a:ext cx="12468352" cy="6858000"/>
            <a:chOff x="-277876" y="0"/>
            <a:chExt cx="12468352" cy="6858000"/>
          </a:xfrm>
        </p:grpSpPr>
        <p:pic>
          <p:nvPicPr>
            <p:cNvPr id="4" name="תמונה 3" descr="ידיים גדולות וקטנות אוחזות בלב אדום">
              <a:extLst>
                <a:ext uri="{FF2B5EF4-FFF2-40B4-BE49-F238E27FC236}">
                  <a16:creationId xmlns:a16="http://schemas.microsoft.com/office/drawing/2014/main" id="{5DB9C4C7-43B5-4E79-B325-87C899C4210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866" t="20" b="-1"/>
            <a:stretch/>
          </p:blipFill>
          <p:spPr>
            <a:xfrm>
              <a:off x="5956300" y="0"/>
              <a:ext cx="6234176" cy="6856718"/>
            </a:xfrm>
            <a:prstGeom prst="rect">
              <a:avLst/>
            </a:prstGeom>
          </p:spPr>
        </p:pic>
        <p:pic>
          <p:nvPicPr>
            <p:cNvPr id="6" name="תמונה 5" descr="ידיים גדולות וקטנות אוחזות בלב אדום">
              <a:extLst>
                <a:ext uri="{FF2B5EF4-FFF2-40B4-BE49-F238E27FC236}">
                  <a16:creationId xmlns:a16="http://schemas.microsoft.com/office/drawing/2014/main" id="{98FB817D-06D1-48BF-B6E8-BC693C308F6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866" t="20" b="-1"/>
            <a:stretch/>
          </p:blipFill>
          <p:spPr>
            <a:xfrm flipH="1">
              <a:off x="-277876" y="1282"/>
              <a:ext cx="6234176" cy="6856718"/>
            </a:xfrm>
            <a:prstGeom prst="rect">
              <a:avLst/>
            </a:prstGeom>
          </p:spPr>
        </p:pic>
      </p:grpSp>
      <p:sp>
        <p:nvSpPr>
          <p:cNvPr id="10" name="מלבן 9">
            <a:extLst>
              <a:ext uri="{FF2B5EF4-FFF2-40B4-BE49-F238E27FC236}">
                <a16:creationId xmlns:a16="http://schemas.microsoft.com/office/drawing/2014/main" id="{B115285C-2C21-4B6A-B0D9-45E251ACE92D}"/>
              </a:ext>
            </a:extLst>
          </p:cNvPr>
          <p:cNvSpPr/>
          <p:nvPr/>
        </p:nvSpPr>
        <p:spPr>
          <a:xfrm>
            <a:off x="-277876" y="698500"/>
            <a:ext cx="12468352" cy="762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sz="3200" spc="300" dirty="0">
                <a:solidFill>
                  <a:srgbClr val="B82A26"/>
                </a:solidFill>
                <a:latin typeface="FbTip Regular" panose="02020603050405020304" pitchFamily="18" charset="-79"/>
                <a:cs typeface="FbTip Regular" panose="02020603050405020304" pitchFamily="18" charset="-79"/>
              </a:rPr>
              <a:t>     דרגי מ1 עד 10 כמה את אוהבת את ..</a:t>
            </a:r>
          </a:p>
        </p:txBody>
      </p:sp>
      <p:pic>
        <p:nvPicPr>
          <p:cNvPr id="1026" name="Picture 2" descr="לב המחלוקת">
            <a:extLst>
              <a:ext uri="{FF2B5EF4-FFF2-40B4-BE49-F238E27FC236}">
                <a16:creationId xmlns:a16="http://schemas.microsoft.com/office/drawing/2014/main" id="{D2D08D83-E857-4241-B20F-9C17020BB1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274" y="254289"/>
            <a:ext cx="2224635" cy="2006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תיבת טקסט 2">
            <a:extLst>
              <a:ext uri="{FF2B5EF4-FFF2-40B4-BE49-F238E27FC236}">
                <a16:creationId xmlns:a16="http://schemas.microsoft.com/office/drawing/2014/main" id="{7E57A02A-AA01-4244-B5E1-874EE2CD7536}"/>
              </a:ext>
            </a:extLst>
          </p:cNvPr>
          <p:cNvSpPr txBox="1">
            <a:spLocks noChangeArrowheads="1"/>
          </p:cNvSpPr>
          <p:nvPr/>
        </p:nvSpPr>
        <p:spPr bwMode="auto">
          <a:xfrm rot="176403" flipH="1">
            <a:off x="6357326" y="2157186"/>
            <a:ext cx="2278312" cy="1062311"/>
          </a:xfrm>
          <a:prstGeom prst="rect">
            <a:avLst/>
          </a:prstGeom>
          <a:ln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vert="horz" wrap="square" lIns="91440" tIns="45720" rIns="91440" bIns="45720" anchor="ctr" anchorCtr="0">
            <a:noAutofit/>
          </a:bodyPr>
          <a:lstStyle/>
          <a:p>
            <a:pPr algn="ctr" rtl="1">
              <a:lnSpc>
                <a:spcPct val="107000"/>
              </a:lnSpc>
              <a:spcAft>
                <a:spcPts val="800"/>
              </a:spcAft>
            </a:pPr>
            <a:r>
              <a:rPr lang="he-IL" sz="2800" dirty="0">
                <a:solidFill>
                  <a:schemeClr val="tx1"/>
                </a:solidFill>
                <a:latin typeface="Calibri" panose="020F0502020204030204" pitchFamily="34" charset="0"/>
                <a:cs typeface="Bejerano" pitchFamily="2" charset="-79"/>
              </a:rPr>
              <a:t>ילדה בעלת מוגבלות</a:t>
            </a:r>
            <a:endParaRPr lang="en-US" sz="2800" dirty="0">
              <a:solidFill>
                <a:schemeClr val="tx1"/>
              </a:solidFill>
              <a:latin typeface="Calibri" panose="020F0502020204030204" pitchFamily="34" charset="0"/>
              <a:cs typeface="Bejerano" pitchFamily="2" charset="-79"/>
            </a:endParaRPr>
          </a:p>
        </p:txBody>
      </p:sp>
      <p:sp>
        <p:nvSpPr>
          <p:cNvPr id="30" name="תיבת טקסט 2">
            <a:extLst>
              <a:ext uri="{FF2B5EF4-FFF2-40B4-BE49-F238E27FC236}">
                <a16:creationId xmlns:a16="http://schemas.microsoft.com/office/drawing/2014/main" id="{91BE0A59-0E78-472E-8673-F50BF6C52B86}"/>
              </a:ext>
            </a:extLst>
          </p:cNvPr>
          <p:cNvSpPr txBox="1">
            <a:spLocks noChangeArrowheads="1"/>
          </p:cNvSpPr>
          <p:nvPr/>
        </p:nvSpPr>
        <p:spPr bwMode="auto">
          <a:xfrm rot="591374" flipH="1">
            <a:off x="8597099" y="1849161"/>
            <a:ext cx="2961496" cy="105562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  <a:softEdge rad="12700"/>
          </a:effectLst>
        </p:spPr>
        <p:txBody>
          <a:bodyPr rot="0" vert="horz" wrap="square" lIns="91440" tIns="45720" rIns="91440" bIns="45720" anchor="ctr" anchorCtr="0">
            <a:noAutofit/>
          </a:bodyPr>
          <a:lstStyle/>
          <a:p>
            <a:pPr algn="ctr" rtl="1">
              <a:lnSpc>
                <a:spcPct val="107000"/>
              </a:lnSpc>
              <a:spcAft>
                <a:spcPts val="800"/>
              </a:spcAft>
            </a:pPr>
            <a:r>
              <a:rPr lang="he-IL" sz="2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Bejerano" pitchFamily="2" charset="-79"/>
              </a:rPr>
              <a:t>ילדה ששואלת הרבה שאלות בכיתה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Bejerano" pitchFamily="2" charset="-79"/>
            </a:endParaRPr>
          </a:p>
        </p:txBody>
      </p:sp>
      <p:sp>
        <p:nvSpPr>
          <p:cNvPr id="31" name="תיבת טקסט 2">
            <a:extLst>
              <a:ext uri="{FF2B5EF4-FFF2-40B4-BE49-F238E27FC236}">
                <a16:creationId xmlns:a16="http://schemas.microsoft.com/office/drawing/2014/main" id="{97C6CF7A-0E3B-4201-A1BA-20ABB1B00339}"/>
              </a:ext>
            </a:extLst>
          </p:cNvPr>
          <p:cNvSpPr txBox="1">
            <a:spLocks noChangeArrowheads="1"/>
          </p:cNvSpPr>
          <p:nvPr/>
        </p:nvSpPr>
        <p:spPr bwMode="auto">
          <a:xfrm rot="21342492" flipH="1">
            <a:off x="3368547" y="2930739"/>
            <a:ext cx="2822710" cy="1243473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  <a:softEdge rad="12700"/>
          </a:effectLst>
        </p:spPr>
        <p:txBody>
          <a:bodyPr rot="0" vert="horz" wrap="square" lIns="91440" tIns="45720" rIns="91440" bIns="45720" anchor="ctr" anchorCtr="0">
            <a:noAutofit/>
          </a:bodyPr>
          <a:lstStyle/>
          <a:p>
            <a:pPr algn="ctr" rtl="1">
              <a:lnSpc>
                <a:spcPct val="107000"/>
              </a:lnSpc>
              <a:spcAft>
                <a:spcPts val="800"/>
              </a:spcAft>
            </a:pPr>
            <a:r>
              <a:rPr lang="he-IL" sz="2800" dirty="0">
                <a:latin typeface="Calibri" panose="020F0502020204030204" pitchFamily="34" charset="0"/>
                <a:cs typeface="Bejerano" pitchFamily="2" charset="-79"/>
              </a:rPr>
              <a:t>תלמידה שמלחיצה את כולן לפני מבחן</a:t>
            </a:r>
            <a:endParaRPr lang="en-US" sz="2800" dirty="0">
              <a:latin typeface="Calibri" panose="020F0502020204030204" pitchFamily="34" charset="0"/>
              <a:cs typeface="Bejerano" pitchFamily="2" charset="-79"/>
            </a:endParaRPr>
          </a:p>
        </p:txBody>
      </p:sp>
      <p:sp>
        <p:nvSpPr>
          <p:cNvPr id="32" name="תיבת טקסט 2">
            <a:extLst>
              <a:ext uri="{FF2B5EF4-FFF2-40B4-BE49-F238E27FC236}">
                <a16:creationId xmlns:a16="http://schemas.microsoft.com/office/drawing/2014/main" id="{E332C7D1-F2B6-4024-BECC-D009A10A378C}"/>
              </a:ext>
            </a:extLst>
          </p:cNvPr>
          <p:cNvSpPr txBox="1">
            <a:spLocks noChangeArrowheads="1"/>
          </p:cNvSpPr>
          <p:nvPr/>
        </p:nvSpPr>
        <p:spPr bwMode="auto">
          <a:xfrm rot="238625" flipH="1">
            <a:off x="5658216" y="5427668"/>
            <a:ext cx="2440713" cy="1285039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  <a:softEdge rad="12700"/>
          </a:effectLst>
        </p:spPr>
        <p:txBody>
          <a:bodyPr rot="0" vert="horz" wrap="square" lIns="91440" tIns="45720" rIns="91440" bIns="45720" anchor="ctr" anchorCtr="0">
            <a:noAutofit/>
          </a:bodyPr>
          <a:lstStyle/>
          <a:p>
            <a:pPr algn="ctr" rtl="1">
              <a:lnSpc>
                <a:spcPct val="107000"/>
              </a:lnSpc>
              <a:spcAft>
                <a:spcPts val="800"/>
              </a:spcAft>
            </a:pPr>
            <a:r>
              <a:rPr lang="he-IL" sz="2800" dirty="0">
                <a:latin typeface="Calibri" panose="020F0502020204030204" pitchFamily="34" charset="0"/>
                <a:cs typeface="Bejerano" pitchFamily="2" charset="-79"/>
              </a:rPr>
              <a:t>התלמידה הכי רעשנית בכיתה</a:t>
            </a:r>
            <a:endParaRPr lang="en-US" sz="2800" dirty="0">
              <a:latin typeface="Calibri" panose="020F0502020204030204" pitchFamily="34" charset="0"/>
              <a:cs typeface="Bejerano" pitchFamily="2" charset="-79"/>
            </a:endParaRPr>
          </a:p>
        </p:txBody>
      </p:sp>
      <p:sp>
        <p:nvSpPr>
          <p:cNvPr id="34" name="תיבת טקסט 2">
            <a:extLst>
              <a:ext uri="{FF2B5EF4-FFF2-40B4-BE49-F238E27FC236}">
                <a16:creationId xmlns:a16="http://schemas.microsoft.com/office/drawing/2014/main" id="{1B11EA3F-5683-4D18-A574-14E05E8A144D}"/>
              </a:ext>
            </a:extLst>
          </p:cNvPr>
          <p:cNvSpPr txBox="1">
            <a:spLocks noChangeArrowheads="1"/>
          </p:cNvSpPr>
          <p:nvPr/>
        </p:nvSpPr>
        <p:spPr bwMode="auto">
          <a:xfrm rot="539830" flipH="1">
            <a:off x="3672613" y="1832259"/>
            <a:ext cx="2243098" cy="934004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  <a:softEdge rad="12700"/>
          </a:effectLst>
        </p:spPr>
        <p:txBody>
          <a:bodyPr rot="0" vert="horz" wrap="square" lIns="91440" tIns="45720" rIns="91440" bIns="45720" anchor="ctr" anchorCtr="0">
            <a:noAutofit/>
          </a:bodyPr>
          <a:lstStyle/>
          <a:p>
            <a:pPr algn="ctr" rtl="1">
              <a:lnSpc>
                <a:spcPct val="107000"/>
              </a:lnSpc>
              <a:spcAft>
                <a:spcPts val="800"/>
              </a:spcAft>
            </a:pPr>
            <a:r>
              <a:rPr lang="he-IL" sz="2800" dirty="0">
                <a:latin typeface="Calibri" panose="020F0502020204030204" pitchFamily="34" charset="0"/>
                <a:cs typeface="Bejerano" pitchFamily="2" charset="-79"/>
              </a:rPr>
              <a:t>התלמידה הכי יפה בכיתה</a:t>
            </a:r>
            <a:endParaRPr lang="en-US" sz="2800" dirty="0">
              <a:latin typeface="Calibri" panose="020F0502020204030204" pitchFamily="34" charset="0"/>
              <a:cs typeface="Bejerano" pitchFamily="2" charset="-79"/>
            </a:endParaRPr>
          </a:p>
        </p:txBody>
      </p:sp>
      <p:sp>
        <p:nvSpPr>
          <p:cNvPr id="35" name="תיבת טקסט 2">
            <a:extLst>
              <a:ext uri="{FF2B5EF4-FFF2-40B4-BE49-F238E27FC236}">
                <a16:creationId xmlns:a16="http://schemas.microsoft.com/office/drawing/2014/main" id="{86EEDF2A-6422-4F88-98FF-ECAA4435A549}"/>
              </a:ext>
            </a:extLst>
          </p:cNvPr>
          <p:cNvSpPr txBox="1">
            <a:spLocks noChangeArrowheads="1"/>
          </p:cNvSpPr>
          <p:nvPr/>
        </p:nvSpPr>
        <p:spPr bwMode="auto">
          <a:xfrm rot="316025" flipH="1">
            <a:off x="8717272" y="2883161"/>
            <a:ext cx="2184490" cy="112251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  <a:softEdge rad="12700"/>
          </a:effectLst>
        </p:spPr>
        <p:txBody>
          <a:bodyPr rot="0" vert="horz" wrap="square" lIns="91440" tIns="45720" rIns="91440" bIns="45720" anchor="ctr" anchorCtr="0">
            <a:noAutofit/>
          </a:bodyPr>
          <a:lstStyle/>
          <a:p>
            <a:pPr algn="ctr" rtl="1">
              <a:lnSpc>
                <a:spcPct val="107000"/>
              </a:lnSpc>
              <a:spcAft>
                <a:spcPts val="800"/>
              </a:spcAft>
            </a:pPr>
            <a:r>
              <a:rPr lang="he-IL" sz="2800" dirty="0">
                <a:latin typeface="Calibri" panose="020F0502020204030204" pitchFamily="34" charset="0"/>
                <a:cs typeface="Bejerano" pitchFamily="2" charset="-79"/>
              </a:rPr>
              <a:t>מורה שנותנת המון שיעורים</a:t>
            </a:r>
            <a:endParaRPr lang="en-US" sz="2800" dirty="0">
              <a:latin typeface="Calibri" panose="020F0502020204030204" pitchFamily="34" charset="0"/>
              <a:cs typeface="Bejerano" pitchFamily="2" charset="-79"/>
            </a:endParaRPr>
          </a:p>
        </p:txBody>
      </p:sp>
      <p:sp>
        <p:nvSpPr>
          <p:cNvPr id="36" name="תיבת טקסט 2">
            <a:extLst>
              <a:ext uri="{FF2B5EF4-FFF2-40B4-BE49-F238E27FC236}">
                <a16:creationId xmlns:a16="http://schemas.microsoft.com/office/drawing/2014/main" id="{63F3C7D6-67E5-49FA-9937-9505673141A4}"/>
              </a:ext>
            </a:extLst>
          </p:cNvPr>
          <p:cNvSpPr txBox="1">
            <a:spLocks noChangeArrowheads="1"/>
          </p:cNvSpPr>
          <p:nvPr/>
        </p:nvSpPr>
        <p:spPr bwMode="auto">
          <a:xfrm rot="408475" flipH="1">
            <a:off x="1713244" y="4042759"/>
            <a:ext cx="3139256" cy="119624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  <a:softEdge rad="12700"/>
          </a:effectLst>
        </p:spPr>
        <p:txBody>
          <a:bodyPr rot="0" vert="horz" wrap="square" lIns="91440" tIns="45720" rIns="91440" bIns="45720" anchor="ctr" anchorCtr="0">
            <a:noAutofit/>
          </a:bodyPr>
          <a:lstStyle/>
          <a:p>
            <a:pPr algn="ctr" rtl="1">
              <a:lnSpc>
                <a:spcPct val="107000"/>
              </a:lnSpc>
              <a:spcAft>
                <a:spcPts val="800"/>
              </a:spcAft>
            </a:pPr>
            <a:r>
              <a:rPr lang="he-IL" sz="2800" dirty="0">
                <a:latin typeface="Calibri" panose="020F0502020204030204" pitchFamily="34" charset="0"/>
                <a:cs typeface="Bejerano" pitchFamily="2" charset="-79"/>
              </a:rPr>
              <a:t>מורה שקיבלת אצלה נכשל במבחן</a:t>
            </a:r>
            <a:endParaRPr lang="en-US" sz="2800" dirty="0">
              <a:latin typeface="Calibri" panose="020F0502020204030204" pitchFamily="34" charset="0"/>
              <a:cs typeface="Bejerano" pitchFamily="2" charset="-79"/>
            </a:endParaRPr>
          </a:p>
        </p:txBody>
      </p:sp>
      <p:sp>
        <p:nvSpPr>
          <p:cNvPr id="33" name="תיבת טקסט 2">
            <a:extLst>
              <a:ext uri="{FF2B5EF4-FFF2-40B4-BE49-F238E27FC236}">
                <a16:creationId xmlns:a16="http://schemas.microsoft.com/office/drawing/2014/main" id="{4167227E-A75D-415C-8ABB-3F4615B84C26}"/>
              </a:ext>
            </a:extLst>
          </p:cNvPr>
          <p:cNvSpPr txBox="1">
            <a:spLocks noChangeArrowheads="1"/>
          </p:cNvSpPr>
          <p:nvPr/>
        </p:nvSpPr>
        <p:spPr bwMode="auto">
          <a:xfrm rot="20384186" flipH="1">
            <a:off x="4065228" y="4668169"/>
            <a:ext cx="2373631" cy="124712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  <a:softEdge rad="12700"/>
          </a:effectLst>
        </p:spPr>
        <p:txBody>
          <a:bodyPr rot="0" vert="horz" wrap="square" lIns="91440" tIns="45720" rIns="91440" bIns="45720" anchor="ctr" anchorCtr="0">
            <a:noAutofit/>
          </a:bodyPr>
          <a:lstStyle/>
          <a:p>
            <a:pPr algn="ctr" rtl="1">
              <a:lnSpc>
                <a:spcPct val="107000"/>
              </a:lnSpc>
              <a:spcAft>
                <a:spcPts val="800"/>
              </a:spcAft>
            </a:pPr>
            <a:r>
              <a:rPr lang="he-IL" sz="2800" dirty="0">
                <a:latin typeface="Calibri" panose="020F0502020204030204" pitchFamily="34" charset="0"/>
                <a:cs typeface="Bejerano" pitchFamily="2" charset="-79"/>
              </a:rPr>
              <a:t>התלמידה הכי חכמה בכיתה</a:t>
            </a:r>
            <a:endParaRPr lang="en-US" sz="2800" dirty="0">
              <a:latin typeface="Calibri" panose="020F0502020204030204" pitchFamily="34" charset="0"/>
              <a:cs typeface="Bejerano" pitchFamily="2" charset="-79"/>
            </a:endParaRPr>
          </a:p>
        </p:txBody>
      </p:sp>
      <p:sp>
        <p:nvSpPr>
          <p:cNvPr id="37" name="תיבת טקסט 2">
            <a:extLst>
              <a:ext uri="{FF2B5EF4-FFF2-40B4-BE49-F238E27FC236}">
                <a16:creationId xmlns:a16="http://schemas.microsoft.com/office/drawing/2014/main" id="{9F091C1F-64CE-438C-8F6F-C4EC11B38BE2}"/>
              </a:ext>
            </a:extLst>
          </p:cNvPr>
          <p:cNvSpPr txBox="1">
            <a:spLocks noChangeArrowheads="1"/>
          </p:cNvSpPr>
          <p:nvPr/>
        </p:nvSpPr>
        <p:spPr bwMode="auto">
          <a:xfrm rot="21175148" flipH="1">
            <a:off x="7739394" y="4752864"/>
            <a:ext cx="2356713" cy="15105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  <a:softEdge rad="12700"/>
          </a:effectLst>
        </p:spPr>
        <p:txBody>
          <a:bodyPr rot="0" vert="horz" wrap="square" lIns="91440" tIns="45720" rIns="91440" bIns="45720" anchor="ctr" anchorCtr="0">
            <a:noAutofit/>
          </a:bodyPr>
          <a:lstStyle>
            <a:defPPr>
              <a:defRPr lang="he-IL"/>
            </a:defPPr>
            <a:lvl1pPr algn="ctr">
              <a:lnSpc>
                <a:spcPct val="107000"/>
              </a:lnSpc>
              <a:spcAft>
                <a:spcPts val="800"/>
              </a:spcAft>
              <a:defRPr sz="140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he-IL" sz="2800" dirty="0">
                <a:ea typeface="+mn-ea"/>
                <a:cs typeface="Bejerano" pitchFamily="2" charset="-79"/>
              </a:rPr>
              <a:t>הילדה שאת עושה לה בייביסיטר/ חניכה שלך</a:t>
            </a:r>
            <a:endParaRPr lang="en-US" sz="2800" dirty="0">
              <a:ea typeface="+mn-ea"/>
              <a:cs typeface="Bejerano" pitchFamily="2" charset="-79"/>
            </a:endParaRPr>
          </a:p>
        </p:txBody>
      </p:sp>
      <p:sp>
        <p:nvSpPr>
          <p:cNvPr id="38" name="תיבת טקסט 2">
            <a:extLst>
              <a:ext uri="{FF2B5EF4-FFF2-40B4-BE49-F238E27FC236}">
                <a16:creationId xmlns:a16="http://schemas.microsoft.com/office/drawing/2014/main" id="{14566B4D-4B1C-4D4F-B807-FDAE84FF5BB1}"/>
              </a:ext>
            </a:extLst>
          </p:cNvPr>
          <p:cNvSpPr txBox="1">
            <a:spLocks noChangeArrowheads="1"/>
          </p:cNvSpPr>
          <p:nvPr/>
        </p:nvSpPr>
        <p:spPr bwMode="auto">
          <a:xfrm rot="21141629" flipH="1">
            <a:off x="1160014" y="2311683"/>
            <a:ext cx="2458442" cy="1089253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  <a:softEdge rad="12700"/>
          </a:effectLst>
        </p:spPr>
        <p:txBody>
          <a:bodyPr rot="0" vert="horz" wrap="square" lIns="91440" tIns="45720" rIns="91440" bIns="45720" anchor="ctr" anchorCtr="0">
            <a:noAutofit/>
          </a:bodyPr>
          <a:lstStyle/>
          <a:p>
            <a:pPr algn="ctr" rtl="1">
              <a:lnSpc>
                <a:spcPct val="107000"/>
              </a:lnSpc>
              <a:spcAft>
                <a:spcPts val="800"/>
              </a:spcAft>
            </a:pPr>
            <a:r>
              <a:rPr lang="he-IL" sz="2800" dirty="0">
                <a:latin typeface="Calibri" panose="020F0502020204030204" pitchFamily="34" charset="0"/>
                <a:cs typeface="Bejerano" pitchFamily="2" charset="-79"/>
              </a:rPr>
              <a:t>תלמידות מכיתה ח'</a:t>
            </a:r>
            <a:endParaRPr lang="en-US" sz="2800" dirty="0">
              <a:latin typeface="Calibri" panose="020F0502020204030204" pitchFamily="34" charset="0"/>
              <a:cs typeface="Bejerano" pitchFamily="2" charset="-79"/>
            </a:endParaRPr>
          </a:p>
        </p:txBody>
      </p:sp>
      <p:sp>
        <p:nvSpPr>
          <p:cNvPr id="39" name="תיבת טקסט 2">
            <a:extLst>
              <a:ext uri="{FF2B5EF4-FFF2-40B4-BE49-F238E27FC236}">
                <a16:creationId xmlns:a16="http://schemas.microsoft.com/office/drawing/2014/main" id="{35C4C717-6B7B-4A63-8C8D-52652F1B7CD1}"/>
              </a:ext>
            </a:extLst>
          </p:cNvPr>
          <p:cNvSpPr txBox="1">
            <a:spLocks noChangeArrowheads="1"/>
          </p:cNvSpPr>
          <p:nvPr/>
        </p:nvSpPr>
        <p:spPr bwMode="auto">
          <a:xfrm rot="21214091" flipH="1">
            <a:off x="6256683" y="3595347"/>
            <a:ext cx="2373630" cy="1086411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  <a:softEdge rad="12700"/>
          </a:effectLst>
        </p:spPr>
        <p:txBody>
          <a:bodyPr rot="0" vert="horz" wrap="square" lIns="91440" tIns="45720" rIns="91440" bIns="45720" anchor="ctr" anchorCtr="0">
            <a:noAutofit/>
          </a:bodyPr>
          <a:lstStyle/>
          <a:p>
            <a:pPr algn="ctr" rtl="1">
              <a:lnSpc>
                <a:spcPct val="107000"/>
              </a:lnSpc>
              <a:spcAft>
                <a:spcPts val="800"/>
              </a:spcAft>
            </a:pPr>
            <a:r>
              <a:rPr lang="he-IL" sz="2800" dirty="0">
                <a:latin typeface="Calibri" panose="020F0502020204030204" pitchFamily="34" charset="0"/>
                <a:cs typeface="Bejerano" pitchFamily="2" charset="-79"/>
              </a:rPr>
              <a:t>אדם שעקף אותך בתור לאוטובוס</a:t>
            </a:r>
            <a:endParaRPr lang="en-US" sz="2800" dirty="0">
              <a:latin typeface="Calibri" panose="020F0502020204030204" pitchFamily="34" charset="0"/>
              <a:cs typeface="Bejerano" pitchFamily="2" charset="-79"/>
            </a:endParaRPr>
          </a:p>
        </p:txBody>
      </p:sp>
      <p:sp>
        <p:nvSpPr>
          <p:cNvPr id="40" name="תיבת טקסט 2">
            <a:extLst>
              <a:ext uri="{FF2B5EF4-FFF2-40B4-BE49-F238E27FC236}">
                <a16:creationId xmlns:a16="http://schemas.microsoft.com/office/drawing/2014/main" id="{BFB7CC2A-F74C-40B9-85E6-A3CED1206C25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580106" y="5113921"/>
            <a:ext cx="2711133" cy="1546982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  <a:softEdge rad="12700"/>
          </a:effectLst>
        </p:spPr>
        <p:txBody>
          <a:bodyPr rot="0" vert="horz" wrap="square" lIns="91440" tIns="45720" rIns="91440" bIns="45720" anchor="ctr" anchorCtr="0">
            <a:noAutofit/>
          </a:bodyPr>
          <a:lstStyle/>
          <a:p>
            <a:pPr algn="ctr" rtl="1">
              <a:lnSpc>
                <a:spcPct val="107000"/>
              </a:lnSpc>
              <a:spcAft>
                <a:spcPts val="800"/>
              </a:spcAft>
            </a:pPr>
            <a:r>
              <a:rPr lang="he-IL" sz="2800" dirty="0">
                <a:latin typeface="Calibri" panose="020F0502020204030204" pitchFamily="34" charset="0"/>
                <a:cs typeface="Bejerano" pitchFamily="2" charset="-79"/>
              </a:rPr>
              <a:t>אדם שלא עצר את המוכנית ונתן לך לחצות במעבר חציה </a:t>
            </a:r>
            <a:endParaRPr lang="en-US" sz="2800" dirty="0">
              <a:latin typeface="Calibri" panose="020F0502020204030204" pitchFamily="34" charset="0"/>
              <a:cs typeface="Bejerano" pitchFamily="2" charset="-79"/>
            </a:endParaRPr>
          </a:p>
        </p:txBody>
      </p:sp>
      <p:sp>
        <p:nvSpPr>
          <p:cNvPr id="41" name="מלבן 40">
            <a:extLst>
              <a:ext uri="{FF2B5EF4-FFF2-40B4-BE49-F238E27FC236}">
                <a16:creationId xmlns:a16="http://schemas.microsoft.com/office/drawing/2014/main" id="{50257A71-8F48-4079-A7D0-D74B9D2D9C68}"/>
              </a:ext>
            </a:extLst>
          </p:cNvPr>
          <p:cNvSpPr/>
          <p:nvPr/>
        </p:nvSpPr>
        <p:spPr>
          <a:xfrm rot="20565045">
            <a:off x="1168421" y="2633015"/>
            <a:ext cx="9370170" cy="1627262"/>
          </a:xfrm>
          <a:custGeom>
            <a:avLst/>
            <a:gdLst>
              <a:gd name="csX0" fmla="*/ 0 w 9370170"/>
              <a:gd name="csY0" fmla="*/ 0 h 1627262"/>
              <a:gd name="csX1" fmla="*/ 585636 w 9370170"/>
              <a:gd name="csY1" fmla="*/ 0 h 1627262"/>
              <a:gd name="csX2" fmla="*/ 1358675 w 9370170"/>
              <a:gd name="csY2" fmla="*/ 0 h 1627262"/>
              <a:gd name="csX3" fmla="*/ 1944310 w 9370170"/>
              <a:gd name="csY3" fmla="*/ 0 h 1627262"/>
              <a:gd name="csX4" fmla="*/ 2717349 w 9370170"/>
              <a:gd name="csY4" fmla="*/ 0 h 1627262"/>
              <a:gd name="csX5" fmla="*/ 3209283 w 9370170"/>
              <a:gd name="csY5" fmla="*/ 0 h 1627262"/>
              <a:gd name="csX6" fmla="*/ 3513814 w 9370170"/>
              <a:gd name="csY6" fmla="*/ 0 h 1627262"/>
              <a:gd name="csX7" fmla="*/ 4099449 w 9370170"/>
              <a:gd name="csY7" fmla="*/ 0 h 1627262"/>
              <a:gd name="csX8" fmla="*/ 4403980 w 9370170"/>
              <a:gd name="csY8" fmla="*/ 0 h 1627262"/>
              <a:gd name="csX9" fmla="*/ 4989616 w 9370170"/>
              <a:gd name="csY9" fmla="*/ 0 h 1627262"/>
              <a:gd name="csX10" fmla="*/ 5668953 w 9370170"/>
              <a:gd name="csY10" fmla="*/ 0 h 1627262"/>
              <a:gd name="csX11" fmla="*/ 6348290 w 9370170"/>
              <a:gd name="csY11" fmla="*/ 0 h 1627262"/>
              <a:gd name="csX12" fmla="*/ 6652821 w 9370170"/>
              <a:gd name="csY12" fmla="*/ 0 h 1627262"/>
              <a:gd name="csX13" fmla="*/ 7051053 w 9370170"/>
              <a:gd name="csY13" fmla="*/ 0 h 1627262"/>
              <a:gd name="csX14" fmla="*/ 7355583 w 9370170"/>
              <a:gd name="csY14" fmla="*/ 0 h 1627262"/>
              <a:gd name="csX15" fmla="*/ 7941219 w 9370170"/>
              <a:gd name="csY15" fmla="*/ 0 h 1627262"/>
              <a:gd name="csX16" fmla="*/ 8526855 w 9370170"/>
              <a:gd name="csY16" fmla="*/ 0 h 1627262"/>
              <a:gd name="csX17" fmla="*/ 9370170 w 9370170"/>
              <a:gd name="csY17" fmla="*/ 0 h 1627262"/>
              <a:gd name="csX18" fmla="*/ 9370170 w 9370170"/>
              <a:gd name="csY18" fmla="*/ 574966 h 1627262"/>
              <a:gd name="csX19" fmla="*/ 9370170 w 9370170"/>
              <a:gd name="csY19" fmla="*/ 1133659 h 1627262"/>
              <a:gd name="csX20" fmla="*/ 9370170 w 9370170"/>
              <a:gd name="csY20" fmla="*/ 1627262 h 1627262"/>
              <a:gd name="csX21" fmla="*/ 8878236 w 9370170"/>
              <a:gd name="csY21" fmla="*/ 1627262 h 1627262"/>
              <a:gd name="csX22" fmla="*/ 8386302 w 9370170"/>
              <a:gd name="csY22" fmla="*/ 1627262 h 1627262"/>
              <a:gd name="csX23" fmla="*/ 7894368 w 9370170"/>
              <a:gd name="csY23" fmla="*/ 1627262 h 1627262"/>
              <a:gd name="csX24" fmla="*/ 7308733 w 9370170"/>
              <a:gd name="csY24" fmla="*/ 1627262 h 1627262"/>
              <a:gd name="csX25" fmla="*/ 7004202 w 9370170"/>
              <a:gd name="csY25" fmla="*/ 1627262 h 1627262"/>
              <a:gd name="csX26" fmla="*/ 6231163 w 9370170"/>
              <a:gd name="csY26" fmla="*/ 1627262 h 1627262"/>
              <a:gd name="csX27" fmla="*/ 5832931 w 9370170"/>
              <a:gd name="csY27" fmla="*/ 1627262 h 1627262"/>
              <a:gd name="csX28" fmla="*/ 5434699 w 9370170"/>
              <a:gd name="csY28" fmla="*/ 1627262 h 1627262"/>
              <a:gd name="csX29" fmla="*/ 4661660 w 9370170"/>
              <a:gd name="csY29" fmla="*/ 1627262 h 1627262"/>
              <a:gd name="csX30" fmla="*/ 3888621 w 9370170"/>
              <a:gd name="csY30" fmla="*/ 1627262 h 1627262"/>
              <a:gd name="csX31" fmla="*/ 3396687 w 9370170"/>
              <a:gd name="csY31" fmla="*/ 1627262 h 1627262"/>
              <a:gd name="csX32" fmla="*/ 2717349 w 9370170"/>
              <a:gd name="csY32" fmla="*/ 1627262 h 1627262"/>
              <a:gd name="csX33" fmla="*/ 1944310 w 9370170"/>
              <a:gd name="csY33" fmla="*/ 1627262 h 1627262"/>
              <a:gd name="csX34" fmla="*/ 1358675 w 9370170"/>
              <a:gd name="csY34" fmla="*/ 1627262 h 1627262"/>
              <a:gd name="csX35" fmla="*/ 679337 w 9370170"/>
              <a:gd name="csY35" fmla="*/ 1627262 h 1627262"/>
              <a:gd name="csX36" fmla="*/ 0 w 9370170"/>
              <a:gd name="csY36" fmla="*/ 1627262 h 1627262"/>
              <a:gd name="csX37" fmla="*/ 0 w 9370170"/>
              <a:gd name="csY37" fmla="*/ 1084841 h 1627262"/>
              <a:gd name="csX38" fmla="*/ 0 w 9370170"/>
              <a:gd name="csY38" fmla="*/ 574966 h 1627262"/>
              <a:gd name="csX39" fmla="*/ 0 w 9370170"/>
              <a:gd name="csY39" fmla="*/ 0 h 162726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9370170" h="1627262" fill="none" extrusionOk="0">
                <a:moveTo>
                  <a:pt x="0" y="0"/>
                </a:moveTo>
                <a:cubicBezTo>
                  <a:pt x="183150" y="-26217"/>
                  <a:pt x="389387" y="26015"/>
                  <a:pt x="585636" y="0"/>
                </a:cubicBezTo>
                <a:cubicBezTo>
                  <a:pt x="781885" y="-26015"/>
                  <a:pt x="1054007" y="45736"/>
                  <a:pt x="1358675" y="0"/>
                </a:cubicBezTo>
                <a:cubicBezTo>
                  <a:pt x="1663343" y="-45736"/>
                  <a:pt x="1682192" y="17737"/>
                  <a:pt x="1944310" y="0"/>
                </a:cubicBezTo>
                <a:cubicBezTo>
                  <a:pt x="2206429" y="-17737"/>
                  <a:pt x="2354110" y="63633"/>
                  <a:pt x="2717349" y="0"/>
                </a:cubicBezTo>
                <a:cubicBezTo>
                  <a:pt x="3080588" y="-63633"/>
                  <a:pt x="3019391" y="27675"/>
                  <a:pt x="3209283" y="0"/>
                </a:cubicBezTo>
                <a:cubicBezTo>
                  <a:pt x="3399175" y="-27675"/>
                  <a:pt x="3364745" y="32236"/>
                  <a:pt x="3513814" y="0"/>
                </a:cubicBezTo>
                <a:cubicBezTo>
                  <a:pt x="3662883" y="-32236"/>
                  <a:pt x="3807698" y="38021"/>
                  <a:pt x="4099449" y="0"/>
                </a:cubicBezTo>
                <a:cubicBezTo>
                  <a:pt x="4391200" y="-38021"/>
                  <a:pt x="4279630" y="20167"/>
                  <a:pt x="4403980" y="0"/>
                </a:cubicBezTo>
                <a:cubicBezTo>
                  <a:pt x="4528330" y="-20167"/>
                  <a:pt x="4789002" y="47429"/>
                  <a:pt x="4989616" y="0"/>
                </a:cubicBezTo>
                <a:cubicBezTo>
                  <a:pt x="5190230" y="-47429"/>
                  <a:pt x="5485974" y="32499"/>
                  <a:pt x="5668953" y="0"/>
                </a:cubicBezTo>
                <a:cubicBezTo>
                  <a:pt x="5851932" y="-32499"/>
                  <a:pt x="6043582" y="16534"/>
                  <a:pt x="6348290" y="0"/>
                </a:cubicBezTo>
                <a:cubicBezTo>
                  <a:pt x="6652998" y="-16534"/>
                  <a:pt x="6528348" y="5909"/>
                  <a:pt x="6652821" y="0"/>
                </a:cubicBezTo>
                <a:cubicBezTo>
                  <a:pt x="6777294" y="-5909"/>
                  <a:pt x="6951962" y="38157"/>
                  <a:pt x="7051053" y="0"/>
                </a:cubicBezTo>
                <a:cubicBezTo>
                  <a:pt x="7150144" y="-38157"/>
                  <a:pt x="7229809" y="1494"/>
                  <a:pt x="7355583" y="0"/>
                </a:cubicBezTo>
                <a:cubicBezTo>
                  <a:pt x="7481357" y="-1494"/>
                  <a:pt x="7697987" y="17480"/>
                  <a:pt x="7941219" y="0"/>
                </a:cubicBezTo>
                <a:cubicBezTo>
                  <a:pt x="8184451" y="-17480"/>
                  <a:pt x="8242182" y="69168"/>
                  <a:pt x="8526855" y="0"/>
                </a:cubicBezTo>
                <a:cubicBezTo>
                  <a:pt x="8811528" y="-69168"/>
                  <a:pt x="9012152" y="58886"/>
                  <a:pt x="9370170" y="0"/>
                </a:cubicBezTo>
                <a:cubicBezTo>
                  <a:pt x="9402739" y="276726"/>
                  <a:pt x="9341479" y="403660"/>
                  <a:pt x="9370170" y="574966"/>
                </a:cubicBezTo>
                <a:cubicBezTo>
                  <a:pt x="9398861" y="746272"/>
                  <a:pt x="9312250" y="1003817"/>
                  <a:pt x="9370170" y="1133659"/>
                </a:cubicBezTo>
                <a:cubicBezTo>
                  <a:pt x="9428090" y="1263501"/>
                  <a:pt x="9351152" y="1508912"/>
                  <a:pt x="9370170" y="1627262"/>
                </a:cubicBezTo>
                <a:cubicBezTo>
                  <a:pt x="9191285" y="1636032"/>
                  <a:pt x="9002573" y="1595219"/>
                  <a:pt x="8878236" y="1627262"/>
                </a:cubicBezTo>
                <a:cubicBezTo>
                  <a:pt x="8753899" y="1659305"/>
                  <a:pt x="8602527" y="1623069"/>
                  <a:pt x="8386302" y="1627262"/>
                </a:cubicBezTo>
                <a:cubicBezTo>
                  <a:pt x="8170077" y="1631455"/>
                  <a:pt x="8105545" y="1570905"/>
                  <a:pt x="7894368" y="1627262"/>
                </a:cubicBezTo>
                <a:cubicBezTo>
                  <a:pt x="7683191" y="1683619"/>
                  <a:pt x="7541659" y="1558022"/>
                  <a:pt x="7308733" y="1627262"/>
                </a:cubicBezTo>
                <a:cubicBezTo>
                  <a:pt x="7075807" y="1696502"/>
                  <a:pt x="7078058" y="1596539"/>
                  <a:pt x="7004202" y="1627262"/>
                </a:cubicBezTo>
                <a:cubicBezTo>
                  <a:pt x="6930346" y="1657985"/>
                  <a:pt x="6550579" y="1555044"/>
                  <a:pt x="6231163" y="1627262"/>
                </a:cubicBezTo>
                <a:cubicBezTo>
                  <a:pt x="5911747" y="1699480"/>
                  <a:pt x="5937160" y="1623946"/>
                  <a:pt x="5832931" y="1627262"/>
                </a:cubicBezTo>
                <a:cubicBezTo>
                  <a:pt x="5728702" y="1630578"/>
                  <a:pt x="5564734" y="1620659"/>
                  <a:pt x="5434699" y="1627262"/>
                </a:cubicBezTo>
                <a:cubicBezTo>
                  <a:pt x="5304664" y="1633865"/>
                  <a:pt x="5006374" y="1585512"/>
                  <a:pt x="4661660" y="1627262"/>
                </a:cubicBezTo>
                <a:cubicBezTo>
                  <a:pt x="4316946" y="1669012"/>
                  <a:pt x="4239672" y="1604970"/>
                  <a:pt x="3888621" y="1627262"/>
                </a:cubicBezTo>
                <a:cubicBezTo>
                  <a:pt x="3537570" y="1649554"/>
                  <a:pt x="3637239" y="1624262"/>
                  <a:pt x="3396687" y="1627262"/>
                </a:cubicBezTo>
                <a:cubicBezTo>
                  <a:pt x="3156135" y="1630262"/>
                  <a:pt x="2882969" y="1604190"/>
                  <a:pt x="2717349" y="1627262"/>
                </a:cubicBezTo>
                <a:cubicBezTo>
                  <a:pt x="2551729" y="1650334"/>
                  <a:pt x="2259459" y="1563565"/>
                  <a:pt x="1944310" y="1627262"/>
                </a:cubicBezTo>
                <a:cubicBezTo>
                  <a:pt x="1629161" y="1690959"/>
                  <a:pt x="1620124" y="1614217"/>
                  <a:pt x="1358675" y="1627262"/>
                </a:cubicBezTo>
                <a:cubicBezTo>
                  <a:pt x="1097226" y="1640307"/>
                  <a:pt x="848534" y="1582654"/>
                  <a:pt x="679337" y="1627262"/>
                </a:cubicBezTo>
                <a:cubicBezTo>
                  <a:pt x="510140" y="1671870"/>
                  <a:pt x="262196" y="1596160"/>
                  <a:pt x="0" y="1627262"/>
                </a:cubicBezTo>
                <a:cubicBezTo>
                  <a:pt x="-61056" y="1390296"/>
                  <a:pt x="2939" y="1271738"/>
                  <a:pt x="0" y="1084841"/>
                </a:cubicBezTo>
                <a:cubicBezTo>
                  <a:pt x="-2939" y="897944"/>
                  <a:pt x="1900" y="827945"/>
                  <a:pt x="0" y="574966"/>
                </a:cubicBezTo>
                <a:cubicBezTo>
                  <a:pt x="-1900" y="321988"/>
                  <a:pt x="45563" y="217360"/>
                  <a:pt x="0" y="0"/>
                </a:cubicBezTo>
                <a:close/>
              </a:path>
              <a:path w="9370170" h="1627262" stroke="0" extrusionOk="0">
                <a:moveTo>
                  <a:pt x="0" y="0"/>
                </a:moveTo>
                <a:cubicBezTo>
                  <a:pt x="133779" y="-31195"/>
                  <a:pt x="182486" y="36070"/>
                  <a:pt x="304531" y="0"/>
                </a:cubicBezTo>
                <a:cubicBezTo>
                  <a:pt x="426576" y="-36070"/>
                  <a:pt x="676751" y="53975"/>
                  <a:pt x="983868" y="0"/>
                </a:cubicBezTo>
                <a:cubicBezTo>
                  <a:pt x="1290985" y="-53975"/>
                  <a:pt x="1420209" y="29141"/>
                  <a:pt x="1663205" y="0"/>
                </a:cubicBezTo>
                <a:cubicBezTo>
                  <a:pt x="1906201" y="-29141"/>
                  <a:pt x="1847085" y="13021"/>
                  <a:pt x="1967736" y="0"/>
                </a:cubicBezTo>
                <a:cubicBezTo>
                  <a:pt x="2088387" y="-13021"/>
                  <a:pt x="2575952" y="52126"/>
                  <a:pt x="2740775" y="0"/>
                </a:cubicBezTo>
                <a:cubicBezTo>
                  <a:pt x="2905598" y="-52126"/>
                  <a:pt x="2933410" y="5315"/>
                  <a:pt x="3045305" y="0"/>
                </a:cubicBezTo>
                <a:cubicBezTo>
                  <a:pt x="3157200" y="-5315"/>
                  <a:pt x="3501479" y="42446"/>
                  <a:pt x="3818344" y="0"/>
                </a:cubicBezTo>
                <a:cubicBezTo>
                  <a:pt x="4135209" y="-42446"/>
                  <a:pt x="4046584" y="14994"/>
                  <a:pt x="4216577" y="0"/>
                </a:cubicBezTo>
                <a:cubicBezTo>
                  <a:pt x="4386570" y="-14994"/>
                  <a:pt x="4733737" y="70818"/>
                  <a:pt x="4989616" y="0"/>
                </a:cubicBezTo>
                <a:cubicBezTo>
                  <a:pt x="5245495" y="-70818"/>
                  <a:pt x="5225157" y="30324"/>
                  <a:pt x="5387848" y="0"/>
                </a:cubicBezTo>
                <a:cubicBezTo>
                  <a:pt x="5550539" y="-30324"/>
                  <a:pt x="5686341" y="15513"/>
                  <a:pt x="5786080" y="0"/>
                </a:cubicBezTo>
                <a:cubicBezTo>
                  <a:pt x="5885819" y="-15513"/>
                  <a:pt x="6321085" y="2043"/>
                  <a:pt x="6559119" y="0"/>
                </a:cubicBezTo>
                <a:cubicBezTo>
                  <a:pt x="6797153" y="-2043"/>
                  <a:pt x="7106229" y="48040"/>
                  <a:pt x="7332158" y="0"/>
                </a:cubicBezTo>
                <a:cubicBezTo>
                  <a:pt x="7558087" y="-48040"/>
                  <a:pt x="7796777" y="16496"/>
                  <a:pt x="8011495" y="0"/>
                </a:cubicBezTo>
                <a:cubicBezTo>
                  <a:pt x="8226213" y="-16496"/>
                  <a:pt x="8544027" y="46206"/>
                  <a:pt x="8784534" y="0"/>
                </a:cubicBezTo>
                <a:cubicBezTo>
                  <a:pt x="9025041" y="-46206"/>
                  <a:pt x="9131927" y="28721"/>
                  <a:pt x="9370170" y="0"/>
                </a:cubicBezTo>
                <a:cubicBezTo>
                  <a:pt x="9382918" y="232356"/>
                  <a:pt x="9341023" y="405340"/>
                  <a:pt x="9370170" y="542421"/>
                </a:cubicBezTo>
                <a:cubicBezTo>
                  <a:pt x="9399317" y="679502"/>
                  <a:pt x="9332539" y="926317"/>
                  <a:pt x="9370170" y="1052296"/>
                </a:cubicBezTo>
                <a:cubicBezTo>
                  <a:pt x="9407801" y="1178276"/>
                  <a:pt x="9351450" y="1479541"/>
                  <a:pt x="9370170" y="1627262"/>
                </a:cubicBezTo>
                <a:cubicBezTo>
                  <a:pt x="9115770" y="1678532"/>
                  <a:pt x="8932143" y="1593453"/>
                  <a:pt x="8784534" y="1627262"/>
                </a:cubicBezTo>
                <a:cubicBezTo>
                  <a:pt x="8636925" y="1661071"/>
                  <a:pt x="8219907" y="1573425"/>
                  <a:pt x="8011495" y="1627262"/>
                </a:cubicBezTo>
                <a:cubicBezTo>
                  <a:pt x="7803083" y="1681099"/>
                  <a:pt x="7792659" y="1625750"/>
                  <a:pt x="7706965" y="1627262"/>
                </a:cubicBezTo>
                <a:cubicBezTo>
                  <a:pt x="7621271" y="1628774"/>
                  <a:pt x="7178629" y="1590530"/>
                  <a:pt x="6933926" y="1627262"/>
                </a:cubicBezTo>
                <a:cubicBezTo>
                  <a:pt x="6689223" y="1663994"/>
                  <a:pt x="6675309" y="1588259"/>
                  <a:pt x="6535694" y="1627262"/>
                </a:cubicBezTo>
                <a:cubicBezTo>
                  <a:pt x="6396079" y="1666265"/>
                  <a:pt x="6234373" y="1581901"/>
                  <a:pt x="5950058" y="1627262"/>
                </a:cubicBezTo>
                <a:cubicBezTo>
                  <a:pt x="5665743" y="1672623"/>
                  <a:pt x="5624570" y="1574268"/>
                  <a:pt x="5458124" y="1627262"/>
                </a:cubicBezTo>
                <a:cubicBezTo>
                  <a:pt x="5291678" y="1680256"/>
                  <a:pt x="5222821" y="1604641"/>
                  <a:pt x="5059892" y="1627262"/>
                </a:cubicBezTo>
                <a:cubicBezTo>
                  <a:pt x="4896963" y="1649883"/>
                  <a:pt x="4448031" y="1561365"/>
                  <a:pt x="4286853" y="1627262"/>
                </a:cubicBezTo>
                <a:cubicBezTo>
                  <a:pt x="4125675" y="1693159"/>
                  <a:pt x="3766751" y="1607831"/>
                  <a:pt x="3607515" y="1627262"/>
                </a:cubicBezTo>
                <a:cubicBezTo>
                  <a:pt x="3448279" y="1646693"/>
                  <a:pt x="3304436" y="1616660"/>
                  <a:pt x="3115582" y="1627262"/>
                </a:cubicBezTo>
                <a:cubicBezTo>
                  <a:pt x="2926728" y="1637864"/>
                  <a:pt x="2800536" y="1557336"/>
                  <a:pt x="2529946" y="1627262"/>
                </a:cubicBezTo>
                <a:cubicBezTo>
                  <a:pt x="2259356" y="1697188"/>
                  <a:pt x="2236251" y="1592432"/>
                  <a:pt x="2131714" y="1627262"/>
                </a:cubicBezTo>
                <a:cubicBezTo>
                  <a:pt x="2027177" y="1662092"/>
                  <a:pt x="1834713" y="1606676"/>
                  <a:pt x="1733481" y="1627262"/>
                </a:cubicBezTo>
                <a:cubicBezTo>
                  <a:pt x="1632249" y="1647848"/>
                  <a:pt x="1531300" y="1604211"/>
                  <a:pt x="1428951" y="1627262"/>
                </a:cubicBezTo>
                <a:cubicBezTo>
                  <a:pt x="1326602" y="1650313"/>
                  <a:pt x="1072994" y="1617948"/>
                  <a:pt x="937017" y="1627262"/>
                </a:cubicBezTo>
                <a:cubicBezTo>
                  <a:pt x="801040" y="1636576"/>
                  <a:pt x="775835" y="1606081"/>
                  <a:pt x="632486" y="1627262"/>
                </a:cubicBezTo>
                <a:cubicBezTo>
                  <a:pt x="489137" y="1648443"/>
                  <a:pt x="197469" y="1619096"/>
                  <a:pt x="0" y="1627262"/>
                </a:cubicBezTo>
                <a:cubicBezTo>
                  <a:pt x="-44923" y="1375666"/>
                  <a:pt x="13538" y="1335951"/>
                  <a:pt x="0" y="1101114"/>
                </a:cubicBezTo>
                <a:cubicBezTo>
                  <a:pt x="-13538" y="866277"/>
                  <a:pt x="3449" y="715430"/>
                  <a:pt x="0" y="526148"/>
                </a:cubicBezTo>
                <a:cubicBezTo>
                  <a:pt x="-3449" y="336866"/>
                  <a:pt x="1937" y="253148"/>
                  <a:pt x="0" y="0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278697088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sz="3200" spc="300" dirty="0">
                <a:solidFill>
                  <a:srgbClr val="B82A26"/>
                </a:solidFill>
                <a:latin typeface="FbTip Regular" panose="02020603050405020304" pitchFamily="18" charset="-79"/>
                <a:cs typeface="FbTip Regular" panose="02020603050405020304" pitchFamily="18" charset="-79"/>
              </a:rPr>
              <a:t>אז מה ה'ציון' שלך באהבת ישראל?!</a:t>
            </a:r>
          </a:p>
        </p:txBody>
      </p:sp>
    </p:spTree>
    <p:extLst>
      <p:ext uri="{BB962C8B-B14F-4D97-AF65-F5344CB8AC3E}">
        <p14:creationId xmlns:p14="http://schemas.microsoft.com/office/powerpoint/2010/main" val="2434722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2" grpId="0" animBg="1"/>
      <p:bldP spid="34" grpId="0" animBg="1"/>
      <p:bldP spid="35" grpId="0" animBg="1"/>
      <p:bldP spid="36" grpId="0" animBg="1"/>
      <p:bldP spid="33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3" name="קבוצה 2">
            <a:extLst>
              <a:ext uri="{FF2B5EF4-FFF2-40B4-BE49-F238E27FC236}">
                <a16:creationId xmlns:a16="http://schemas.microsoft.com/office/drawing/2014/main" id="{296F43ED-A31E-4B93-8076-D01F31B86085}"/>
              </a:ext>
            </a:extLst>
          </p:cNvPr>
          <p:cNvGrpSpPr/>
          <p:nvPr/>
        </p:nvGrpSpPr>
        <p:grpSpPr>
          <a:xfrm>
            <a:off x="-276352" y="-254289"/>
            <a:ext cx="12468352" cy="6858000"/>
            <a:chOff x="-277876" y="0"/>
            <a:chExt cx="12468352" cy="6858000"/>
          </a:xfrm>
        </p:grpSpPr>
        <p:pic>
          <p:nvPicPr>
            <p:cNvPr id="4" name="תמונה 3" descr="ידיים גדולות וקטנות אוחזות בלב אדום">
              <a:extLst>
                <a:ext uri="{FF2B5EF4-FFF2-40B4-BE49-F238E27FC236}">
                  <a16:creationId xmlns:a16="http://schemas.microsoft.com/office/drawing/2014/main" id="{5DB9C4C7-43B5-4E79-B325-87C899C4210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866" t="20" b="-1"/>
            <a:stretch/>
          </p:blipFill>
          <p:spPr>
            <a:xfrm>
              <a:off x="5956300" y="0"/>
              <a:ext cx="6234176" cy="6856718"/>
            </a:xfrm>
            <a:prstGeom prst="rect">
              <a:avLst/>
            </a:prstGeom>
          </p:spPr>
        </p:pic>
        <p:pic>
          <p:nvPicPr>
            <p:cNvPr id="6" name="תמונה 5" descr="ידיים גדולות וקטנות אוחזות בלב אדום">
              <a:extLst>
                <a:ext uri="{FF2B5EF4-FFF2-40B4-BE49-F238E27FC236}">
                  <a16:creationId xmlns:a16="http://schemas.microsoft.com/office/drawing/2014/main" id="{98FB817D-06D1-48BF-B6E8-BC693C308F6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866" t="20" b="-1"/>
            <a:stretch/>
          </p:blipFill>
          <p:spPr>
            <a:xfrm flipH="1">
              <a:off x="-277876" y="1282"/>
              <a:ext cx="6234176" cy="6856718"/>
            </a:xfrm>
            <a:prstGeom prst="rect">
              <a:avLst/>
            </a:prstGeom>
          </p:spPr>
        </p:pic>
      </p:grp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78C2FE02-809E-44A6-B157-636C8F94B48E}"/>
              </a:ext>
            </a:extLst>
          </p:cNvPr>
          <p:cNvSpPr txBox="1"/>
          <p:nvPr/>
        </p:nvSpPr>
        <p:spPr>
          <a:xfrm>
            <a:off x="344905" y="1860107"/>
            <a:ext cx="11682821" cy="4460796"/>
          </a:xfrm>
          <a:prstGeom prst="round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r>
              <a:rPr lang="he-IL" sz="320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Bejerano" pitchFamily="2" charset="-79"/>
              </a:rPr>
              <a:t>לאהוב כל אחד מישראל אהבת נפש, </a:t>
            </a:r>
          </a:p>
          <a:p>
            <a:r>
              <a:rPr lang="he-IL" sz="320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Bejerano" pitchFamily="2" charset="-79"/>
              </a:rPr>
              <a:t>כלומר </a:t>
            </a:r>
            <a:r>
              <a:rPr lang="he-IL" sz="3200" i="0" u="sng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Bejerano" pitchFamily="2" charset="-79"/>
              </a:rPr>
              <a:t>שנחמול</a:t>
            </a:r>
            <a:r>
              <a:rPr lang="he-IL" sz="320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Bejerano" pitchFamily="2" charset="-79"/>
              </a:rPr>
              <a:t> על </a:t>
            </a:r>
            <a:r>
              <a:rPr lang="he-IL" sz="3200" i="0" u="sng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Bejerano" pitchFamily="2" charset="-79"/>
              </a:rPr>
              <a:t>ישראל</a:t>
            </a:r>
            <a:r>
              <a:rPr lang="he-IL" sz="320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Bejerano" pitchFamily="2" charset="-79"/>
              </a:rPr>
              <a:t> ועל </a:t>
            </a:r>
            <a:r>
              <a:rPr lang="he-IL" sz="3200" i="0" u="sng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Bejerano" pitchFamily="2" charset="-79"/>
              </a:rPr>
              <a:t>ממונו</a:t>
            </a:r>
            <a:r>
              <a:rPr lang="he-IL" sz="320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Bejerano" pitchFamily="2" charset="-79"/>
              </a:rPr>
              <a:t> </a:t>
            </a:r>
          </a:p>
          <a:p>
            <a:r>
              <a:rPr lang="he-IL" sz="320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Bejerano" pitchFamily="2" charset="-79"/>
              </a:rPr>
              <a:t>כמו שאדם חומל על עצמו וממונו, שנאמר (ויקרא </a:t>
            </a:r>
            <a:r>
              <a:rPr lang="he-IL" sz="320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Bejerano" pitchFamily="2" charset="-79"/>
              </a:rPr>
              <a:t>יט</a:t>
            </a:r>
            <a:r>
              <a:rPr lang="he-IL" sz="320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Bejerano" pitchFamily="2" charset="-79"/>
              </a:rPr>
              <a:t> </a:t>
            </a:r>
            <a:r>
              <a:rPr lang="he-IL" sz="320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Bejerano" pitchFamily="2" charset="-79"/>
              </a:rPr>
              <a:t>יח</a:t>
            </a:r>
            <a:r>
              <a:rPr lang="he-IL" sz="320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Bejerano" pitchFamily="2" charset="-79"/>
              </a:rPr>
              <a:t>) ואהבת לרעך כמוך.</a:t>
            </a:r>
          </a:p>
          <a:p>
            <a:r>
              <a:rPr lang="he-IL" sz="320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Bejerano" pitchFamily="2" charset="-79"/>
              </a:rPr>
              <a:t> ואמרו </a:t>
            </a:r>
            <a:r>
              <a:rPr lang="he-IL" sz="320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Bejerano" pitchFamily="2" charset="-79"/>
              </a:rPr>
              <a:t>זכרונם</a:t>
            </a:r>
            <a:r>
              <a:rPr lang="he-IL" sz="320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Bejerano" pitchFamily="2" charset="-79"/>
              </a:rPr>
              <a:t> לברכה </a:t>
            </a:r>
            <a:r>
              <a:rPr lang="he-IL" sz="3200" dirty="0">
                <a:solidFill>
                  <a:srgbClr val="000000"/>
                </a:solidFill>
                <a:latin typeface="Arial" panose="020B0604020202020204" pitchFamily="34" charset="0"/>
                <a:cs typeface="Bejerano" pitchFamily="2" charset="-79"/>
              </a:rPr>
              <a:t>(שבת לא א) </a:t>
            </a:r>
            <a:r>
              <a:rPr lang="he-IL" sz="320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Bejerano" pitchFamily="2" charset="-79"/>
              </a:rPr>
              <a:t>דעלך</a:t>
            </a:r>
            <a:r>
              <a:rPr lang="he-IL" sz="320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Bejerano" pitchFamily="2" charset="-79"/>
              </a:rPr>
              <a:t> </a:t>
            </a:r>
            <a:r>
              <a:rPr lang="he-IL" sz="320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cs typeface="Bejerano" pitchFamily="2" charset="-79"/>
              </a:rPr>
              <a:t>סני</a:t>
            </a:r>
            <a:r>
              <a:rPr lang="he-IL" sz="320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Bejerano" pitchFamily="2" charset="-79"/>
              </a:rPr>
              <a:t> לחברך לא תעביד.</a:t>
            </a:r>
          </a:p>
          <a:p>
            <a:r>
              <a:rPr lang="he-IL" sz="3200" dirty="0">
                <a:solidFill>
                  <a:srgbClr val="000000"/>
                </a:solidFill>
                <a:latin typeface="Arial" panose="020B0604020202020204" pitchFamily="34" charset="0"/>
                <a:cs typeface="Bejerano" pitchFamily="2" charset="-79"/>
              </a:rPr>
              <a:t>[= את מה ששנוא עליך, לחברך לא תעשה]</a:t>
            </a:r>
          </a:p>
          <a:p>
            <a:pPr algn="ctr"/>
            <a:r>
              <a:rPr lang="he-IL" sz="3200" dirty="0">
                <a:solidFill>
                  <a:srgbClr val="000000"/>
                </a:solidFill>
                <a:latin typeface="Arial" panose="020B0604020202020204" pitchFamily="34" charset="0"/>
                <a:cs typeface="Organy" pitchFamily="2" charset="-79"/>
              </a:rPr>
              <a:t>באופן מעשי - להתנהג עם החברה כמו שאנו נוהגים (או רוצים לנהוג) עם עצמנו.  </a:t>
            </a:r>
            <a:endParaRPr lang="he-IL" sz="3200" dirty="0">
              <a:cs typeface="Bejerano" pitchFamily="2" charset="-79"/>
            </a:endParaRPr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B115285C-2C21-4B6A-B0D9-45E251ACE92D}"/>
              </a:ext>
            </a:extLst>
          </p:cNvPr>
          <p:cNvSpPr/>
          <p:nvPr/>
        </p:nvSpPr>
        <p:spPr>
          <a:xfrm>
            <a:off x="-277876" y="698500"/>
            <a:ext cx="12468352" cy="762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sz="3200" spc="300" dirty="0">
                <a:solidFill>
                  <a:schemeClr val="tx1"/>
                </a:solidFill>
                <a:latin typeface="FbTip Regular" panose="02020603050405020304" pitchFamily="18" charset="-79"/>
                <a:cs typeface="FbTip Regular" panose="02020603050405020304" pitchFamily="18" charset="-79"/>
              </a:rPr>
              <a:t>          מצווה לאהוב כל אחד מישראל</a:t>
            </a:r>
          </a:p>
        </p:txBody>
      </p:sp>
      <p:pic>
        <p:nvPicPr>
          <p:cNvPr id="1026" name="Picture 2" descr="לב המחלוקת">
            <a:extLst>
              <a:ext uri="{FF2B5EF4-FFF2-40B4-BE49-F238E27FC236}">
                <a16:creationId xmlns:a16="http://schemas.microsoft.com/office/drawing/2014/main" id="{D2D08D83-E857-4241-B20F-9C17020BB1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274" y="254289"/>
            <a:ext cx="2224635" cy="2006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6153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3" name="קבוצה 2">
            <a:extLst>
              <a:ext uri="{FF2B5EF4-FFF2-40B4-BE49-F238E27FC236}">
                <a16:creationId xmlns:a16="http://schemas.microsoft.com/office/drawing/2014/main" id="{296F43ED-A31E-4B93-8076-D01F31B86085}"/>
              </a:ext>
            </a:extLst>
          </p:cNvPr>
          <p:cNvGrpSpPr/>
          <p:nvPr/>
        </p:nvGrpSpPr>
        <p:grpSpPr>
          <a:xfrm>
            <a:off x="-277876" y="0"/>
            <a:ext cx="12468352" cy="6858000"/>
            <a:chOff x="-277876" y="0"/>
            <a:chExt cx="12468352" cy="6858000"/>
          </a:xfrm>
        </p:grpSpPr>
        <p:pic>
          <p:nvPicPr>
            <p:cNvPr id="4" name="תמונה 3" descr="ידיים גדולות וקטנות אוחזות בלב אדום">
              <a:extLst>
                <a:ext uri="{FF2B5EF4-FFF2-40B4-BE49-F238E27FC236}">
                  <a16:creationId xmlns:a16="http://schemas.microsoft.com/office/drawing/2014/main" id="{5DB9C4C7-43B5-4E79-B325-87C899C4210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866" t="20" b="-1"/>
            <a:stretch/>
          </p:blipFill>
          <p:spPr>
            <a:xfrm>
              <a:off x="5956300" y="0"/>
              <a:ext cx="6234176" cy="6856718"/>
            </a:xfrm>
            <a:prstGeom prst="rect">
              <a:avLst/>
            </a:prstGeom>
          </p:spPr>
        </p:pic>
        <p:pic>
          <p:nvPicPr>
            <p:cNvPr id="6" name="תמונה 5" descr="ידיים גדולות וקטנות אוחזות בלב אדום">
              <a:extLst>
                <a:ext uri="{FF2B5EF4-FFF2-40B4-BE49-F238E27FC236}">
                  <a16:creationId xmlns:a16="http://schemas.microsoft.com/office/drawing/2014/main" id="{98FB817D-06D1-48BF-B6E8-BC693C308F6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866" t="20" b="-1"/>
            <a:stretch/>
          </p:blipFill>
          <p:spPr>
            <a:xfrm flipH="1">
              <a:off x="-277876" y="1282"/>
              <a:ext cx="6234176" cy="6856718"/>
            </a:xfrm>
            <a:prstGeom prst="rect">
              <a:avLst/>
            </a:prstGeom>
          </p:spPr>
        </p:pic>
      </p:grpSp>
      <p:sp>
        <p:nvSpPr>
          <p:cNvPr id="10" name="מלבן 9">
            <a:extLst>
              <a:ext uri="{FF2B5EF4-FFF2-40B4-BE49-F238E27FC236}">
                <a16:creationId xmlns:a16="http://schemas.microsoft.com/office/drawing/2014/main" id="{B115285C-2C21-4B6A-B0D9-45E251ACE92D}"/>
              </a:ext>
            </a:extLst>
          </p:cNvPr>
          <p:cNvSpPr/>
          <p:nvPr/>
        </p:nvSpPr>
        <p:spPr>
          <a:xfrm>
            <a:off x="-277876" y="698500"/>
            <a:ext cx="12468352" cy="762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sz="3200" spc="300" dirty="0">
                <a:solidFill>
                  <a:schemeClr val="tx1"/>
                </a:solidFill>
                <a:latin typeface="FbTip Regular" panose="02020603050405020304" pitchFamily="18" charset="-79"/>
                <a:cs typeface="FbTip Regular" panose="02020603050405020304" pitchFamily="18" charset="-79"/>
              </a:rPr>
              <a:t>				כלל גדול בתורה</a:t>
            </a:r>
          </a:p>
        </p:txBody>
      </p:sp>
      <p:pic>
        <p:nvPicPr>
          <p:cNvPr id="1026" name="Picture 2" descr="לב המחלוקת">
            <a:extLst>
              <a:ext uri="{FF2B5EF4-FFF2-40B4-BE49-F238E27FC236}">
                <a16:creationId xmlns:a16="http://schemas.microsoft.com/office/drawing/2014/main" id="{D2D08D83-E857-4241-B20F-9C17020BB1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274" y="254289"/>
            <a:ext cx="2224635" cy="2006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DB64D115-53A0-4077-8F43-813226E9A431}"/>
              </a:ext>
            </a:extLst>
          </p:cNvPr>
          <p:cNvSpPr txBox="1"/>
          <p:nvPr/>
        </p:nvSpPr>
        <p:spPr>
          <a:xfrm>
            <a:off x="484605" y="2311638"/>
            <a:ext cx="11222789" cy="3166824"/>
          </a:xfrm>
          <a:prstGeom prst="roundRect">
            <a:avLst/>
          </a:prstGeom>
          <a:solidFill>
            <a:schemeClr val="bg1">
              <a:alpha val="20000"/>
            </a:schemeClr>
          </a:solidFill>
        </p:spPr>
        <p:txBody>
          <a:bodyPr wrap="square">
            <a:spAutoFit/>
          </a:bodyPr>
          <a:lstStyle/>
          <a:p>
            <a:r>
              <a:rPr lang="he-IL" sz="3600" dirty="0">
                <a:solidFill>
                  <a:srgbClr val="000000"/>
                </a:solidFill>
                <a:latin typeface="Arial" panose="020B0604020202020204" pitchFamily="34" charset="0"/>
                <a:cs typeface="Bejerano" pitchFamily="2" charset="-79"/>
              </a:rPr>
              <a:t>ואמרו בספרא (קדושים ד </a:t>
            </a:r>
            <a:r>
              <a:rPr lang="he-IL" sz="3600" dirty="0" err="1">
                <a:solidFill>
                  <a:srgbClr val="000000"/>
                </a:solidFill>
                <a:latin typeface="Arial" panose="020B0604020202020204" pitchFamily="34" charset="0"/>
                <a:cs typeface="Bejerano" pitchFamily="2" charset="-79"/>
              </a:rPr>
              <a:t>יב</a:t>
            </a:r>
            <a:r>
              <a:rPr lang="he-IL" sz="3600" dirty="0">
                <a:solidFill>
                  <a:srgbClr val="000000"/>
                </a:solidFill>
                <a:latin typeface="Arial" panose="020B0604020202020204" pitchFamily="34" charset="0"/>
                <a:cs typeface="Bejerano" pitchFamily="2" charset="-79"/>
              </a:rPr>
              <a:t>) "אמר רבי עקיבא, זה כלל גדול בתורה", כלומר, שהרבה מצות שבתורה תלויות בכך, </a:t>
            </a:r>
          </a:p>
          <a:p>
            <a:r>
              <a:rPr lang="he-IL" sz="3600" dirty="0">
                <a:solidFill>
                  <a:srgbClr val="000000"/>
                </a:solidFill>
                <a:latin typeface="Arial" panose="020B0604020202020204" pitchFamily="34" charset="0"/>
                <a:cs typeface="Bejerano" pitchFamily="2" charset="-79"/>
              </a:rPr>
              <a:t>שהאוהב חברו כנפשו לא יגנוב ממונו ולא ינאף את אשתו, ולא </a:t>
            </a:r>
            <a:r>
              <a:rPr lang="he-IL" sz="3600" dirty="0" err="1">
                <a:solidFill>
                  <a:srgbClr val="000000"/>
                </a:solidFill>
                <a:latin typeface="Arial" panose="020B0604020202020204" pitchFamily="34" charset="0"/>
                <a:cs typeface="Bejerano" pitchFamily="2" charset="-79"/>
              </a:rPr>
              <a:t>יונהו</a:t>
            </a:r>
            <a:r>
              <a:rPr lang="he-IL" sz="3600" dirty="0">
                <a:solidFill>
                  <a:srgbClr val="000000"/>
                </a:solidFill>
                <a:latin typeface="Arial" panose="020B0604020202020204" pitchFamily="34" charset="0"/>
                <a:cs typeface="Bejerano" pitchFamily="2" charset="-79"/>
              </a:rPr>
              <a:t> בממון ולא בדברים, ולא יסיג גבולו, ולא יזיק לו בשום צד. וכן כמה מצות אחרות תלויות בזה. ידוע הדבר לכל בן דעת.</a:t>
            </a:r>
          </a:p>
        </p:txBody>
      </p:sp>
    </p:spTree>
    <p:extLst>
      <p:ext uri="{BB962C8B-B14F-4D97-AF65-F5344CB8AC3E}">
        <p14:creationId xmlns:p14="http://schemas.microsoft.com/office/powerpoint/2010/main" val="1540465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3" name="קבוצה 2">
            <a:extLst>
              <a:ext uri="{FF2B5EF4-FFF2-40B4-BE49-F238E27FC236}">
                <a16:creationId xmlns:a16="http://schemas.microsoft.com/office/drawing/2014/main" id="{296F43ED-A31E-4B93-8076-D01F31B86085}"/>
              </a:ext>
            </a:extLst>
          </p:cNvPr>
          <p:cNvGrpSpPr/>
          <p:nvPr/>
        </p:nvGrpSpPr>
        <p:grpSpPr>
          <a:xfrm>
            <a:off x="-277876" y="0"/>
            <a:ext cx="12468352" cy="6858000"/>
            <a:chOff x="-277876" y="0"/>
            <a:chExt cx="12468352" cy="6858000"/>
          </a:xfrm>
        </p:grpSpPr>
        <p:pic>
          <p:nvPicPr>
            <p:cNvPr id="4" name="תמונה 3" descr="ידיים גדולות וקטנות אוחזות בלב אדום">
              <a:extLst>
                <a:ext uri="{FF2B5EF4-FFF2-40B4-BE49-F238E27FC236}">
                  <a16:creationId xmlns:a16="http://schemas.microsoft.com/office/drawing/2014/main" id="{5DB9C4C7-43B5-4E79-B325-87C899C4210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866" t="20" b="-1"/>
            <a:stretch/>
          </p:blipFill>
          <p:spPr>
            <a:xfrm>
              <a:off x="5956300" y="0"/>
              <a:ext cx="6234176" cy="6856718"/>
            </a:xfrm>
            <a:prstGeom prst="rect">
              <a:avLst/>
            </a:prstGeom>
          </p:spPr>
        </p:pic>
        <p:pic>
          <p:nvPicPr>
            <p:cNvPr id="6" name="תמונה 5" descr="ידיים גדולות וקטנות אוחזות בלב אדום">
              <a:extLst>
                <a:ext uri="{FF2B5EF4-FFF2-40B4-BE49-F238E27FC236}">
                  <a16:creationId xmlns:a16="http://schemas.microsoft.com/office/drawing/2014/main" id="{98FB817D-06D1-48BF-B6E8-BC693C308F6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866" t="20" b="-1"/>
            <a:stretch/>
          </p:blipFill>
          <p:spPr>
            <a:xfrm flipH="1">
              <a:off x="-277876" y="1282"/>
              <a:ext cx="6234176" cy="6856718"/>
            </a:xfrm>
            <a:prstGeom prst="rect">
              <a:avLst/>
            </a:prstGeom>
          </p:spPr>
        </p:pic>
      </p:grpSp>
      <p:sp>
        <p:nvSpPr>
          <p:cNvPr id="10" name="מלבן 9">
            <a:extLst>
              <a:ext uri="{FF2B5EF4-FFF2-40B4-BE49-F238E27FC236}">
                <a16:creationId xmlns:a16="http://schemas.microsoft.com/office/drawing/2014/main" id="{B115285C-2C21-4B6A-B0D9-45E251ACE92D}"/>
              </a:ext>
            </a:extLst>
          </p:cNvPr>
          <p:cNvSpPr/>
          <p:nvPr/>
        </p:nvSpPr>
        <p:spPr>
          <a:xfrm>
            <a:off x="-277876" y="698500"/>
            <a:ext cx="12468352" cy="762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sz="3200" spc="300" dirty="0">
                <a:solidFill>
                  <a:schemeClr val="tx1"/>
                </a:solidFill>
                <a:latin typeface="FbTip Regular" panose="02020603050405020304" pitchFamily="18" charset="-79"/>
                <a:cs typeface="FbTip Regular" panose="02020603050405020304" pitchFamily="18" charset="-79"/>
              </a:rPr>
              <a:t>				כלל גדול בתורה</a:t>
            </a:r>
          </a:p>
        </p:txBody>
      </p:sp>
      <p:pic>
        <p:nvPicPr>
          <p:cNvPr id="1026" name="Picture 2" descr="לב המחלוקת">
            <a:extLst>
              <a:ext uri="{FF2B5EF4-FFF2-40B4-BE49-F238E27FC236}">
                <a16:creationId xmlns:a16="http://schemas.microsoft.com/office/drawing/2014/main" id="{D2D08D83-E857-4241-B20F-9C17020BB1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274" y="254289"/>
            <a:ext cx="2224635" cy="2006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DB64D115-53A0-4077-8F43-813226E9A431}"/>
              </a:ext>
            </a:extLst>
          </p:cNvPr>
          <p:cNvSpPr txBox="1"/>
          <p:nvPr/>
        </p:nvSpPr>
        <p:spPr>
          <a:xfrm>
            <a:off x="4428279" y="1686712"/>
            <a:ext cx="3381541" cy="3153728"/>
          </a:xfrm>
          <a:prstGeom prst="heart">
            <a:avLst/>
          </a:prstGeom>
          <a:solidFill>
            <a:schemeClr val="bg1">
              <a:alpha val="61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he-IL" sz="4000" dirty="0">
                <a:solidFill>
                  <a:srgbClr val="000000"/>
                </a:solidFill>
                <a:latin typeface="Arial" panose="020B0604020202020204" pitchFamily="34" charset="0"/>
                <a:cs typeface="Organy" pitchFamily="2" charset="-79"/>
              </a:rPr>
              <a:t>האוהב חברו כנפשו</a:t>
            </a:r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CCBDD6ED-80C2-4103-8B25-4ADADC952B6E}"/>
              </a:ext>
            </a:extLst>
          </p:cNvPr>
          <p:cNvSpPr txBox="1"/>
          <p:nvPr/>
        </p:nvSpPr>
        <p:spPr>
          <a:xfrm>
            <a:off x="8808935" y="1994720"/>
            <a:ext cx="3381541" cy="1686878"/>
          </a:xfrm>
          <a:prstGeom prst="heart">
            <a:avLst/>
          </a:prstGeom>
          <a:solidFill>
            <a:schemeClr val="bg1">
              <a:alpha val="61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he-IL" sz="4000" dirty="0">
                <a:solidFill>
                  <a:srgbClr val="000000"/>
                </a:solidFill>
                <a:latin typeface="Arial" panose="020B0604020202020204" pitchFamily="34" charset="0"/>
                <a:cs typeface="Organy" pitchFamily="2" charset="-79"/>
              </a:rPr>
              <a:t>לא יגנוב ממנו</a:t>
            </a:r>
          </a:p>
        </p:txBody>
      </p: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AAD04B82-25C3-4AAF-B782-E1186A1C5D6D}"/>
              </a:ext>
            </a:extLst>
          </p:cNvPr>
          <p:cNvSpPr txBox="1"/>
          <p:nvPr/>
        </p:nvSpPr>
        <p:spPr>
          <a:xfrm>
            <a:off x="8004694" y="3875650"/>
            <a:ext cx="3381541" cy="1393508"/>
          </a:xfrm>
          <a:prstGeom prst="heart">
            <a:avLst/>
          </a:prstGeom>
          <a:solidFill>
            <a:schemeClr val="bg1">
              <a:alpha val="61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he-IL" sz="3200" dirty="0">
                <a:solidFill>
                  <a:srgbClr val="000000"/>
                </a:solidFill>
                <a:latin typeface="Arial" panose="020B0604020202020204" pitchFamily="34" charset="0"/>
                <a:cs typeface="Organy" pitchFamily="2" charset="-79"/>
              </a:rPr>
              <a:t>לא ינאף את אשתו</a:t>
            </a:r>
          </a:p>
        </p:txBody>
      </p:sp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1A0C1223-DA66-4752-9F91-C7A89FC7EDF6}"/>
              </a:ext>
            </a:extLst>
          </p:cNvPr>
          <p:cNvSpPr txBox="1"/>
          <p:nvPr/>
        </p:nvSpPr>
        <p:spPr>
          <a:xfrm>
            <a:off x="560058" y="2382673"/>
            <a:ext cx="3381541" cy="1246823"/>
          </a:xfrm>
          <a:prstGeom prst="heart">
            <a:avLst/>
          </a:prstGeom>
          <a:solidFill>
            <a:schemeClr val="bg1">
              <a:alpha val="61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he-IL" sz="2800" dirty="0">
                <a:solidFill>
                  <a:srgbClr val="000000"/>
                </a:solidFill>
                <a:latin typeface="Arial" panose="020B0604020202020204" pitchFamily="34" charset="0"/>
                <a:cs typeface="Organy" pitchFamily="2" charset="-79"/>
              </a:rPr>
              <a:t>לא יונה אותו בממון</a:t>
            </a:r>
          </a:p>
        </p:txBody>
      </p:sp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53BEAE44-7529-424E-B3EC-5B3A5B70F9F5}"/>
              </a:ext>
            </a:extLst>
          </p:cNvPr>
          <p:cNvSpPr txBox="1"/>
          <p:nvPr/>
        </p:nvSpPr>
        <p:spPr>
          <a:xfrm>
            <a:off x="47623" y="3872442"/>
            <a:ext cx="3333918" cy="1246823"/>
          </a:xfrm>
          <a:prstGeom prst="heart">
            <a:avLst/>
          </a:prstGeom>
          <a:solidFill>
            <a:schemeClr val="bg1">
              <a:alpha val="61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he-IL" sz="2800" dirty="0">
                <a:solidFill>
                  <a:srgbClr val="000000"/>
                </a:solidFill>
                <a:latin typeface="Arial" panose="020B0604020202020204" pitchFamily="34" charset="0"/>
                <a:cs typeface="Organy" pitchFamily="2" charset="-79"/>
              </a:rPr>
              <a:t>לא יונה אותו בדברים</a:t>
            </a:r>
          </a:p>
        </p:txBody>
      </p:sp>
      <p:sp>
        <p:nvSpPr>
          <p:cNvPr id="16" name="תיבת טקסט 15">
            <a:extLst>
              <a:ext uri="{FF2B5EF4-FFF2-40B4-BE49-F238E27FC236}">
                <a16:creationId xmlns:a16="http://schemas.microsoft.com/office/drawing/2014/main" id="{0187FBE1-FBBF-495C-96B2-824D6A2DCA1E}"/>
              </a:ext>
            </a:extLst>
          </p:cNvPr>
          <p:cNvSpPr txBox="1"/>
          <p:nvPr/>
        </p:nvSpPr>
        <p:spPr>
          <a:xfrm>
            <a:off x="6326291" y="5371967"/>
            <a:ext cx="3333918" cy="1246823"/>
          </a:xfrm>
          <a:prstGeom prst="heart">
            <a:avLst/>
          </a:prstGeom>
          <a:solidFill>
            <a:schemeClr val="bg1">
              <a:alpha val="61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he-IL" sz="2800" dirty="0">
                <a:solidFill>
                  <a:srgbClr val="000000"/>
                </a:solidFill>
                <a:latin typeface="Arial" panose="020B0604020202020204" pitchFamily="34" charset="0"/>
                <a:cs typeface="Organy" pitchFamily="2" charset="-79"/>
              </a:rPr>
              <a:t>לא יסיג</a:t>
            </a:r>
            <a:r>
              <a:rPr lang="he-IL" sz="2800" b="1" dirty="0">
                <a:solidFill>
                  <a:srgbClr val="000000"/>
                </a:solidFill>
                <a:latin typeface="Arial" panose="020B0604020202020204" pitchFamily="34" charset="0"/>
                <a:cs typeface="Organy" pitchFamily="2" charset="-79"/>
              </a:rPr>
              <a:t> </a:t>
            </a:r>
            <a:r>
              <a:rPr lang="he-IL" sz="2800" dirty="0">
                <a:solidFill>
                  <a:srgbClr val="000000"/>
                </a:solidFill>
                <a:latin typeface="Arial" panose="020B0604020202020204" pitchFamily="34" charset="0"/>
                <a:cs typeface="Organy" pitchFamily="2" charset="-79"/>
              </a:rPr>
              <a:t>גבולו</a:t>
            </a:r>
          </a:p>
        </p:txBody>
      </p:sp>
      <p:sp>
        <p:nvSpPr>
          <p:cNvPr id="17" name="תיבת טקסט 16">
            <a:extLst>
              <a:ext uri="{FF2B5EF4-FFF2-40B4-BE49-F238E27FC236}">
                <a16:creationId xmlns:a16="http://schemas.microsoft.com/office/drawing/2014/main" id="{EF551330-CBDC-420F-9CB0-3AB5E82913F3}"/>
              </a:ext>
            </a:extLst>
          </p:cNvPr>
          <p:cNvSpPr txBox="1"/>
          <p:nvPr/>
        </p:nvSpPr>
        <p:spPr>
          <a:xfrm>
            <a:off x="2038474" y="5167789"/>
            <a:ext cx="3381541" cy="1393508"/>
          </a:xfrm>
          <a:prstGeom prst="heart">
            <a:avLst/>
          </a:prstGeom>
          <a:solidFill>
            <a:schemeClr val="bg1">
              <a:alpha val="61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he-IL" sz="3200" dirty="0">
                <a:solidFill>
                  <a:srgbClr val="000000"/>
                </a:solidFill>
                <a:latin typeface="Arial" panose="020B0604020202020204" pitchFamily="34" charset="0"/>
                <a:cs typeface="Organy" pitchFamily="2" charset="-79"/>
              </a:rPr>
              <a:t>לא יזיק לו בשום צד</a:t>
            </a:r>
          </a:p>
        </p:txBody>
      </p:sp>
    </p:spTree>
    <p:extLst>
      <p:ext uri="{BB962C8B-B14F-4D97-AF65-F5344CB8AC3E}">
        <p14:creationId xmlns:p14="http://schemas.microsoft.com/office/powerpoint/2010/main" val="2075572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3" name="קבוצה 2">
            <a:extLst>
              <a:ext uri="{FF2B5EF4-FFF2-40B4-BE49-F238E27FC236}">
                <a16:creationId xmlns:a16="http://schemas.microsoft.com/office/drawing/2014/main" id="{296F43ED-A31E-4B93-8076-D01F31B86085}"/>
              </a:ext>
            </a:extLst>
          </p:cNvPr>
          <p:cNvGrpSpPr/>
          <p:nvPr/>
        </p:nvGrpSpPr>
        <p:grpSpPr>
          <a:xfrm>
            <a:off x="-277876" y="0"/>
            <a:ext cx="12468352" cy="6858000"/>
            <a:chOff x="-277876" y="0"/>
            <a:chExt cx="12468352" cy="6858000"/>
          </a:xfrm>
        </p:grpSpPr>
        <p:pic>
          <p:nvPicPr>
            <p:cNvPr id="4" name="תמונה 3" descr="ידיים גדולות וקטנות אוחזות בלב אדום">
              <a:extLst>
                <a:ext uri="{FF2B5EF4-FFF2-40B4-BE49-F238E27FC236}">
                  <a16:creationId xmlns:a16="http://schemas.microsoft.com/office/drawing/2014/main" id="{5DB9C4C7-43B5-4E79-B325-87C899C4210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866" t="20" b="-1"/>
            <a:stretch/>
          </p:blipFill>
          <p:spPr>
            <a:xfrm>
              <a:off x="5956300" y="0"/>
              <a:ext cx="6234176" cy="6856718"/>
            </a:xfrm>
            <a:prstGeom prst="rect">
              <a:avLst/>
            </a:prstGeom>
          </p:spPr>
        </p:pic>
        <p:pic>
          <p:nvPicPr>
            <p:cNvPr id="6" name="תמונה 5" descr="ידיים גדולות וקטנות אוחזות בלב אדום">
              <a:extLst>
                <a:ext uri="{FF2B5EF4-FFF2-40B4-BE49-F238E27FC236}">
                  <a16:creationId xmlns:a16="http://schemas.microsoft.com/office/drawing/2014/main" id="{98FB817D-06D1-48BF-B6E8-BC693C308F6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866" t="20" b="-1"/>
            <a:stretch/>
          </p:blipFill>
          <p:spPr>
            <a:xfrm flipH="1">
              <a:off x="-277876" y="1282"/>
              <a:ext cx="6234176" cy="6856718"/>
            </a:xfrm>
            <a:prstGeom prst="rect">
              <a:avLst/>
            </a:prstGeom>
          </p:spPr>
        </p:pic>
      </p:grpSp>
      <p:sp>
        <p:nvSpPr>
          <p:cNvPr id="10" name="מלבן 9">
            <a:extLst>
              <a:ext uri="{FF2B5EF4-FFF2-40B4-BE49-F238E27FC236}">
                <a16:creationId xmlns:a16="http://schemas.microsoft.com/office/drawing/2014/main" id="{B115285C-2C21-4B6A-B0D9-45E251ACE92D}"/>
              </a:ext>
            </a:extLst>
          </p:cNvPr>
          <p:cNvSpPr/>
          <p:nvPr/>
        </p:nvSpPr>
        <p:spPr>
          <a:xfrm>
            <a:off x="-277876" y="698500"/>
            <a:ext cx="12468352" cy="762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sz="3200" spc="300" dirty="0">
                <a:solidFill>
                  <a:schemeClr val="tx1"/>
                </a:solidFill>
                <a:latin typeface="FbTip Regular" panose="02020603050405020304" pitchFamily="18" charset="-79"/>
                <a:cs typeface="FbTip Regular" panose="02020603050405020304" pitchFamily="18" charset="-79"/>
              </a:rPr>
              <a:t>    שורש המצווה, טעמה והתועלת ממנה</a:t>
            </a: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78C2FE02-809E-44A6-B157-636C8F94B48E}"/>
              </a:ext>
            </a:extLst>
          </p:cNvPr>
          <p:cNvSpPr txBox="1"/>
          <p:nvPr/>
        </p:nvSpPr>
        <p:spPr>
          <a:xfrm>
            <a:off x="474119" y="1792003"/>
            <a:ext cx="11243762" cy="4733211"/>
          </a:xfrm>
          <a:prstGeom prst="roundRect">
            <a:avLst/>
          </a:prstGeom>
          <a:solidFill>
            <a:schemeClr val="bg1">
              <a:alpha val="10000"/>
            </a:schemeClr>
          </a:solidFill>
        </p:spPr>
        <p:txBody>
          <a:bodyPr wrap="square">
            <a:spAutoFit/>
          </a:bodyPr>
          <a:lstStyle/>
          <a:p>
            <a:r>
              <a:rPr lang="he-IL" sz="4400" dirty="0">
                <a:solidFill>
                  <a:srgbClr val="000000"/>
                </a:solidFill>
                <a:latin typeface="Arial" panose="020B0604020202020204" pitchFamily="34" charset="0"/>
                <a:cs typeface="Bejerano" pitchFamily="2" charset="-79"/>
              </a:rPr>
              <a:t>שורש </a:t>
            </a:r>
            <a:r>
              <a:rPr lang="he-IL" sz="4400" dirty="0" err="1">
                <a:solidFill>
                  <a:srgbClr val="000000"/>
                </a:solidFill>
                <a:latin typeface="Arial" panose="020B0604020202020204" pitchFamily="34" charset="0"/>
                <a:cs typeface="Bejerano" pitchFamily="2" charset="-79"/>
              </a:rPr>
              <a:t>המצוה</a:t>
            </a:r>
            <a:r>
              <a:rPr lang="he-IL" sz="4400" dirty="0">
                <a:solidFill>
                  <a:srgbClr val="000000"/>
                </a:solidFill>
                <a:latin typeface="Arial" panose="020B0604020202020204" pitchFamily="34" charset="0"/>
                <a:cs typeface="Bejerano" pitchFamily="2" charset="-79"/>
              </a:rPr>
              <a:t> ידוע</a:t>
            </a:r>
            <a:br>
              <a:rPr lang="he-IL" sz="4400" dirty="0">
                <a:solidFill>
                  <a:srgbClr val="000000"/>
                </a:solidFill>
                <a:latin typeface="Arial" panose="020B0604020202020204" pitchFamily="34" charset="0"/>
                <a:cs typeface="Bejerano" pitchFamily="2" charset="-79"/>
              </a:rPr>
            </a:br>
            <a:r>
              <a:rPr lang="he-IL" sz="4400" dirty="0">
                <a:solidFill>
                  <a:srgbClr val="000000"/>
                </a:solidFill>
                <a:latin typeface="Arial" panose="020B0604020202020204" pitchFamily="34" charset="0"/>
                <a:cs typeface="Bejerano" pitchFamily="2" charset="-79"/>
              </a:rPr>
              <a:t>כי כמו שיעשה הוא בחברו, כן יעשה חברו בו, </a:t>
            </a:r>
          </a:p>
          <a:p>
            <a:r>
              <a:rPr lang="he-IL" sz="4400" dirty="0">
                <a:solidFill>
                  <a:srgbClr val="000000"/>
                </a:solidFill>
                <a:latin typeface="Arial" panose="020B0604020202020204" pitchFamily="34" charset="0"/>
                <a:cs typeface="Bejerano" pitchFamily="2" charset="-79"/>
              </a:rPr>
              <a:t>ובזה היה שלום בין הבריות.</a:t>
            </a:r>
          </a:p>
          <a:p>
            <a:endParaRPr lang="he-IL" sz="4400" dirty="0">
              <a:solidFill>
                <a:srgbClr val="000000"/>
              </a:solidFill>
              <a:latin typeface="Arial" panose="020B0604020202020204" pitchFamily="34" charset="0"/>
              <a:cs typeface="Bejerano" pitchFamily="2" charset="-79"/>
            </a:endParaRPr>
          </a:p>
          <a:p>
            <a:r>
              <a:rPr lang="he-IL" sz="4800" dirty="0">
                <a:solidFill>
                  <a:srgbClr val="000000"/>
                </a:solidFill>
                <a:latin typeface="Arial" panose="020B0604020202020204" pitchFamily="34" charset="0"/>
                <a:cs typeface="Organy" pitchFamily="2" charset="-79"/>
              </a:rPr>
              <a:t>כלומר, כשנתנהג באהבה לסביבה, זה יגרום לסביבה להתנהגות דומה כלפינו וכך יהיה שלום ואהבה כין כולם.</a:t>
            </a:r>
          </a:p>
        </p:txBody>
      </p:sp>
      <p:pic>
        <p:nvPicPr>
          <p:cNvPr id="1026" name="Picture 2" descr="לב המחלוקת">
            <a:extLst>
              <a:ext uri="{FF2B5EF4-FFF2-40B4-BE49-F238E27FC236}">
                <a16:creationId xmlns:a16="http://schemas.microsoft.com/office/drawing/2014/main" id="{D2D08D83-E857-4241-B20F-9C17020BB1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274" y="254289"/>
            <a:ext cx="2224635" cy="2006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9921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3" name="קבוצה 2">
            <a:extLst>
              <a:ext uri="{FF2B5EF4-FFF2-40B4-BE49-F238E27FC236}">
                <a16:creationId xmlns:a16="http://schemas.microsoft.com/office/drawing/2014/main" id="{296F43ED-A31E-4B93-8076-D01F31B86085}"/>
              </a:ext>
            </a:extLst>
          </p:cNvPr>
          <p:cNvGrpSpPr/>
          <p:nvPr/>
        </p:nvGrpSpPr>
        <p:grpSpPr>
          <a:xfrm>
            <a:off x="-277876" y="0"/>
            <a:ext cx="12468352" cy="6858000"/>
            <a:chOff x="-277876" y="0"/>
            <a:chExt cx="12468352" cy="6858000"/>
          </a:xfrm>
        </p:grpSpPr>
        <p:pic>
          <p:nvPicPr>
            <p:cNvPr id="4" name="תמונה 3" descr="ידיים גדולות וקטנות אוחזות בלב אדום">
              <a:extLst>
                <a:ext uri="{FF2B5EF4-FFF2-40B4-BE49-F238E27FC236}">
                  <a16:creationId xmlns:a16="http://schemas.microsoft.com/office/drawing/2014/main" id="{5DB9C4C7-43B5-4E79-B325-87C899C4210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866" t="20" b="-1"/>
            <a:stretch/>
          </p:blipFill>
          <p:spPr>
            <a:xfrm>
              <a:off x="5956300" y="0"/>
              <a:ext cx="6234176" cy="6856718"/>
            </a:xfrm>
            <a:prstGeom prst="rect">
              <a:avLst/>
            </a:prstGeom>
          </p:spPr>
        </p:pic>
        <p:pic>
          <p:nvPicPr>
            <p:cNvPr id="6" name="תמונה 5" descr="ידיים גדולות וקטנות אוחזות בלב אדום">
              <a:extLst>
                <a:ext uri="{FF2B5EF4-FFF2-40B4-BE49-F238E27FC236}">
                  <a16:creationId xmlns:a16="http://schemas.microsoft.com/office/drawing/2014/main" id="{98FB817D-06D1-48BF-B6E8-BC693C308F6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866" t="20" b="-1"/>
            <a:stretch/>
          </p:blipFill>
          <p:spPr>
            <a:xfrm flipH="1">
              <a:off x="-277876" y="1282"/>
              <a:ext cx="6234176" cy="6856718"/>
            </a:xfrm>
            <a:prstGeom prst="rect">
              <a:avLst/>
            </a:prstGeom>
          </p:spPr>
        </p:pic>
      </p:grpSp>
      <p:sp>
        <p:nvSpPr>
          <p:cNvPr id="10" name="מלבן 9">
            <a:extLst>
              <a:ext uri="{FF2B5EF4-FFF2-40B4-BE49-F238E27FC236}">
                <a16:creationId xmlns:a16="http://schemas.microsoft.com/office/drawing/2014/main" id="{B115285C-2C21-4B6A-B0D9-45E251ACE92D}"/>
              </a:ext>
            </a:extLst>
          </p:cNvPr>
          <p:cNvSpPr/>
          <p:nvPr/>
        </p:nvSpPr>
        <p:spPr>
          <a:xfrm>
            <a:off x="-277876" y="698500"/>
            <a:ext cx="12468352" cy="762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sz="3200" spc="300" dirty="0">
                <a:solidFill>
                  <a:schemeClr val="tx1"/>
                </a:solidFill>
                <a:latin typeface="FbTip Regular" panose="02020603050405020304" pitchFamily="18" charset="-79"/>
                <a:cs typeface="FbTip Regular" panose="02020603050405020304" pitchFamily="18" charset="-79"/>
              </a:rPr>
              <a:t>	דיני המצווה</a:t>
            </a: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78C2FE02-809E-44A6-B157-636C8F94B48E}"/>
              </a:ext>
            </a:extLst>
          </p:cNvPr>
          <p:cNvSpPr txBox="1"/>
          <p:nvPr/>
        </p:nvSpPr>
        <p:spPr>
          <a:xfrm>
            <a:off x="0" y="1229143"/>
            <a:ext cx="11863451" cy="3915966"/>
          </a:xfrm>
          <a:prstGeom prst="roundRect">
            <a:avLst/>
          </a:prstGeom>
          <a:solidFill>
            <a:schemeClr val="bg1">
              <a:alpha val="10000"/>
            </a:schemeClr>
          </a:solidFill>
        </p:spPr>
        <p:txBody>
          <a:bodyPr wrap="square">
            <a:spAutoFit/>
          </a:bodyPr>
          <a:lstStyle/>
          <a:p>
            <a:r>
              <a:rPr lang="he-IL" sz="3200" dirty="0">
                <a:solidFill>
                  <a:srgbClr val="000000"/>
                </a:solidFill>
                <a:latin typeface="Arial" panose="020B0604020202020204" pitchFamily="34" charset="0"/>
                <a:cs typeface="Bejerano" pitchFamily="2" charset="-79"/>
              </a:rPr>
              <a:t>ודיני מצוה זו</a:t>
            </a:r>
            <a:br>
              <a:rPr lang="he-IL" sz="3200" dirty="0">
                <a:solidFill>
                  <a:srgbClr val="000000"/>
                </a:solidFill>
                <a:latin typeface="Arial" panose="020B0604020202020204" pitchFamily="34" charset="0"/>
                <a:cs typeface="Bejerano" pitchFamily="2" charset="-79"/>
              </a:rPr>
            </a:br>
            <a:r>
              <a:rPr lang="he-IL" sz="3200" dirty="0">
                <a:solidFill>
                  <a:srgbClr val="000000"/>
                </a:solidFill>
                <a:latin typeface="Arial" panose="020B0604020202020204" pitchFamily="34" charset="0"/>
                <a:cs typeface="Bejerano" pitchFamily="2" charset="-79"/>
              </a:rPr>
              <a:t>כלולים הם בתוך </a:t>
            </a:r>
            <a:r>
              <a:rPr lang="he-IL" sz="3200" dirty="0" err="1">
                <a:solidFill>
                  <a:srgbClr val="000000"/>
                </a:solidFill>
                <a:latin typeface="Arial" panose="020B0604020202020204" pitchFamily="34" charset="0"/>
                <a:cs typeface="Bejerano" pitchFamily="2" charset="-79"/>
              </a:rPr>
              <a:t>המצוה</a:t>
            </a:r>
            <a:r>
              <a:rPr lang="he-IL" sz="3200" dirty="0">
                <a:solidFill>
                  <a:srgbClr val="000000"/>
                </a:solidFill>
                <a:latin typeface="Arial" panose="020B0604020202020204" pitchFamily="34" charset="0"/>
                <a:cs typeface="Bejerano" pitchFamily="2" charset="-79"/>
              </a:rPr>
              <a:t>, שכלל הכל הוא </a:t>
            </a:r>
            <a:r>
              <a:rPr lang="he-IL" sz="3200" u="sng" dirty="0">
                <a:solidFill>
                  <a:srgbClr val="000000"/>
                </a:solidFill>
                <a:latin typeface="Arial" panose="020B0604020202020204" pitchFamily="34" charset="0"/>
                <a:cs typeface="Bejerano" pitchFamily="2" charset="-79"/>
              </a:rPr>
              <a:t>שיתנהג האדם עם חברו כמו שיתנהג האדם עצמו </a:t>
            </a:r>
            <a:r>
              <a:rPr lang="he-IL" sz="3200" dirty="0">
                <a:solidFill>
                  <a:srgbClr val="000000"/>
                </a:solidFill>
                <a:latin typeface="Arial" panose="020B0604020202020204" pitchFamily="34" charset="0"/>
                <a:cs typeface="Bejerano" pitchFamily="2" charset="-79"/>
              </a:rPr>
              <a:t>לשמור ממונו ולהרחיק ממנו כל נזק. </a:t>
            </a:r>
          </a:p>
          <a:p>
            <a:r>
              <a:rPr lang="he-IL" sz="3200" dirty="0">
                <a:solidFill>
                  <a:srgbClr val="000000"/>
                </a:solidFill>
                <a:latin typeface="Arial" panose="020B0604020202020204" pitchFamily="34" charset="0"/>
                <a:cs typeface="Bejerano" pitchFamily="2" charset="-79"/>
              </a:rPr>
              <a:t>ואם יספר עליו דברים, יספרם לשבח ויחוס על כבודו ולא יתכבד בקלונו, וכמו שאמרו </a:t>
            </a:r>
            <a:r>
              <a:rPr lang="he-IL" sz="3200" dirty="0" err="1">
                <a:solidFill>
                  <a:srgbClr val="000000"/>
                </a:solidFill>
                <a:latin typeface="Arial" panose="020B0604020202020204" pitchFamily="34" charset="0"/>
                <a:cs typeface="Bejerano" pitchFamily="2" charset="-79"/>
              </a:rPr>
              <a:t>זכרונם</a:t>
            </a:r>
            <a:r>
              <a:rPr lang="he-IL" sz="3200" dirty="0">
                <a:solidFill>
                  <a:srgbClr val="000000"/>
                </a:solidFill>
                <a:latin typeface="Arial" panose="020B0604020202020204" pitchFamily="34" charset="0"/>
                <a:cs typeface="Bejerano" pitchFamily="2" charset="-79"/>
              </a:rPr>
              <a:t> לברכה המתכבד בקלון חברו אין לו חלק לעולם הבא. </a:t>
            </a:r>
          </a:p>
          <a:p>
            <a:r>
              <a:rPr lang="he-IL" sz="3200" dirty="0">
                <a:solidFill>
                  <a:srgbClr val="000000"/>
                </a:solidFill>
                <a:latin typeface="Arial" panose="020B0604020202020204" pitchFamily="34" charset="0"/>
                <a:cs typeface="Bejerano" pitchFamily="2" charset="-79"/>
              </a:rPr>
              <a:t>והמתנהג עם חברו דרך אהבה ושלום ורעות, ומבקש תועלתם ושמח בטובם, עליו הכתוב אומר (ישעיהו מט ג): ישראל אשר בך אתפאר.</a:t>
            </a:r>
          </a:p>
        </p:txBody>
      </p:sp>
      <p:pic>
        <p:nvPicPr>
          <p:cNvPr id="1026" name="Picture 2" descr="לב המחלוקת">
            <a:extLst>
              <a:ext uri="{FF2B5EF4-FFF2-40B4-BE49-F238E27FC236}">
                <a16:creationId xmlns:a16="http://schemas.microsoft.com/office/drawing/2014/main" id="{D2D08D83-E857-4241-B20F-9C17020BB1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274" y="254289"/>
            <a:ext cx="2224635" cy="2006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0477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3" name="קבוצה 2">
            <a:extLst>
              <a:ext uri="{FF2B5EF4-FFF2-40B4-BE49-F238E27FC236}">
                <a16:creationId xmlns:a16="http://schemas.microsoft.com/office/drawing/2014/main" id="{296F43ED-A31E-4B93-8076-D01F31B86085}"/>
              </a:ext>
            </a:extLst>
          </p:cNvPr>
          <p:cNvGrpSpPr/>
          <p:nvPr/>
        </p:nvGrpSpPr>
        <p:grpSpPr>
          <a:xfrm>
            <a:off x="-277876" y="0"/>
            <a:ext cx="12468352" cy="6858000"/>
            <a:chOff x="-277876" y="0"/>
            <a:chExt cx="12468352" cy="6858000"/>
          </a:xfrm>
        </p:grpSpPr>
        <p:pic>
          <p:nvPicPr>
            <p:cNvPr id="4" name="תמונה 3" descr="ידיים גדולות וקטנות אוחזות בלב אדום">
              <a:extLst>
                <a:ext uri="{FF2B5EF4-FFF2-40B4-BE49-F238E27FC236}">
                  <a16:creationId xmlns:a16="http://schemas.microsoft.com/office/drawing/2014/main" id="{5DB9C4C7-43B5-4E79-B325-87C899C4210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866" t="20" b="-1"/>
            <a:stretch/>
          </p:blipFill>
          <p:spPr>
            <a:xfrm>
              <a:off x="5956300" y="0"/>
              <a:ext cx="6234176" cy="6856718"/>
            </a:xfrm>
            <a:prstGeom prst="rect">
              <a:avLst/>
            </a:prstGeom>
          </p:spPr>
        </p:pic>
        <p:pic>
          <p:nvPicPr>
            <p:cNvPr id="6" name="תמונה 5" descr="ידיים גדולות וקטנות אוחזות בלב אדום">
              <a:extLst>
                <a:ext uri="{FF2B5EF4-FFF2-40B4-BE49-F238E27FC236}">
                  <a16:creationId xmlns:a16="http://schemas.microsoft.com/office/drawing/2014/main" id="{98FB817D-06D1-48BF-B6E8-BC693C308F6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866" t="20" b="-1"/>
            <a:stretch/>
          </p:blipFill>
          <p:spPr>
            <a:xfrm flipH="1">
              <a:off x="-277876" y="1282"/>
              <a:ext cx="6234176" cy="6856718"/>
            </a:xfrm>
            <a:prstGeom prst="rect">
              <a:avLst/>
            </a:prstGeom>
          </p:spPr>
        </p:pic>
      </p:grpSp>
      <p:sp>
        <p:nvSpPr>
          <p:cNvPr id="10" name="מלבן 9">
            <a:extLst>
              <a:ext uri="{FF2B5EF4-FFF2-40B4-BE49-F238E27FC236}">
                <a16:creationId xmlns:a16="http://schemas.microsoft.com/office/drawing/2014/main" id="{B115285C-2C21-4B6A-B0D9-45E251ACE92D}"/>
              </a:ext>
            </a:extLst>
          </p:cNvPr>
          <p:cNvSpPr/>
          <p:nvPr/>
        </p:nvSpPr>
        <p:spPr>
          <a:xfrm>
            <a:off x="-277876" y="698500"/>
            <a:ext cx="12468352" cy="762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sz="3200" spc="300" dirty="0">
                <a:solidFill>
                  <a:schemeClr val="tx1"/>
                </a:solidFill>
                <a:latin typeface="FbTip Regular" panose="02020603050405020304" pitchFamily="18" charset="-79"/>
                <a:cs typeface="FbTip Regular" panose="02020603050405020304" pitchFamily="18" charset="-79"/>
              </a:rPr>
              <a:t>	דיני המצווה – איך עושים את זה?</a:t>
            </a: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78C2FE02-809E-44A6-B157-636C8F94B48E}"/>
              </a:ext>
            </a:extLst>
          </p:cNvPr>
          <p:cNvSpPr txBox="1"/>
          <p:nvPr/>
        </p:nvSpPr>
        <p:spPr>
          <a:xfrm>
            <a:off x="0" y="1594903"/>
            <a:ext cx="11863451" cy="4665107"/>
          </a:xfrm>
          <a:prstGeom prst="roundRect">
            <a:avLst/>
          </a:prstGeom>
          <a:solidFill>
            <a:schemeClr val="bg1">
              <a:alpha val="10000"/>
            </a:schemeClr>
          </a:solidFill>
        </p:spPr>
        <p:txBody>
          <a:bodyPr wrap="square">
            <a:spAutoFit/>
          </a:bodyPr>
          <a:lstStyle/>
          <a:p>
            <a:r>
              <a:rPr lang="he-IL" sz="4400" dirty="0">
                <a:solidFill>
                  <a:srgbClr val="000000"/>
                </a:solidFill>
                <a:latin typeface="Arial" panose="020B0604020202020204" pitchFamily="34" charset="0"/>
                <a:cs typeface="Bejerano" pitchFamily="2" charset="-79"/>
              </a:rPr>
              <a:t>דוגמאות:</a:t>
            </a:r>
          </a:p>
          <a:p>
            <a:r>
              <a:rPr lang="he-IL" sz="4400" dirty="0">
                <a:solidFill>
                  <a:srgbClr val="000000"/>
                </a:solidFill>
                <a:latin typeface="Arial" panose="020B0604020202020204" pitchFamily="34" charset="0"/>
                <a:cs typeface="Bejerano" pitchFamily="2" charset="-79"/>
                <a:sym typeface="Wingdings" panose="05000000000000000000" pitchFamily="2" charset="2"/>
              </a:rPr>
              <a:t></a:t>
            </a:r>
            <a:r>
              <a:rPr lang="he-IL" sz="4400" dirty="0">
                <a:solidFill>
                  <a:srgbClr val="000000"/>
                </a:solidFill>
                <a:latin typeface="Arial" panose="020B0604020202020204" pitchFamily="34" charset="0"/>
                <a:cs typeface="Bejerano" pitchFamily="2" charset="-79"/>
              </a:rPr>
              <a:t>לשמור על ממון חברו ולהיזהר מלהזיק לו.</a:t>
            </a:r>
          </a:p>
          <a:p>
            <a:r>
              <a:rPr lang="he-IL" sz="4400" dirty="0">
                <a:solidFill>
                  <a:srgbClr val="000000"/>
                </a:solidFill>
                <a:latin typeface="Arial" panose="020B0604020202020204" pitchFamily="34" charset="0"/>
                <a:cs typeface="Bejerano" pitchFamily="2" charset="-79"/>
                <a:sym typeface="Wingdings" panose="05000000000000000000" pitchFamily="2" charset="2"/>
              </a:rPr>
              <a:t></a:t>
            </a:r>
            <a:r>
              <a:rPr lang="he-IL" sz="4400" dirty="0">
                <a:solidFill>
                  <a:srgbClr val="000000"/>
                </a:solidFill>
                <a:latin typeface="Arial" panose="020B0604020202020204" pitchFamily="34" charset="0"/>
                <a:cs typeface="Bejerano" pitchFamily="2" charset="-79"/>
              </a:rPr>
              <a:t>לספר על חברו דברים טובים בלבד.</a:t>
            </a:r>
          </a:p>
          <a:p>
            <a:r>
              <a:rPr lang="he-IL" sz="4400" dirty="0">
                <a:solidFill>
                  <a:srgbClr val="000000"/>
                </a:solidFill>
                <a:latin typeface="Arial" panose="020B0604020202020204" pitchFamily="34" charset="0"/>
                <a:cs typeface="Bejerano" pitchFamily="2" charset="-79"/>
                <a:sym typeface="Wingdings" panose="05000000000000000000" pitchFamily="2" charset="2"/>
              </a:rPr>
              <a:t></a:t>
            </a:r>
            <a:r>
              <a:rPr lang="he-IL" sz="4400" dirty="0">
                <a:solidFill>
                  <a:srgbClr val="000000"/>
                </a:solidFill>
                <a:latin typeface="Arial" panose="020B0604020202020204" pitchFamily="34" charset="0"/>
                <a:cs typeface="Bejerano" pitchFamily="2" charset="-79"/>
              </a:rPr>
              <a:t>לשמור על כבוד חברו ולא להתכבד בקלונו.</a:t>
            </a:r>
          </a:p>
          <a:p>
            <a:r>
              <a:rPr lang="he-IL" sz="4800" dirty="0">
                <a:solidFill>
                  <a:srgbClr val="000000"/>
                </a:solidFill>
                <a:latin typeface="Arial" panose="020B0604020202020204" pitchFamily="34" charset="0"/>
                <a:cs typeface="Organy" pitchFamily="2" charset="-79"/>
              </a:rPr>
              <a:t>המתכבד בקלון חברו = מי שמפיק תועלת וכבוד מזלזול ובזיון של חברו.</a:t>
            </a:r>
          </a:p>
          <a:p>
            <a:r>
              <a:rPr lang="he-IL" sz="4400" dirty="0">
                <a:solidFill>
                  <a:srgbClr val="000000"/>
                </a:solidFill>
                <a:latin typeface="Arial" panose="020B0604020202020204" pitchFamily="34" charset="0"/>
                <a:cs typeface="Bejerano" pitchFamily="2" charset="-79"/>
                <a:sym typeface="Wingdings" panose="05000000000000000000" pitchFamily="2" charset="2"/>
              </a:rPr>
              <a:t> </a:t>
            </a:r>
            <a:r>
              <a:rPr lang="he-IL" sz="4400" dirty="0">
                <a:solidFill>
                  <a:srgbClr val="000000"/>
                </a:solidFill>
                <a:latin typeface="Arial" panose="020B0604020202020204" pitchFamily="34" charset="0"/>
                <a:cs typeface="Bejerano" pitchFamily="2" charset="-79"/>
              </a:rPr>
              <a:t>לרצות בתועלת חברו ולשמוח בטובתו.</a:t>
            </a:r>
          </a:p>
        </p:txBody>
      </p:sp>
      <p:pic>
        <p:nvPicPr>
          <p:cNvPr id="1026" name="Picture 2" descr="לב המחלוקת">
            <a:extLst>
              <a:ext uri="{FF2B5EF4-FFF2-40B4-BE49-F238E27FC236}">
                <a16:creationId xmlns:a16="http://schemas.microsoft.com/office/drawing/2014/main" id="{D2D08D83-E857-4241-B20F-9C17020BB1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274" y="254289"/>
            <a:ext cx="2224635" cy="2006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0769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3" name="קבוצה 2">
            <a:extLst>
              <a:ext uri="{FF2B5EF4-FFF2-40B4-BE49-F238E27FC236}">
                <a16:creationId xmlns:a16="http://schemas.microsoft.com/office/drawing/2014/main" id="{296F43ED-A31E-4B93-8076-D01F31B86085}"/>
              </a:ext>
            </a:extLst>
          </p:cNvPr>
          <p:cNvGrpSpPr/>
          <p:nvPr/>
        </p:nvGrpSpPr>
        <p:grpSpPr>
          <a:xfrm>
            <a:off x="-277876" y="0"/>
            <a:ext cx="12468352" cy="6858000"/>
            <a:chOff x="-277876" y="0"/>
            <a:chExt cx="12468352" cy="6858000"/>
          </a:xfrm>
        </p:grpSpPr>
        <p:pic>
          <p:nvPicPr>
            <p:cNvPr id="4" name="תמונה 3" descr="ידיים גדולות וקטנות אוחזות בלב אדום">
              <a:extLst>
                <a:ext uri="{FF2B5EF4-FFF2-40B4-BE49-F238E27FC236}">
                  <a16:creationId xmlns:a16="http://schemas.microsoft.com/office/drawing/2014/main" id="{5DB9C4C7-43B5-4E79-B325-87C899C4210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866" t="20" b="-1"/>
            <a:stretch/>
          </p:blipFill>
          <p:spPr>
            <a:xfrm>
              <a:off x="5956300" y="0"/>
              <a:ext cx="6234176" cy="6856718"/>
            </a:xfrm>
            <a:prstGeom prst="rect">
              <a:avLst/>
            </a:prstGeom>
          </p:spPr>
        </p:pic>
        <p:pic>
          <p:nvPicPr>
            <p:cNvPr id="6" name="תמונה 5" descr="ידיים גדולות וקטנות אוחזות בלב אדום">
              <a:extLst>
                <a:ext uri="{FF2B5EF4-FFF2-40B4-BE49-F238E27FC236}">
                  <a16:creationId xmlns:a16="http://schemas.microsoft.com/office/drawing/2014/main" id="{98FB817D-06D1-48BF-B6E8-BC693C308F6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866" t="20" b="-1"/>
            <a:stretch/>
          </p:blipFill>
          <p:spPr>
            <a:xfrm flipH="1">
              <a:off x="-277876" y="1282"/>
              <a:ext cx="6234176" cy="6856718"/>
            </a:xfrm>
            <a:prstGeom prst="rect">
              <a:avLst/>
            </a:prstGeom>
          </p:spPr>
        </p:pic>
      </p:grpSp>
      <p:sp>
        <p:nvSpPr>
          <p:cNvPr id="10" name="מלבן 9">
            <a:extLst>
              <a:ext uri="{FF2B5EF4-FFF2-40B4-BE49-F238E27FC236}">
                <a16:creationId xmlns:a16="http://schemas.microsoft.com/office/drawing/2014/main" id="{B115285C-2C21-4B6A-B0D9-45E251ACE92D}"/>
              </a:ext>
            </a:extLst>
          </p:cNvPr>
          <p:cNvSpPr/>
          <p:nvPr/>
        </p:nvSpPr>
        <p:spPr>
          <a:xfrm>
            <a:off x="-277876" y="698500"/>
            <a:ext cx="12468352" cy="762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sz="3200" spc="300" dirty="0">
                <a:solidFill>
                  <a:schemeClr val="tx1"/>
                </a:solidFill>
                <a:latin typeface="FbTip Regular" panose="02020603050405020304" pitchFamily="18" charset="-79"/>
                <a:cs typeface="FbTip Regular" panose="02020603050405020304" pitchFamily="18" charset="-79"/>
              </a:rPr>
              <a:t>	ונוהגת</a:t>
            </a: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78C2FE02-809E-44A6-B157-636C8F94B48E}"/>
              </a:ext>
            </a:extLst>
          </p:cNvPr>
          <p:cNvSpPr txBox="1"/>
          <p:nvPr/>
        </p:nvSpPr>
        <p:spPr>
          <a:xfrm>
            <a:off x="0" y="1799900"/>
            <a:ext cx="11863451" cy="3507343"/>
          </a:xfrm>
          <a:prstGeom prst="roundRect">
            <a:avLst/>
          </a:prstGeom>
          <a:solidFill>
            <a:schemeClr val="bg1">
              <a:alpha val="10000"/>
            </a:schemeClr>
          </a:solidFill>
        </p:spPr>
        <p:txBody>
          <a:bodyPr wrap="square">
            <a:spAutoFit/>
          </a:bodyPr>
          <a:lstStyle/>
          <a:p>
            <a:r>
              <a:rPr lang="he-IL" sz="4000" dirty="0">
                <a:solidFill>
                  <a:srgbClr val="000000"/>
                </a:solidFill>
                <a:latin typeface="Arial" panose="020B0604020202020204" pitchFamily="34" charset="0"/>
                <a:cs typeface="Bejerano" pitchFamily="2" charset="-79"/>
              </a:rPr>
              <a:t>ונוהגת מצוה זו </a:t>
            </a:r>
            <a:r>
              <a:rPr lang="he-IL" sz="4000" u="sng" dirty="0">
                <a:solidFill>
                  <a:srgbClr val="000000"/>
                </a:solidFill>
                <a:latin typeface="Arial" panose="020B0604020202020204" pitchFamily="34" charset="0"/>
                <a:cs typeface="Bejerano" pitchFamily="2" charset="-79"/>
              </a:rPr>
              <a:t>בכל מקום ובכל זמן</a:t>
            </a:r>
            <a:br>
              <a:rPr lang="he-IL" sz="4000" dirty="0">
                <a:solidFill>
                  <a:srgbClr val="000000"/>
                </a:solidFill>
                <a:latin typeface="Arial" panose="020B0604020202020204" pitchFamily="34" charset="0"/>
                <a:cs typeface="Bejerano" pitchFamily="2" charset="-79"/>
              </a:rPr>
            </a:br>
            <a:r>
              <a:rPr lang="he-IL" sz="4000" dirty="0">
                <a:solidFill>
                  <a:srgbClr val="000000"/>
                </a:solidFill>
                <a:latin typeface="Arial" panose="020B0604020202020204" pitchFamily="34" charset="0"/>
                <a:cs typeface="Bejerano" pitchFamily="2" charset="-79"/>
              </a:rPr>
              <a:t>והעובר עליה ולא נזהר בממון </a:t>
            </a:r>
            <a:r>
              <a:rPr lang="he-IL" sz="4000" dirty="0" err="1">
                <a:solidFill>
                  <a:srgbClr val="000000"/>
                </a:solidFill>
                <a:latin typeface="Arial" panose="020B0604020202020204" pitchFamily="34" charset="0"/>
                <a:cs typeface="Bejerano" pitchFamily="2" charset="-79"/>
              </a:rPr>
              <a:t>חבירו</a:t>
            </a:r>
            <a:r>
              <a:rPr lang="he-IL" sz="4000" dirty="0">
                <a:solidFill>
                  <a:srgbClr val="000000"/>
                </a:solidFill>
                <a:latin typeface="Arial" panose="020B0604020202020204" pitchFamily="34" charset="0"/>
                <a:cs typeface="Bejerano" pitchFamily="2" charset="-79"/>
              </a:rPr>
              <a:t> לשומרו, </a:t>
            </a:r>
          </a:p>
          <a:p>
            <a:r>
              <a:rPr lang="he-IL" sz="4000" dirty="0">
                <a:solidFill>
                  <a:srgbClr val="000000"/>
                </a:solidFill>
                <a:latin typeface="Arial" panose="020B0604020202020204" pitchFamily="34" charset="0"/>
                <a:cs typeface="Bejerano" pitchFamily="2" charset="-79"/>
              </a:rPr>
              <a:t>וכל שכן אם הזיק אותו בממון או צערו בשום דבר לדעת </a:t>
            </a:r>
            <a:r>
              <a:rPr lang="he-IL" sz="3200" dirty="0">
                <a:solidFill>
                  <a:srgbClr val="000000"/>
                </a:solidFill>
                <a:latin typeface="Arial" panose="020B0604020202020204" pitchFamily="34" charset="0"/>
                <a:cs typeface="Organy" pitchFamily="2" charset="-79"/>
              </a:rPr>
              <a:t>(בדרך כלשהי בכוונה), </a:t>
            </a:r>
            <a:endParaRPr lang="he-IL" sz="4800" dirty="0">
              <a:solidFill>
                <a:srgbClr val="000000"/>
              </a:solidFill>
              <a:latin typeface="Arial" panose="020B0604020202020204" pitchFamily="34" charset="0"/>
              <a:cs typeface="Organy" pitchFamily="2" charset="-79"/>
            </a:endParaRPr>
          </a:p>
          <a:p>
            <a:r>
              <a:rPr lang="he-IL" sz="4000" u="sng" dirty="0">
                <a:solidFill>
                  <a:srgbClr val="000000"/>
                </a:solidFill>
                <a:latin typeface="Arial" panose="020B0604020202020204" pitchFamily="34" charset="0"/>
                <a:cs typeface="Bejerano" pitchFamily="2" charset="-79"/>
              </a:rPr>
              <a:t>ביטל עשה </a:t>
            </a:r>
            <a:r>
              <a:rPr lang="he-IL" sz="4000" dirty="0">
                <a:solidFill>
                  <a:srgbClr val="000000"/>
                </a:solidFill>
                <a:latin typeface="Arial" panose="020B0604020202020204" pitchFamily="34" charset="0"/>
                <a:cs typeface="Bejerano" pitchFamily="2" charset="-79"/>
              </a:rPr>
              <a:t>זה, </a:t>
            </a:r>
          </a:p>
          <a:p>
            <a:r>
              <a:rPr lang="he-IL" sz="4000" dirty="0">
                <a:solidFill>
                  <a:srgbClr val="000000"/>
                </a:solidFill>
                <a:latin typeface="Arial" panose="020B0604020202020204" pitchFamily="34" charset="0"/>
                <a:cs typeface="Bejerano" pitchFamily="2" charset="-79"/>
              </a:rPr>
              <a:t>מלבד </a:t>
            </a:r>
            <a:r>
              <a:rPr lang="he-IL" sz="4000" u="sng" dirty="0">
                <a:solidFill>
                  <a:srgbClr val="000000"/>
                </a:solidFill>
                <a:latin typeface="Arial" panose="020B0604020202020204" pitchFamily="34" charset="0"/>
                <a:cs typeface="Bejerano" pitchFamily="2" charset="-79"/>
              </a:rPr>
              <a:t>החיוב שבו לפי העניין שהזיקו</a:t>
            </a:r>
            <a:r>
              <a:rPr lang="he-IL" sz="4000" dirty="0">
                <a:solidFill>
                  <a:srgbClr val="000000"/>
                </a:solidFill>
                <a:latin typeface="Arial" panose="020B0604020202020204" pitchFamily="34" charset="0"/>
                <a:cs typeface="Bejerano" pitchFamily="2" charset="-79"/>
              </a:rPr>
              <a:t>, כמו שמפורש במקומו.</a:t>
            </a:r>
          </a:p>
        </p:txBody>
      </p:sp>
      <p:pic>
        <p:nvPicPr>
          <p:cNvPr id="1026" name="Picture 2" descr="לב המחלוקת">
            <a:extLst>
              <a:ext uri="{FF2B5EF4-FFF2-40B4-BE49-F238E27FC236}">
                <a16:creationId xmlns:a16="http://schemas.microsoft.com/office/drawing/2014/main" id="{D2D08D83-E857-4241-B20F-9C17020BB1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274" y="254289"/>
            <a:ext cx="2224635" cy="2006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4306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3" name="קבוצה 2">
            <a:extLst>
              <a:ext uri="{FF2B5EF4-FFF2-40B4-BE49-F238E27FC236}">
                <a16:creationId xmlns:a16="http://schemas.microsoft.com/office/drawing/2014/main" id="{296F43ED-A31E-4B93-8076-D01F31B86085}"/>
              </a:ext>
            </a:extLst>
          </p:cNvPr>
          <p:cNvGrpSpPr/>
          <p:nvPr/>
        </p:nvGrpSpPr>
        <p:grpSpPr>
          <a:xfrm>
            <a:off x="-277876" y="0"/>
            <a:ext cx="12468352" cy="6858000"/>
            <a:chOff x="-277876" y="0"/>
            <a:chExt cx="12468352" cy="6858000"/>
          </a:xfrm>
        </p:grpSpPr>
        <p:pic>
          <p:nvPicPr>
            <p:cNvPr id="4" name="תמונה 3" descr="ידיים גדולות וקטנות אוחזות בלב אדום">
              <a:extLst>
                <a:ext uri="{FF2B5EF4-FFF2-40B4-BE49-F238E27FC236}">
                  <a16:creationId xmlns:a16="http://schemas.microsoft.com/office/drawing/2014/main" id="{5DB9C4C7-43B5-4E79-B325-87C899C4210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866" t="20" b="-1"/>
            <a:stretch/>
          </p:blipFill>
          <p:spPr>
            <a:xfrm>
              <a:off x="5956300" y="0"/>
              <a:ext cx="6234176" cy="6856718"/>
            </a:xfrm>
            <a:prstGeom prst="rect">
              <a:avLst/>
            </a:prstGeom>
          </p:spPr>
        </p:pic>
        <p:pic>
          <p:nvPicPr>
            <p:cNvPr id="6" name="תמונה 5" descr="ידיים גדולות וקטנות אוחזות בלב אדום">
              <a:extLst>
                <a:ext uri="{FF2B5EF4-FFF2-40B4-BE49-F238E27FC236}">
                  <a16:creationId xmlns:a16="http://schemas.microsoft.com/office/drawing/2014/main" id="{98FB817D-06D1-48BF-B6E8-BC693C308F6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866" t="20" b="-1"/>
            <a:stretch/>
          </p:blipFill>
          <p:spPr>
            <a:xfrm flipH="1">
              <a:off x="-277876" y="1282"/>
              <a:ext cx="6234176" cy="6856718"/>
            </a:xfrm>
            <a:prstGeom prst="rect">
              <a:avLst/>
            </a:prstGeom>
          </p:spPr>
        </p:pic>
      </p:grpSp>
      <p:sp>
        <p:nvSpPr>
          <p:cNvPr id="10" name="מלבן 9">
            <a:extLst>
              <a:ext uri="{FF2B5EF4-FFF2-40B4-BE49-F238E27FC236}">
                <a16:creationId xmlns:a16="http://schemas.microsoft.com/office/drawing/2014/main" id="{B115285C-2C21-4B6A-B0D9-45E251ACE92D}"/>
              </a:ext>
            </a:extLst>
          </p:cNvPr>
          <p:cNvSpPr/>
          <p:nvPr/>
        </p:nvSpPr>
        <p:spPr>
          <a:xfrm>
            <a:off x="-277876" y="698500"/>
            <a:ext cx="12468352" cy="762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sz="3200" spc="300" dirty="0">
                <a:solidFill>
                  <a:schemeClr val="tx1"/>
                </a:solidFill>
                <a:latin typeface="FbTip Regular" panose="02020603050405020304" pitchFamily="18" charset="-79"/>
                <a:cs typeface="FbTip Regular" panose="02020603050405020304" pitchFamily="18" charset="-79"/>
              </a:rPr>
              <a:t>	על איזה מצווה עברו?</a:t>
            </a:r>
          </a:p>
        </p:txBody>
      </p:sp>
      <p:pic>
        <p:nvPicPr>
          <p:cNvPr id="1026" name="Picture 2" descr="לב המחלוקת">
            <a:extLst>
              <a:ext uri="{FF2B5EF4-FFF2-40B4-BE49-F238E27FC236}">
                <a16:creationId xmlns:a16="http://schemas.microsoft.com/office/drawing/2014/main" id="{D2D08D83-E857-4241-B20F-9C17020BB1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274" y="254289"/>
            <a:ext cx="2224635" cy="2006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A139C25A-A383-4B31-B698-07FA26A3F74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737" t="21296" b="20000"/>
          <a:stretch/>
        </p:blipFill>
        <p:spPr>
          <a:xfrm>
            <a:off x="1705866" y="2056796"/>
            <a:ext cx="8826367" cy="392461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663296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3" name="קבוצה 2">
            <a:extLst>
              <a:ext uri="{FF2B5EF4-FFF2-40B4-BE49-F238E27FC236}">
                <a16:creationId xmlns:a16="http://schemas.microsoft.com/office/drawing/2014/main" id="{296F43ED-A31E-4B93-8076-D01F31B86085}"/>
              </a:ext>
            </a:extLst>
          </p:cNvPr>
          <p:cNvGrpSpPr/>
          <p:nvPr/>
        </p:nvGrpSpPr>
        <p:grpSpPr>
          <a:xfrm>
            <a:off x="-277876" y="0"/>
            <a:ext cx="12468352" cy="6858000"/>
            <a:chOff x="-277876" y="0"/>
            <a:chExt cx="12468352" cy="6858000"/>
          </a:xfrm>
        </p:grpSpPr>
        <p:pic>
          <p:nvPicPr>
            <p:cNvPr id="4" name="תמונה 3" descr="ידיים גדולות וקטנות אוחזות בלב אדום">
              <a:extLst>
                <a:ext uri="{FF2B5EF4-FFF2-40B4-BE49-F238E27FC236}">
                  <a16:creationId xmlns:a16="http://schemas.microsoft.com/office/drawing/2014/main" id="{5DB9C4C7-43B5-4E79-B325-87C899C4210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866" t="20" b="-1"/>
            <a:stretch/>
          </p:blipFill>
          <p:spPr>
            <a:xfrm>
              <a:off x="5956300" y="0"/>
              <a:ext cx="6234176" cy="6856718"/>
            </a:xfrm>
            <a:prstGeom prst="rect">
              <a:avLst/>
            </a:prstGeom>
          </p:spPr>
        </p:pic>
        <p:pic>
          <p:nvPicPr>
            <p:cNvPr id="6" name="תמונה 5" descr="ידיים גדולות וקטנות אוחזות בלב אדום">
              <a:extLst>
                <a:ext uri="{FF2B5EF4-FFF2-40B4-BE49-F238E27FC236}">
                  <a16:creationId xmlns:a16="http://schemas.microsoft.com/office/drawing/2014/main" id="{98FB817D-06D1-48BF-B6E8-BC693C308F6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866" t="20" b="-1"/>
            <a:stretch/>
          </p:blipFill>
          <p:spPr>
            <a:xfrm flipH="1">
              <a:off x="-277876" y="1282"/>
              <a:ext cx="6234176" cy="6856718"/>
            </a:xfrm>
            <a:prstGeom prst="rect">
              <a:avLst/>
            </a:prstGeom>
          </p:spPr>
        </p:pic>
      </p:grpSp>
      <p:sp>
        <p:nvSpPr>
          <p:cNvPr id="10" name="מלבן 9">
            <a:extLst>
              <a:ext uri="{FF2B5EF4-FFF2-40B4-BE49-F238E27FC236}">
                <a16:creationId xmlns:a16="http://schemas.microsoft.com/office/drawing/2014/main" id="{B115285C-2C21-4B6A-B0D9-45E251ACE92D}"/>
              </a:ext>
            </a:extLst>
          </p:cNvPr>
          <p:cNvSpPr/>
          <p:nvPr/>
        </p:nvSpPr>
        <p:spPr>
          <a:xfrm>
            <a:off x="-277876" y="698500"/>
            <a:ext cx="12468352" cy="762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r>
              <a:rPr lang="he-IL" sz="3200" spc="300" dirty="0">
                <a:solidFill>
                  <a:schemeClr val="tx1"/>
                </a:solidFill>
                <a:latin typeface="FbTip Regular" panose="02020603050405020304" pitchFamily="18" charset="-79"/>
                <a:cs typeface="FbTip Regular" panose="02020603050405020304" pitchFamily="18" charset="-79"/>
              </a:rPr>
              <a:t>  הקדמה ל'שערי יושר' / הרב  שמעון שקופ</a:t>
            </a: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78C2FE02-809E-44A6-B157-636C8F94B48E}"/>
              </a:ext>
            </a:extLst>
          </p:cNvPr>
          <p:cNvSpPr txBox="1"/>
          <p:nvPr/>
        </p:nvSpPr>
        <p:spPr>
          <a:xfrm>
            <a:off x="115384" y="1229143"/>
            <a:ext cx="11863451" cy="4869418"/>
          </a:xfrm>
          <a:prstGeom prst="roundRect">
            <a:avLst/>
          </a:prstGeom>
          <a:solidFill>
            <a:schemeClr val="bg1">
              <a:alpha val="10000"/>
            </a:schemeClr>
          </a:solidFill>
        </p:spPr>
        <p:txBody>
          <a:bodyPr wrap="square">
            <a:spAutoFit/>
          </a:bodyPr>
          <a:lstStyle/>
          <a:p>
            <a:r>
              <a:rPr lang="he-IL" sz="2800" b="0" i="0" dirty="0">
                <a:solidFill>
                  <a:srgbClr val="002331"/>
                </a:solidFill>
                <a:effectLst/>
                <a:latin typeface="Heebo"/>
                <a:cs typeface="Bejerano" pitchFamily="2" charset="-79"/>
              </a:rPr>
              <a:t>עלינו להשתדל.. שיתברר ויתאמת אצל האדם איכותו של 'האני' שלו. </a:t>
            </a:r>
          </a:p>
          <a:p>
            <a:r>
              <a:rPr lang="he-IL" sz="2800" b="0" i="0" dirty="0">
                <a:solidFill>
                  <a:srgbClr val="002331"/>
                </a:solidFill>
                <a:effectLst/>
                <a:latin typeface="Heebo"/>
                <a:cs typeface="Bejerano" pitchFamily="2" charset="-79"/>
              </a:rPr>
              <a:t>כי בזה תימדד מעלת כל האדם לפי מדרגתו:</a:t>
            </a:r>
            <a:br>
              <a:rPr lang="he-IL" sz="2800" dirty="0">
                <a:cs typeface="Bejerano" pitchFamily="2" charset="-79"/>
              </a:rPr>
            </a:br>
            <a:r>
              <a:rPr lang="he-IL" sz="2800" b="0" i="0" dirty="0">
                <a:solidFill>
                  <a:srgbClr val="002331"/>
                </a:solidFill>
                <a:effectLst/>
                <a:latin typeface="Heebo"/>
                <a:cs typeface="Bejerano" pitchFamily="2" charset="-79"/>
              </a:rPr>
              <a:t>האיש הגס והשפל, כל ה'אני' שלו מצומצם רק בחומרו וגופו,</a:t>
            </a:r>
            <a:br>
              <a:rPr lang="he-IL" sz="2800" dirty="0">
                <a:cs typeface="Bejerano" pitchFamily="2" charset="-79"/>
              </a:rPr>
            </a:br>
            <a:r>
              <a:rPr lang="he-IL" sz="2800" b="0" i="0" dirty="0">
                <a:solidFill>
                  <a:srgbClr val="002331"/>
                </a:solidFill>
                <a:effectLst/>
                <a:latin typeface="Heebo"/>
                <a:cs typeface="Bejerano" pitchFamily="2" charset="-79"/>
              </a:rPr>
              <a:t>למעלה ממנו מי שמרגיש </a:t>
            </a:r>
            <a:r>
              <a:rPr lang="he-IL" sz="2800" b="0" i="0" dirty="0" err="1">
                <a:solidFill>
                  <a:srgbClr val="002331"/>
                </a:solidFill>
                <a:effectLst/>
                <a:latin typeface="Heebo"/>
                <a:cs typeface="Bejerano" pitchFamily="2" charset="-79"/>
              </a:rPr>
              <a:t>שה'אני</a:t>
            </a:r>
            <a:r>
              <a:rPr lang="he-IL" sz="2800" b="0" i="0" dirty="0">
                <a:solidFill>
                  <a:srgbClr val="002331"/>
                </a:solidFill>
                <a:effectLst/>
                <a:latin typeface="Heebo"/>
                <a:cs typeface="Bejerano" pitchFamily="2" charset="-79"/>
              </a:rPr>
              <a:t>' שלו הוא מורכב מגוף ונפש,</a:t>
            </a:r>
            <a:br>
              <a:rPr lang="he-IL" sz="2800" dirty="0">
                <a:cs typeface="Bejerano" pitchFamily="2" charset="-79"/>
              </a:rPr>
            </a:br>
            <a:r>
              <a:rPr lang="he-IL" sz="2800" b="0" i="0" dirty="0">
                <a:solidFill>
                  <a:srgbClr val="002331"/>
                </a:solidFill>
                <a:effectLst/>
                <a:latin typeface="Heebo"/>
                <a:cs typeface="Bejerano" pitchFamily="2" charset="-79"/>
              </a:rPr>
              <a:t>ולמעלה מזה מי שמכניס ל'אני' שלו בני ביתו ומשפחתו.</a:t>
            </a:r>
            <a:br>
              <a:rPr lang="he-IL" sz="2800" dirty="0">
                <a:cs typeface="Bejerano" pitchFamily="2" charset="-79"/>
              </a:rPr>
            </a:br>
            <a:r>
              <a:rPr lang="he-IL" sz="2800" b="0" i="0" dirty="0">
                <a:solidFill>
                  <a:srgbClr val="002331"/>
                </a:solidFill>
                <a:effectLst/>
                <a:latin typeface="Heebo"/>
                <a:cs typeface="Bejerano" pitchFamily="2" charset="-79"/>
              </a:rPr>
              <a:t>והאיש ההולך עפ״י דרכי התורה, ה'אני' שלו כולל את כל עם ישראל, </a:t>
            </a:r>
          </a:p>
          <a:p>
            <a:r>
              <a:rPr lang="he-IL" sz="2800" b="0" i="0" dirty="0">
                <a:solidFill>
                  <a:srgbClr val="002331"/>
                </a:solidFill>
                <a:effectLst/>
                <a:latin typeface="Heebo"/>
                <a:cs typeface="Bejerano" pitchFamily="2" charset="-79"/>
              </a:rPr>
              <a:t>שבאמת כל איש ישראל הוא רק כאבר מגוף האומה הישראלית.</a:t>
            </a:r>
            <a:br>
              <a:rPr lang="he-IL" sz="2800" dirty="0">
                <a:cs typeface="Bejerano" pitchFamily="2" charset="-79"/>
              </a:rPr>
            </a:br>
            <a:r>
              <a:rPr lang="he-IL" sz="2800" b="0" i="0" dirty="0">
                <a:solidFill>
                  <a:srgbClr val="002331"/>
                </a:solidFill>
                <a:effectLst/>
                <a:latin typeface="Heebo"/>
                <a:cs typeface="Bejerano" pitchFamily="2" charset="-79"/>
              </a:rPr>
              <a:t>והאיש השלם ראוי להשריש בנפשו ולהרגיש שכל העולמות כולם הוא ה'אני' שלו, </a:t>
            </a:r>
          </a:p>
          <a:p>
            <a:r>
              <a:rPr lang="he-IL" sz="2800" b="0" i="0" dirty="0">
                <a:solidFill>
                  <a:srgbClr val="002331"/>
                </a:solidFill>
                <a:effectLst/>
                <a:latin typeface="Heebo"/>
                <a:cs typeface="Bejerano" pitchFamily="2" charset="-79"/>
              </a:rPr>
              <a:t>והוא בעצמו רק כאבר קטן בתוך הבריאה כולה,</a:t>
            </a:r>
            <a:br>
              <a:rPr lang="he-IL" sz="2800" dirty="0">
                <a:cs typeface="Bejerano" pitchFamily="2" charset="-79"/>
              </a:rPr>
            </a:br>
            <a:r>
              <a:rPr lang="he-IL" sz="2800" b="0" i="0" dirty="0">
                <a:solidFill>
                  <a:srgbClr val="002331"/>
                </a:solidFill>
                <a:effectLst/>
                <a:latin typeface="Heebo"/>
                <a:cs typeface="Bejerano" pitchFamily="2" charset="-79"/>
              </a:rPr>
              <a:t>ואז גם רגש אהבת עצמו עוזר לו לאהב את כל עם ישראל, ואת כל הבריאה כולה.</a:t>
            </a:r>
            <a:endParaRPr lang="he-IL" sz="2800" dirty="0">
              <a:solidFill>
                <a:srgbClr val="000000"/>
              </a:solidFill>
              <a:latin typeface="Arial" panose="020B0604020202020204" pitchFamily="34" charset="0"/>
              <a:cs typeface="Bejerano" pitchFamily="2" charset="-79"/>
            </a:endParaRPr>
          </a:p>
        </p:txBody>
      </p:sp>
      <p:pic>
        <p:nvPicPr>
          <p:cNvPr id="1026" name="Picture 2" descr="לב המחלוקת">
            <a:extLst>
              <a:ext uri="{FF2B5EF4-FFF2-40B4-BE49-F238E27FC236}">
                <a16:creationId xmlns:a16="http://schemas.microsoft.com/office/drawing/2014/main" id="{D2D08D83-E857-4241-B20F-9C17020BB1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9286" y="361937"/>
            <a:ext cx="2224635" cy="2006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לב המחלוקת">
            <a:extLst>
              <a:ext uri="{FF2B5EF4-FFF2-40B4-BE49-F238E27FC236}">
                <a16:creationId xmlns:a16="http://schemas.microsoft.com/office/drawing/2014/main" id="{45F78E27-D0FF-47AD-87DE-269982E289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3140" y="2154762"/>
            <a:ext cx="1481268" cy="1335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8513208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6464</TotalTime>
  <Words>651</Words>
  <Application>Microsoft Office PowerPoint</Application>
  <PresentationFormat>מסך רחב</PresentationFormat>
  <Paragraphs>61</Paragraphs>
  <Slides>11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6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11</vt:i4>
      </vt:variant>
    </vt:vector>
  </HeadingPairs>
  <TitlesOfParts>
    <vt:vector size="18" baseType="lpstr">
      <vt:lpstr>Arial</vt:lpstr>
      <vt:lpstr>Bejerano</vt:lpstr>
      <vt:lpstr>Calibri</vt:lpstr>
      <vt:lpstr>Calibri Light</vt:lpstr>
      <vt:lpstr>FbTip Regular</vt:lpstr>
      <vt:lpstr>Heebo</vt:lpstr>
      <vt:lpstr>ערכת נושא Office</vt:lpstr>
      <vt:lpstr>אהבת ישראל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אהבת ישראל</dc:title>
  <dc:creator>ברכה חנה שרייבר</dc:creator>
  <cp:lastModifiedBy>אפרים לוי</cp:lastModifiedBy>
  <cp:revision>35</cp:revision>
  <dcterms:created xsi:type="dcterms:W3CDTF">2021-01-19T20:53:20Z</dcterms:created>
  <dcterms:modified xsi:type="dcterms:W3CDTF">2026-07-03T08:33:16Z</dcterms:modified>
</cp:coreProperties>
</file>