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1" r:id="rId2"/>
    <p:sldId id="256" r:id="rId3"/>
    <p:sldId id="258" r:id="rId4"/>
    <p:sldId id="257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54F5EA-7F4B-47CF-B35D-C55C0A9AA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8846D80-31D1-4A80-A7DC-C86E9D075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42FC5CF-6680-4A42-93BF-33691C98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1765DE1-122D-40F3-B3D2-809E5399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FAD52C2-028E-4E5C-A0E6-5675CB1F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120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AEFB96-D9B4-4D5C-9E03-07A5D034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ECC4057-8ACB-4A5D-88FA-C4EC175F8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CCA692-21BF-4412-AC74-7E246B7F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AA76AA7-0AC7-4287-8373-6A550683D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0B2FCF8-DCE6-4096-8743-B85D5080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99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2A430C-5D74-43E4-B0DB-248A69D25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0BC8B70-1544-4850-B34F-4F70FB68A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02AAA13-E8FC-44E1-A97F-6405593A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D9495F4-F7AA-4E84-9C77-6F116A03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82BA408-C6EE-4160-939B-BFAF8D21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961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CB2E76-AA15-48A5-A078-90D3F1C8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3A0C292-6A42-403E-8D70-40A93DD67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DE79DFE-C5E9-445D-AE0D-B9655FA68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EA41473-0054-4B65-ACAA-1BE9D6B2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DC01320-E88F-461A-BE66-BD00D3A2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73F8341-5AFA-4C98-96C6-206645F4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41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44FF57-A2B6-4376-BF21-747D7CB1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B869452-F840-4A8F-8A6F-2352F352B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AA9CC25-501A-4546-8557-85E71F73C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55A854A-A99C-4569-BE43-645DECCED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4BBE719-346C-45D6-A2FA-C9A50C875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DA4258F-FF8F-4CFF-82D7-B83C4ABC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72756C5-CB7B-40D7-8ABD-14A664E1D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5EBE166-5215-41C0-A170-4E461939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399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D841E8-C4A5-4023-849F-4C423FE7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B703D0E-5FFE-4A86-8D23-BD339376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4A511B6-E579-40A6-BB3C-665D5578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088A3C2-C68E-4884-8414-FC88F956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542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7D3A3D7-452F-4942-A25A-391B551A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040CA5F-D82A-4AE4-ACD2-6C84C21C3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9053207-0E8F-44C7-B102-27ADE0D6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393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B8315F-C13E-4F7E-A764-4BD5CE61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2BC3DA-4279-4C34-A8E1-2F0BA67B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88A7B9A-6525-4BD5-A364-EEAD82295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28667CD-99ED-48A8-B500-543B8FE7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511F6CC-25E3-418F-A782-029DF7D2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5921F9A-AB3F-42DA-B9B8-99CC4227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23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B4FAD0-26AE-4993-8205-29CD696A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F1716B2-2F22-4345-A2BE-8BB28E9B6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90BF04F-45A5-4903-B29C-261E2F6D3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BC30E33-7A63-4B15-A08E-323A1E93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AB638E9-D432-4DE4-853D-749013A83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C78F8E1-AD9F-413E-8ECA-C4705445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308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2C8CD0-985D-4741-BADD-B3A3BD99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9C3F998-AB3E-4826-8B33-B9E9F2E3C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D7E1C1-E409-4EAD-BD55-04305DF7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CB412C2-E525-4967-8F76-75E43BF0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E994968-F4B3-404F-9E3B-B49B26312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685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A1CD2D1-CB1E-4769-A729-F049FF59A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F78A0CA-8A90-414F-A58F-A4F0ED1C3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39E4820-CDDE-4B19-A32A-32A5AD1B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42C7219-F457-4E58-9695-1743DB44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FACD2B3-3E23-42C5-B3C3-6422F0B3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053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5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4E6908B-FE64-44E1-9C12-1C59739C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075BB1B-0F57-42E0-88AF-3F6373B68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3CADAB-8C32-4E22-9F18-17537D678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AD306-7EA9-40E3-88B0-CD0392BFB498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8CBC665-8C3E-49AD-8BC5-43F198AA0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123288-97A5-4221-A555-3BC751D33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C395D-F9EA-42AB-B196-C8C0D015D9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282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40361E-5DD2-42BD-AD4B-F6C4B280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0525" y="86562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he-IL" sz="6600" dirty="0"/>
              <a:t>שלא להונות אחד מישראל בדברים</a:t>
            </a:r>
            <a:br>
              <a:rPr lang="he-IL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C4361E7-ADC4-4C55-A04B-43D3B5E43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53651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                             </a:t>
            </a:r>
          </a:p>
          <a:p>
            <a:pPr marL="0" indent="0">
              <a:buNone/>
            </a:pPr>
            <a:endParaRPr lang="he-IL" sz="4000" dirty="0"/>
          </a:p>
          <a:p>
            <a:pPr marL="0" indent="0">
              <a:buNone/>
            </a:pPr>
            <a:endParaRPr lang="he-IL" sz="4000" dirty="0"/>
          </a:p>
          <a:p>
            <a:pPr marL="0" indent="0">
              <a:buNone/>
            </a:pPr>
            <a:r>
              <a:rPr lang="he-IL" sz="4000" dirty="0"/>
              <a:t>                                                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B73521D-E44F-4D1E-953E-1B033085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268" y="1952625"/>
            <a:ext cx="7972425" cy="4039755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10D9E30-C05F-48B9-9C03-B67370CDA1E7}"/>
              </a:ext>
            </a:extLst>
          </p:cNvPr>
          <p:cNvSpPr txBox="1"/>
          <p:nvPr/>
        </p:nvSpPr>
        <p:spPr>
          <a:xfrm>
            <a:off x="-1984042" y="4942745"/>
            <a:ext cx="628982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400" b="1" dirty="0"/>
              <a:t>מצווה של"ח </a:t>
            </a:r>
          </a:p>
          <a:p>
            <a:r>
              <a:rPr lang="he-IL" sz="2400" b="1" dirty="0"/>
              <a:t>יעל </a:t>
            </a:r>
            <a:r>
              <a:rPr lang="he-IL" sz="2400" b="1" dirty="0" err="1"/>
              <a:t>קליר</a:t>
            </a:r>
            <a:r>
              <a:rPr lang="he-IL" sz="2400" b="1" dirty="0"/>
              <a:t> – אולפנת </a:t>
            </a:r>
            <a:r>
              <a:rPr lang="he-IL" sz="2400" b="1" dirty="0" err="1"/>
              <a:t>בנ"ע</a:t>
            </a:r>
            <a:r>
              <a:rPr lang="he-IL" sz="2400" b="1" dirty="0"/>
              <a:t> מירון</a:t>
            </a:r>
          </a:p>
        </p:txBody>
      </p:sp>
    </p:spTree>
    <p:extLst>
      <p:ext uri="{BB962C8B-B14F-4D97-AF65-F5344CB8AC3E}">
        <p14:creationId xmlns:p14="http://schemas.microsoft.com/office/powerpoint/2010/main" val="17327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1B047DB-C1DD-4F95-83F3-414F659B64FC}"/>
              </a:ext>
            </a:extLst>
          </p:cNvPr>
          <p:cNvSpPr txBox="1"/>
          <p:nvPr/>
        </p:nvSpPr>
        <p:spPr>
          <a:xfrm>
            <a:off x="2438400" y="3548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5400" b="1" dirty="0">
                <a:solidFill>
                  <a:schemeClr val="bg1"/>
                </a:solidFill>
              </a:rPr>
              <a:t>הגדרת המצווה- 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BB7B28E-CAD1-4573-AA5B-93B537307D9F}"/>
              </a:ext>
            </a:extLst>
          </p:cNvPr>
          <p:cNvSpPr/>
          <p:nvPr/>
        </p:nvSpPr>
        <p:spPr>
          <a:xfrm>
            <a:off x="1647825" y="1526620"/>
            <a:ext cx="8439150" cy="100012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4800" dirty="0"/>
              <a:t>שלא להונות אחד מישראל בדברים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310683CF-6604-4E11-A683-02239AC5E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37" y="2770908"/>
            <a:ext cx="4718338" cy="349868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5B0F47E5-5EC9-4D6D-B921-464F9ED34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7" y="2508809"/>
            <a:ext cx="8352244" cy="38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3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E9E7096F-28B8-477E-8398-1E5BBFD6C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71537">
            <a:off x="1540301" y="2184235"/>
            <a:ext cx="8329356" cy="3172406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440200C-AA62-418A-976E-368AA41BBF9A}"/>
              </a:ext>
            </a:extLst>
          </p:cNvPr>
          <p:cNvSpPr txBox="1"/>
          <p:nvPr/>
        </p:nvSpPr>
        <p:spPr>
          <a:xfrm>
            <a:off x="-562034" y="9964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5400" dirty="0"/>
              <a:t>המקור למצווה: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9E98AA2-5796-459C-89E8-A9082E06454D}"/>
              </a:ext>
            </a:extLst>
          </p:cNvPr>
          <p:cNvSpPr txBox="1"/>
          <p:nvPr/>
        </p:nvSpPr>
        <p:spPr>
          <a:xfrm>
            <a:off x="-3188493" y="1943967"/>
            <a:ext cx="6376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600" dirty="0"/>
              <a:t>ויקרא כה </a:t>
            </a:r>
            <a:r>
              <a:rPr lang="he-IL" sz="3600" dirty="0" err="1"/>
              <a:t>יז</a:t>
            </a:r>
            <a:r>
              <a:rPr lang="he-IL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285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1C369F2A-B82B-40D5-B147-A613F2BF5DCA}"/>
              </a:ext>
            </a:extLst>
          </p:cNvPr>
          <p:cNvSpPr/>
          <p:nvPr/>
        </p:nvSpPr>
        <p:spPr>
          <a:xfrm>
            <a:off x="7862886" y="604836"/>
            <a:ext cx="3295650" cy="18764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אם היה בעל תשובה,</a:t>
            </a:r>
          </a:p>
          <a:p>
            <a:pPr algn="ctr"/>
            <a:r>
              <a:rPr lang="he-IL" sz="2400" dirty="0"/>
              <a:t> לא יאמר לו: </a:t>
            </a:r>
          </a:p>
          <a:p>
            <a:pPr algn="ctr"/>
            <a:r>
              <a:rPr lang="he-IL" sz="2400" dirty="0"/>
              <a:t>"זכור מעשיך הראשונים" 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557BD59-8844-4279-B496-EEED6AA2E5E7}"/>
              </a:ext>
            </a:extLst>
          </p:cNvPr>
          <p:cNvSpPr/>
          <p:nvPr/>
        </p:nvSpPr>
        <p:spPr>
          <a:xfrm>
            <a:off x="2805113" y="995362"/>
            <a:ext cx="4214812" cy="187642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היו </a:t>
            </a:r>
            <a:r>
              <a:rPr lang="he-IL" sz="2400" dirty="0" err="1"/>
              <a:t>חולאים</a:t>
            </a:r>
            <a:r>
              <a:rPr lang="he-IL" sz="2400" dirty="0"/>
              <a:t> (=מחלות) באין עליו, לא יאמר לו כדרך שאמרו חבריו לאיוב: </a:t>
            </a:r>
            <a:br>
              <a:rPr lang="he-IL" sz="2400" dirty="0"/>
            </a:br>
            <a:r>
              <a:rPr lang="he-IL" sz="2400" dirty="0"/>
              <a:t>(ד ו) "הלא יראתך </a:t>
            </a:r>
            <a:r>
              <a:rPr lang="he-IL" sz="2400" dirty="0" err="1"/>
              <a:t>כסלתך</a:t>
            </a:r>
            <a:r>
              <a:rPr lang="he-IL" sz="2400" dirty="0"/>
              <a:t> וגו'". </a:t>
            </a:r>
          </a:p>
        </p:txBody>
      </p:sp>
      <p:sp>
        <p:nvSpPr>
          <p:cNvPr id="10" name="פיצוץ : 14 נקודות 9">
            <a:extLst>
              <a:ext uri="{FF2B5EF4-FFF2-40B4-BE49-F238E27FC236}">
                <a16:creationId xmlns:a16="http://schemas.microsoft.com/office/drawing/2014/main" id="{27B3A141-E33E-4A71-902C-D708F1A1F802}"/>
              </a:ext>
            </a:extLst>
          </p:cNvPr>
          <p:cNvSpPr/>
          <p:nvPr/>
        </p:nvSpPr>
        <p:spPr>
          <a:xfrm rot="20863722">
            <a:off x="-127027" y="1759715"/>
            <a:ext cx="4091619" cy="2224139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לא לומר לו שהדבר נובע מחמת חסרון ביראת שמים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7516ED44-AFD2-45F9-8FCD-D948C4163A68}"/>
              </a:ext>
            </a:extLst>
          </p:cNvPr>
          <p:cNvSpPr/>
          <p:nvPr/>
        </p:nvSpPr>
        <p:spPr>
          <a:xfrm>
            <a:off x="6457950" y="3196452"/>
            <a:ext cx="4214811" cy="17811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ראה </a:t>
            </a:r>
            <a:r>
              <a:rPr lang="he-IL" sz="2400" dirty="0" err="1"/>
              <a:t>חמרים</a:t>
            </a:r>
            <a:r>
              <a:rPr lang="he-IL" sz="2400" dirty="0"/>
              <a:t> (=בעלי חמורים) מבקשים תבואה, לא יאמר להם: "לכו אצל פלוני", והוא יודע שאין לו.</a:t>
            </a:r>
          </a:p>
        </p:txBody>
      </p:sp>
      <p:sp>
        <p:nvSpPr>
          <p:cNvPr id="12" name="פיצוץ : 14 נקודות 11">
            <a:extLst>
              <a:ext uri="{FF2B5EF4-FFF2-40B4-BE49-F238E27FC236}">
                <a16:creationId xmlns:a16="http://schemas.microsoft.com/office/drawing/2014/main" id="{B4B46C27-C273-4D0B-A734-7B8C5CCBFCB3}"/>
              </a:ext>
            </a:extLst>
          </p:cNvPr>
          <p:cNvSpPr/>
          <p:nvPr/>
        </p:nvSpPr>
        <p:spPr>
          <a:xfrm>
            <a:off x="6835676" y="4262647"/>
            <a:ext cx="5350069" cy="2390775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לא לומר לסוחרים ללכת לקנות מאדם מסוים כשיודעים שאותו אדם כלל לא מוכר.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8BE4BD20-B77E-4983-B398-8353EE04472C}"/>
              </a:ext>
            </a:extLst>
          </p:cNvPr>
          <p:cNvSpPr/>
          <p:nvPr/>
        </p:nvSpPr>
        <p:spPr>
          <a:xfrm>
            <a:off x="2590800" y="3986214"/>
            <a:ext cx="3352800" cy="158115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ולא יאמר לתגר (=מוכר): "בכמה חפץ זה?"  </a:t>
            </a:r>
          </a:p>
          <a:p>
            <a:pPr algn="ctr"/>
            <a:r>
              <a:rPr lang="he-IL" sz="2400" dirty="0"/>
              <a:t>והוא אינו רוצה לקח</a:t>
            </a:r>
          </a:p>
        </p:txBody>
      </p:sp>
    </p:spTree>
    <p:extLst>
      <p:ext uri="{BB962C8B-B14F-4D97-AF65-F5344CB8AC3E}">
        <p14:creationId xmlns:p14="http://schemas.microsoft.com/office/powerpoint/2010/main" val="3872917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F23FD2-47E2-42C0-9FD9-F6ACA296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62" y="48894"/>
            <a:ext cx="10515600" cy="1325563"/>
          </a:xfrm>
        </p:spPr>
        <p:txBody>
          <a:bodyPr/>
          <a:lstStyle/>
          <a:p>
            <a:r>
              <a:rPr lang="he-IL" dirty="0"/>
              <a:t>שורש המצווה: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8523290-786A-42BA-9C9E-AA5D07C1AC43}"/>
              </a:ext>
            </a:extLst>
          </p:cNvPr>
          <p:cNvSpPr txBox="1"/>
          <p:nvPr/>
        </p:nvSpPr>
        <p:spPr>
          <a:xfrm>
            <a:off x="5302927" y="1246804"/>
            <a:ext cx="63534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sz="3200" dirty="0"/>
          </a:p>
          <a:p>
            <a:r>
              <a:rPr lang="he-IL" sz="3200" dirty="0"/>
              <a:t> </a:t>
            </a:r>
            <a:endParaRPr lang="he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B93D7D7-ECEA-49D9-A54D-EF4648C6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471" y="3078540"/>
            <a:ext cx="5990442" cy="347034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51BA3147-5658-4E58-A1C2-740F843BD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363" y="908226"/>
            <a:ext cx="3792984" cy="5386042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B9BC05B-9426-442E-AF65-761D6BC7BB1D}"/>
              </a:ext>
            </a:extLst>
          </p:cNvPr>
          <p:cNvSpPr txBox="1"/>
          <p:nvPr/>
        </p:nvSpPr>
        <p:spPr>
          <a:xfrm>
            <a:off x="5432393" y="2226629"/>
            <a:ext cx="60945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dirty="0"/>
          </a:p>
          <a:p>
            <a:r>
              <a:rPr lang="he-IL" sz="3200" dirty="0"/>
              <a:t>וקשה המחלקת כמה קללות וכמה תקלות תלויות בה. 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05B99FC3-6A27-499A-AE7C-A0E9DAD114C0}"/>
              </a:ext>
            </a:extLst>
          </p:cNvPr>
          <p:cNvSpPr txBox="1"/>
          <p:nvPr/>
        </p:nvSpPr>
        <p:spPr>
          <a:xfrm>
            <a:off x="2727663" y="1238797"/>
            <a:ext cx="66116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200" dirty="0"/>
              <a:t>כי הוא לתת שלום בין הבריות,</a:t>
            </a:r>
          </a:p>
          <a:p>
            <a:r>
              <a:rPr lang="he-IL" sz="3200" dirty="0"/>
              <a:t>וגדול השלום שבו הברכה מצויה בעולם</a:t>
            </a:r>
            <a:r>
              <a:rPr lang="he-IL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14204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thruBlk="1"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6DAD6D-F6CD-4654-A1B2-C54E50EE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701936">
            <a:off x="-7006142" y="3395036"/>
            <a:ext cx="10515600" cy="1325563"/>
          </a:xfrm>
        </p:spPr>
        <p:txBody>
          <a:bodyPr/>
          <a:lstStyle/>
          <a:p>
            <a:r>
              <a:rPr lang="he-IL" dirty="0"/>
              <a:t>דיני המצווה: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8DD7A80-2FF5-450B-9287-179B5B9B3C65}"/>
              </a:ext>
            </a:extLst>
          </p:cNvPr>
          <p:cNvSpPr/>
          <p:nvPr/>
        </p:nvSpPr>
        <p:spPr>
          <a:xfrm>
            <a:off x="3466956" y="735593"/>
            <a:ext cx="7234561" cy="16956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r>
              <a:rPr lang="he-IL" sz="2400" dirty="0"/>
              <a:t>כמה אזהרות וכמה </a:t>
            </a:r>
            <a:r>
              <a:rPr lang="he-IL" sz="2400" dirty="0" err="1"/>
              <a:t>זרוזין</a:t>
            </a:r>
            <a:r>
              <a:rPr lang="he-IL" sz="2400" dirty="0"/>
              <a:t> שהזהירונו </a:t>
            </a:r>
            <a:r>
              <a:rPr lang="he-IL" sz="2400" dirty="0" err="1"/>
              <a:t>זכרונם</a:t>
            </a:r>
            <a:r>
              <a:rPr lang="he-IL" sz="2400" dirty="0"/>
              <a:t> לברכה </a:t>
            </a:r>
            <a:r>
              <a:rPr lang="he-IL" sz="2400" dirty="0" err="1"/>
              <a:t>בענין</a:t>
            </a:r>
            <a:r>
              <a:rPr lang="he-IL" sz="2400" dirty="0"/>
              <a:t> זה,</a:t>
            </a:r>
            <a:br>
              <a:rPr lang="he-IL" sz="2400" dirty="0"/>
            </a:br>
            <a:r>
              <a:rPr lang="he-IL" sz="2400" dirty="0"/>
              <a:t> </a:t>
            </a:r>
            <a:r>
              <a:rPr lang="he-IL" sz="2800" b="1" dirty="0"/>
              <a:t>שלא להכאיב הבריות בשום דבר ולא לביישם</a:t>
            </a:r>
            <a:r>
              <a:rPr lang="he-IL" sz="2400" dirty="0"/>
              <a:t>,</a:t>
            </a:r>
            <a:br>
              <a:rPr lang="he-IL" sz="2400" dirty="0"/>
            </a:br>
            <a:r>
              <a:rPr lang="he-IL" sz="2400" dirty="0"/>
              <a:t> והפליגו בדבר עד שאמרו (שם): 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84BE62E-5698-4B29-A3C4-2241C7496809}"/>
              </a:ext>
            </a:extLst>
          </p:cNvPr>
          <p:cNvSpPr/>
          <p:nvPr/>
        </p:nvSpPr>
        <p:spPr>
          <a:xfrm rot="19705762">
            <a:off x="2918963" y="3048373"/>
            <a:ext cx="3382392" cy="185099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שלא יתלה עיניו על המקח, בשעה שאין לו דמים (=כסף), 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631AA095-EAF9-4FB7-BEA4-3BEE01C7DDF4}"/>
              </a:ext>
            </a:extLst>
          </p:cNvPr>
          <p:cNvSpPr/>
          <p:nvPr/>
        </p:nvSpPr>
        <p:spPr>
          <a:xfrm rot="19615385">
            <a:off x="5585415" y="3506916"/>
            <a:ext cx="4995169" cy="19264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וראוי להיזהר שאפילו ברמז דבריו לא יהיה נשמע </a:t>
            </a:r>
            <a:r>
              <a:rPr lang="he-IL" sz="2400" dirty="0" err="1"/>
              <a:t>חרוף</a:t>
            </a:r>
            <a:r>
              <a:rPr lang="he-IL" sz="2400" dirty="0"/>
              <a:t> (=העלבה) לבני אדם</a:t>
            </a:r>
            <a:r>
              <a:rPr lang="he-IL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33153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57445FC0-289F-4260-BA82-091196116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83" y="343827"/>
            <a:ext cx="12677313" cy="6926166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8202C8E-64DD-412A-A359-8017EB27FE5D}"/>
              </a:ext>
            </a:extLst>
          </p:cNvPr>
          <p:cNvSpPr txBox="1"/>
          <p:nvPr/>
        </p:nvSpPr>
        <p:spPr>
          <a:xfrm>
            <a:off x="4793942" y="949015"/>
            <a:ext cx="60279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dirty="0"/>
              <a:t>כי התורה הקפידה הרבה </a:t>
            </a:r>
            <a:r>
              <a:rPr lang="he-IL" sz="2400" b="1" dirty="0"/>
              <a:t>באונאת הדברים</a:t>
            </a:r>
            <a:r>
              <a:rPr lang="he-IL" sz="2400" dirty="0"/>
              <a:t>, </a:t>
            </a:r>
          </a:p>
          <a:p>
            <a:r>
              <a:rPr lang="he-IL" sz="2400" dirty="0"/>
              <a:t>לפי שהוא דבר קשה מאד ללב הבריות, </a:t>
            </a:r>
          </a:p>
          <a:p>
            <a:r>
              <a:rPr lang="he-IL" sz="2400" dirty="0"/>
              <a:t>והרבה מבני אדם יקפידו עליהם יותר מעל הממון.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59FA494F-E6BE-451C-9919-D25703C6AB06}"/>
              </a:ext>
            </a:extLst>
          </p:cNvPr>
          <p:cNvSpPr/>
          <p:nvPr/>
        </p:nvSpPr>
        <p:spPr>
          <a:xfrm>
            <a:off x="5663954" y="2306560"/>
            <a:ext cx="4678532" cy="24799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" ג</a:t>
            </a:r>
            <a:r>
              <a:rPr lang="he-IL" sz="3200" dirty="0">
                <a:latin typeface="Guttman Stam" panose="02010401010101010101" pitchFamily="2" charset="-79"/>
                <a:cs typeface="Guttman Stam" panose="02010401010101010101" pitchFamily="2" charset="-79"/>
              </a:rPr>
              <a:t>דולה אונאת דברים מאונאת ממון</a:t>
            </a:r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,</a:t>
            </a:r>
          </a:p>
          <a:p>
            <a:pPr algn="ctr"/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שבאונאת דברים הוא אומר: </a:t>
            </a:r>
            <a:r>
              <a:rPr lang="he-IL" sz="3200" dirty="0">
                <a:latin typeface="Guttman Stam" panose="02010401010101010101" pitchFamily="2" charset="-79"/>
                <a:cs typeface="Guttman Stam" panose="02010401010101010101" pitchFamily="2" charset="-79"/>
              </a:rPr>
              <a:t>'ויראת </a:t>
            </a:r>
            <a:r>
              <a:rPr lang="he-IL" sz="3200" dirty="0" err="1">
                <a:latin typeface="Guttman Stam" panose="02010401010101010101" pitchFamily="2" charset="-79"/>
                <a:cs typeface="Guttman Stam" panose="02010401010101010101" pitchFamily="2" charset="-79"/>
              </a:rPr>
              <a:t>מאלהיך</a:t>
            </a:r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' וגו'."</a:t>
            </a:r>
          </a:p>
        </p:txBody>
      </p:sp>
      <p:sp>
        <p:nvSpPr>
          <p:cNvPr id="10" name="פיצוץ : 14 נקודות 9">
            <a:extLst>
              <a:ext uri="{FF2B5EF4-FFF2-40B4-BE49-F238E27FC236}">
                <a16:creationId xmlns:a16="http://schemas.microsoft.com/office/drawing/2014/main" id="{79C9729E-8D38-4DC2-A4A6-756F851530EA}"/>
              </a:ext>
            </a:extLst>
          </p:cNvPr>
          <p:cNvSpPr/>
          <p:nvPr/>
        </p:nvSpPr>
        <p:spPr>
          <a:xfrm>
            <a:off x="5776404" y="4057849"/>
            <a:ext cx="6415596" cy="2479984"/>
          </a:xfrm>
          <a:prstGeom prst="irregularSeal2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כי האדם יראה לעיניים והוא יראה ללבב</a:t>
            </a:r>
          </a:p>
        </p:txBody>
      </p:sp>
    </p:spTree>
    <p:extLst>
      <p:ext uri="{BB962C8B-B14F-4D97-AF65-F5344CB8AC3E}">
        <p14:creationId xmlns:p14="http://schemas.microsoft.com/office/powerpoint/2010/main" val="18441161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F7D40B-D721-4E34-81A1-066639B5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ונוהגת מצווה זו-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8DA7FAA-5155-46F3-954D-C78312895C6E}"/>
              </a:ext>
            </a:extLst>
          </p:cNvPr>
          <p:cNvSpPr/>
          <p:nvPr/>
        </p:nvSpPr>
        <p:spPr>
          <a:xfrm>
            <a:off x="9190181" y="1690688"/>
            <a:ext cx="1961965" cy="648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בכל מקום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401D25B-69F4-44AF-AF96-DE09D66B4590}"/>
              </a:ext>
            </a:extLst>
          </p:cNvPr>
          <p:cNvSpPr/>
          <p:nvPr/>
        </p:nvSpPr>
        <p:spPr>
          <a:xfrm>
            <a:off x="7409757" y="3827561"/>
            <a:ext cx="2095131" cy="68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בנשים ובגברים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A161478A-5B2B-4F51-9B47-F2764579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062" y="2040487"/>
            <a:ext cx="4003829" cy="2903414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7C34E75-ECA0-4599-9908-7593D7DF5BE2}"/>
              </a:ext>
            </a:extLst>
          </p:cNvPr>
          <p:cNvSpPr txBox="1"/>
          <p:nvPr/>
        </p:nvSpPr>
        <p:spPr>
          <a:xfrm>
            <a:off x="0" y="811810"/>
            <a:ext cx="6094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b="1" dirty="0"/>
              <a:t>          ואפילו </a:t>
            </a:r>
            <a:r>
              <a:rPr lang="he-IL" sz="2400" b="1" dirty="0"/>
              <a:t>בקטנים- </a:t>
            </a:r>
          </a:p>
          <a:p>
            <a:r>
              <a:rPr lang="he-IL" sz="2000" b="1" dirty="0"/>
              <a:t>ראוי </a:t>
            </a:r>
            <a:r>
              <a:rPr lang="he-IL" sz="2000" b="1" dirty="0" err="1"/>
              <a:t>להזהר</a:t>
            </a:r>
            <a:r>
              <a:rPr lang="he-IL" sz="2000" b="1" dirty="0"/>
              <a:t> שלא להכאיבן בדברים יותר </a:t>
            </a:r>
            <a:r>
              <a:rPr lang="he-IL" sz="2000" b="1" dirty="0" err="1"/>
              <a:t>מדאי</a:t>
            </a:r>
            <a:r>
              <a:rPr lang="he-IL" sz="2000" b="1" dirty="0"/>
              <a:t>,</a:t>
            </a:r>
          </a:p>
          <a:p>
            <a:r>
              <a:rPr lang="he-IL" sz="2000" b="1" dirty="0"/>
              <a:t> זולתי במה </a:t>
            </a:r>
            <a:r>
              <a:rPr lang="he-IL" sz="2000" b="1" dirty="0" err="1"/>
              <a:t>שצריכין</a:t>
            </a:r>
            <a:r>
              <a:rPr lang="he-IL" sz="2000" b="1" dirty="0"/>
              <a:t> הרבה כדי </a:t>
            </a:r>
            <a:r>
              <a:rPr lang="he-IL" sz="2000" b="1" dirty="0" err="1"/>
              <a:t>שיקחו</a:t>
            </a:r>
            <a:r>
              <a:rPr lang="he-IL" sz="2000" b="1" dirty="0"/>
              <a:t> מוסר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F586F88D-2828-4147-870D-270C906A6284}"/>
              </a:ext>
            </a:extLst>
          </p:cNvPr>
          <p:cNvSpPr txBox="1"/>
          <p:nvPr/>
        </p:nvSpPr>
        <p:spPr>
          <a:xfrm>
            <a:off x="-1014612" y="5101484"/>
            <a:ext cx="65827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b="1" dirty="0"/>
              <a:t>ואפילו בבניו ובנותיו בני ביתו של אדם, </a:t>
            </a:r>
            <a:br>
              <a:rPr lang="he-IL" sz="2000" b="1" dirty="0"/>
            </a:br>
            <a:r>
              <a:rPr lang="he-IL" sz="2000" b="1" dirty="0"/>
              <a:t>והמקל בהם שלא לצערם בעניינים אלה</a:t>
            </a:r>
          </a:p>
          <a:p>
            <a:r>
              <a:rPr lang="he-IL" sz="2000" b="1" dirty="0"/>
              <a:t> ימצא </a:t>
            </a:r>
            <a:r>
              <a:rPr lang="he-IL" sz="2400" b="1" dirty="0"/>
              <a:t>חיים ברכה וכבוד</a:t>
            </a:r>
            <a:r>
              <a:rPr lang="he-IL" dirty="0"/>
              <a:t>. 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986AEB5B-E08E-4356-BEAA-A2589A09F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530" y="2772804"/>
            <a:ext cx="2103302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4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089EBEED-3D88-4FD2-95AB-FBA957D6B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508" y="2414559"/>
            <a:ext cx="2805450" cy="2752245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617A38B1-3584-44AF-8258-A5C5B1F99413}"/>
              </a:ext>
            </a:extLst>
          </p:cNvPr>
          <p:cNvSpPr/>
          <p:nvPr/>
        </p:nvSpPr>
        <p:spPr>
          <a:xfrm>
            <a:off x="6729274" y="1249532"/>
            <a:ext cx="4856086" cy="43589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r>
              <a:rPr lang="he-IL" sz="2400" dirty="0"/>
              <a:t>והעובר על זה, והכאיב את חברו בדברים</a:t>
            </a:r>
            <a:br>
              <a:rPr lang="he-IL" sz="2400" dirty="0"/>
            </a:br>
            <a:r>
              <a:rPr lang="he-IL" sz="2400" dirty="0"/>
              <a:t>באותן שפרשו חכמינו </a:t>
            </a:r>
            <a:r>
              <a:rPr lang="he-IL" sz="2400" dirty="0" err="1"/>
              <a:t>זכרונם</a:t>
            </a:r>
            <a:r>
              <a:rPr lang="he-IL" sz="2400" dirty="0"/>
              <a:t> לברכה- בבעל תשובה, ובחולה,</a:t>
            </a:r>
          </a:p>
          <a:p>
            <a:r>
              <a:rPr lang="he-IL" sz="2400" dirty="0"/>
              <a:t> וכיוצא בהן- </a:t>
            </a:r>
          </a:p>
          <a:p>
            <a:r>
              <a:rPr lang="he-IL" sz="2400" dirty="0"/>
              <a:t>עבר על לאו זה, </a:t>
            </a:r>
          </a:p>
          <a:p>
            <a:r>
              <a:rPr lang="he-IL" sz="2400" dirty="0"/>
              <a:t>אבל אין </a:t>
            </a:r>
            <a:r>
              <a:rPr lang="he-IL" sz="2400" dirty="0" err="1"/>
              <a:t>לוקין</a:t>
            </a:r>
            <a:r>
              <a:rPr lang="he-IL" sz="2400" dirty="0"/>
              <a:t> עליו, </a:t>
            </a:r>
            <a:r>
              <a:rPr lang="he-IL" sz="2400" b="1" dirty="0"/>
              <a:t>לפי שאין בו מעשה</a:t>
            </a:r>
            <a:r>
              <a:rPr lang="he-IL" sz="2400" dirty="0"/>
              <a:t>.</a:t>
            </a:r>
          </a:p>
          <a:p>
            <a:r>
              <a:rPr lang="he-IL" sz="2400" dirty="0"/>
              <a:t>וכמה </a:t>
            </a:r>
            <a:r>
              <a:rPr lang="he-IL" sz="2400" dirty="0" err="1"/>
              <a:t>מלקיות</a:t>
            </a:r>
            <a:r>
              <a:rPr lang="he-IL" sz="2400" dirty="0"/>
              <a:t> מבלי רצועה של עגל יש ביד האדון המצווה על זה, יתעלה ויתברך (=ה'). 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65CDCFA-BC2A-4251-9284-B2A0A413C48C}"/>
              </a:ext>
            </a:extLst>
          </p:cNvPr>
          <p:cNvSpPr/>
          <p:nvPr/>
        </p:nvSpPr>
        <p:spPr>
          <a:xfrm rot="20800930">
            <a:off x="177977" y="1631409"/>
            <a:ext cx="5184560" cy="18021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עונש מלקות ניתן רק על עברות שבהן אדם עשה מעשה.</a:t>
            </a:r>
          </a:p>
          <a:p>
            <a:pPr algn="ctr"/>
            <a:r>
              <a:rPr lang="he-IL" sz="2000" b="1" u="sng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דיבור איננו נחשב כמעשה </a:t>
            </a:r>
            <a:r>
              <a:rPr lang="he-IL" sz="20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לעניין זה.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8399FE82-6C36-44CB-AF41-981EAEEFEF59}"/>
              </a:ext>
            </a:extLst>
          </p:cNvPr>
          <p:cNvSpPr/>
          <p:nvPr/>
        </p:nvSpPr>
        <p:spPr>
          <a:xfrm rot="20791116">
            <a:off x="267083" y="3996140"/>
            <a:ext cx="4740676" cy="21661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העוברים על איסור זה יענשו בידי שמים</a:t>
            </a:r>
            <a:r>
              <a:rPr lang="he-IL" dirty="0"/>
              <a:t>.</a:t>
            </a:r>
          </a:p>
          <a:p>
            <a:pPr algn="ctr"/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הקב"ה מעניש בדרכים שונות אעפ"י שאין בידו רצועת עור של עגל שבה מענישים ומלקים בבית דין.</a:t>
            </a:r>
          </a:p>
        </p:txBody>
      </p:sp>
    </p:spTree>
    <p:extLst>
      <p:ext uri="{BB962C8B-B14F-4D97-AF65-F5344CB8AC3E}">
        <p14:creationId xmlns:p14="http://schemas.microsoft.com/office/powerpoint/2010/main" val="22302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47722F0-25B5-4649-AA17-B7B509D794E6}"/>
              </a:ext>
            </a:extLst>
          </p:cNvPr>
          <p:cNvSpPr txBox="1"/>
          <p:nvPr/>
        </p:nvSpPr>
        <p:spPr>
          <a:xfrm>
            <a:off x="439445" y="458212"/>
            <a:ext cx="8682362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האפשרות לפגוע במי שפוגע בנו: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3B6A09D3-7E7E-4108-916B-7B30362494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31" t="-7408" r="12379" b="20371"/>
          <a:stretch/>
        </p:blipFill>
        <p:spPr>
          <a:xfrm>
            <a:off x="4862468" y="2080262"/>
            <a:ext cx="2609850" cy="2667000"/>
          </a:xfrm>
          <a:prstGeom prst="rect">
            <a:avLst/>
          </a:prstGeom>
        </p:spPr>
      </p:pic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4FA8834-AA6B-4C83-997F-150272FE41E0}"/>
              </a:ext>
            </a:extLst>
          </p:cNvPr>
          <p:cNvSpPr/>
          <p:nvPr/>
        </p:nvSpPr>
        <p:spPr>
          <a:xfrm>
            <a:off x="2361459" y="1298166"/>
            <a:ext cx="8114190" cy="684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אין מצווה זו מחייבת לשתוק כאשר משהו פוגע בך ומעליב אותך ללא סיבה.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EC715A97-AD24-47F1-AA21-0790B00D5415}"/>
              </a:ext>
            </a:extLst>
          </p:cNvPr>
          <p:cNvSpPr/>
          <p:nvPr/>
        </p:nvSpPr>
        <p:spPr>
          <a:xfrm>
            <a:off x="6862901" y="2530466"/>
            <a:ext cx="4909352" cy="59996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שאי אפשר להיות האדם כאבן שאין לה הופכים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C2B05B9F-16EF-4B2E-85FE-AE03818F9B6B}"/>
              </a:ext>
            </a:extLst>
          </p:cNvPr>
          <p:cNvSpPr/>
          <p:nvPr/>
        </p:nvSpPr>
        <p:spPr>
          <a:xfrm>
            <a:off x="7171400" y="3113903"/>
            <a:ext cx="4292354" cy="9985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האדם אינו יכול </a:t>
            </a:r>
            <a:r>
              <a:rPr lang="he-IL" dirty="0" err="1"/>
              <a:t>להיות"א</a:t>
            </a:r>
            <a:r>
              <a:rPr lang="he-IL" b="1" dirty="0" err="1"/>
              <a:t>בן</a:t>
            </a:r>
            <a:r>
              <a:rPr lang="he-IL" b="1" dirty="0"/>
              <a:t> שאין לה הופכין</a:t>
            </a:r>
            <a:r>
              <a:rPr lang="he-IL" dirty="0"/>
              <a:t>"-דומם ואדיש כמו אבן שלא מגיבה.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94823C77-E876-4932-9B9B-85B42F34CF59}"/>
              </a:ext>
            </a:extLst>
          </p:cNvPr>
          <p:cNvSpPr/>
          <p:nvPr/>
        </p:nvSpPr>
        <p:spPr>
          <a:xfrm>
            <a:off x="834409" y="2530466"/>
            <a:ext cx="4691109" cy="59996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שיהיה בשתיקתו כמודה על </a:t>
            </a:r>
            <a:r>
              <a:rPr lang="he-IL" sz="2000" b="1" dirty="0" err="1"/>
              <a:t>החרופין</a:t>
            </a:r>
            <a:r>
              <a:rPr lang="he-IL" sz="2000" b="1" dirty="0"/>
              <a:t> </a:t>
            </a: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955A6B01-6F36-4B31-B89B-97E0AF0D0983}"/>
              </a:ext>
            </a:extLst>
          </p:cNvPr>
          <p:cNvSpPr/>
          <p:nvPr/>
        </p:nvSpPr>
        <p:spPr>
          <a:xfrm>
            <a:off x="1107164" y="3113903"/>
            <a:ext cx="3997727" cy="9985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אם ישתוק , הרי זה נראה כאילו הוא מסכים לדברים ומודה בטענות ובעלבונות שמטיחים בו.</a:t>
            </a:r>
          </a:p>
        </p:txBody>
      </p:sp>
      <p:sp>
        <p:nvSpPr>
          <p:cNvPr id="21" name="מגילה: אופקית 20">
            <a:extLst>
              <a:ext uri="{FF2B5EF4-FFF2-40B4-BE49-F238E27FC236}">
                <a16:creationId xmlns:a16="http://schemas.microsoft.com/office/drawing/2014/main" id="{5382C75E-1F25-401A-8B0A-BBB165EDED83}"/>
              </a:ext>
            </a:extLst>
          </p:cNvPr>
          <p:cNvSpPr/>
          <p:nvPr/>
        </p:nvSpPr>
        <p:spPr>
          <a:xfrm>
            <a:off x="1935332" y="4392631"/>
            <a:ext cx="8007657" cy="2334405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/>
              <a:t>ובאמת, לא תצווה התורה להיות האדם כאבן, שותק </a:t>
            </a:r>
            <a:r>
              <a:rPr lang="he-IL" sz="2000" dirty="0" err="1"/>
              <a:t>למחרפיו</a:t>
            </a:r>
            <a:r>
              <a:rPr lang="he-IL" sz="2000" dirty="0"/>
              <a:t> כמו </a:t>
            </a:r>
            <a:r>
              <a:rPr lang="he-IL" sz="2000" dirty="0" err="1"/>
              <a:t>למברכיו</a:t>
            </a:r>
            <a:r>
              <a:rPr lang="he-IL" sz="2000" dirty="0"/>
              <a:t>, </a:t>
            </a:r>
            <a:br>
              <a:rPr lang="he-IL" sz="2000" dirty="0"/>
            </a:br>
            <a:r>
              <a:rPr lang="he-IL" sz="2000" b="1" dirty="0"/>
              <a:t>אבל תצווה אותנו שנתרחק מן המידה הזאת, ושלא נתחיל להתקוטט ולחרף בני אדם, </a:t>
            </a:r>
            <a:br>
              <a:rPr lang="he-IL" sz="2000" dirty="0"/>
            </a:br>
            <a:r>
              <a:rPr lang="he-IL" sz="2000" dirty="0"/>
              <a:t>ובכן יינצל כל אדם מכל זה, כי מי שאינו בעל קטטה לא יחרפוהו בני אדם, זולתי השוטים הגמורים, ואין לתת לב על השוטים</a:t>
            </a:r>
          </a:p>
        </p:txBody>
      </p:sp>
    </p:spTree>
    <p:extLst>
      <p:ext uri="{BB962C8B-B14F-4D97-AF65-F5344CB8AC3E}">
        <p14:creationId xmlns:p14="http://schemas.microsoft.com/office/powerpoint/2010/main" val="3714854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8EE99C0C-B1DE-499B-A18B-1BF99FB0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49" y="994298"/>
            <a:ext cx="4599101" cy="5015883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F7BACBE-CC2F-41F4-A400-A805C0056399}"/>
              </a:ext>
            </a:extLst>
          </p:cNvPr>
          <p:cNvSpPr txBox="1"/>
          <p:nvPr/>
        </p:nvSpPr>
        <p:spPr>
          <a:xfrm>
            <a:off x="4938202" y="1270338"/>
            <a:ext cx="69489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/>
              <a:t>ואם אולי יכריחנו מחרף מבני אדם להשיב </a:t>
            </a:r>
          </a:p>
          <a:p>
            <a:r>
              <a:rPr lang="he-IL" sz="2800" dirty="0"/>
              <a:t>על דבריו,</a:t>
            </a:r>
          </a:p>
          <a:p>
            <a:r>
              <a:rPr lang="he-IL" sz="2800" dirty="0"/>
              <a:t>ראוי לחכם שישיב לו דרך </a:t>
            </a:r>
            <a:r>
              <a:rPr lang="he-IL" sz="2800" b="1" dirty="0"/>
              <a:t>סלסול ונעימות</a:t>
            </a:r>
            <a:r>
              <a:rPr lang="he-IL" sz="2800" dirty="0"/>
              <a:t>, </a:t>
            </a:r>
          </a:p>
          <a:p>
            <a:r>
              <a:rPr lang="he-IL" sz="2800" dirty="0"/>
              <a:t>ו</a:t>
            </a:r>
            <a:r>
              <a:rPr lang="he-IL" sz="2800" b="1" dirty="0"/>
              <a:t>לא יכעס </a:t>
            </a:r>
            <a:r>
              <a:rPr lang="he-IL" sz="2800" dirty="0"/>
              <a:t>הרבה, כי </a:t>
            </a:r>
          </a:p>
          <a:p>
            <a:r>
              <a:rPr lang="he-IL" sz="2800" dirty="0"/>
              <a:t>"כעס בחיק כסילים ינוח" (קהלת ז ט). </a:t>
            </a:r>
          </a:p>
          <a:p>
            <a:r>
              <a:rPr lang="he-IL" sz="2800" b="1" dirty="0"/>
              <a:t>ויינצל עצמו </a:t>
            </a:r>
            <a:r>
              <a:rPr lang="he-IL" sz="2800" dirty="0"/>
              <a:t>אל השומעים </a:t>
            </a:r>
            <a:r>
              <a:rPr lang="he-IL" sz="2800" dirty="0" err="1"/>
              <a:t>מחרופיו</a:t>
            </a:r>
            <a:r>
              <a:rPr lang="he-IL" sz="2800" dirty="0"/>
              <a:t>, </a:t>
            </a:r>
          </a:p>
          <a:p>
            <a:r>
              <a:rPr lang="he-IL" sz="2800" b="1" dirty="0"/>
              <a:t>וישליך המשא על המחרף</a:t>
            </a:r>
            <a:r>
              <a:rPr lang="he-IL" sz="2800" dirty="0"/>
              <a:t>,</a:t>
            </a:r>
          </a:p>
          <a:p>
            <a:r>
              <a:rPr lang="he-IL" sz="2800" dirty="0"/>
              <a:t>זהו דרך הטובים שבבני אדם. </a:t>
            </a:r>
          </a:p>
        </p:txBody>
      </p:sp>
      <p:sp>
        <p:nvSpPr>
          <p:cNvPr id="7" name="בועת מחשבה: ענן 6">
            <a:extLst>
              <a:ext uri="{FF2B5EF4-FFF2-40B4-BE49-F238E27FC236}">
                <a16:creationId xmlns:a16="http://schemas.microsoft.com/office/drawing/2014/main" id="{D3C3792B-CF78-40BD-A8A6-39ADD931459B}"/>
              </a:ext>
            </a:extLst>
          </p:cNvPr>
          <p:cNvSpPr/>
          <p:nvPr/>
        </p:nvSpPr>
        <p:spPr>
          <a:xfrm rot="1615463">
            <a:off x="5449456" y="3724294"/>
            <a:ext cx="2201662" cy="1597981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בנעימות ובכבוד</a:t>
            </a:r>
          </a:p>
        </p:txBody>
      </p:sp>
      <p:sp>
        <p:nvSpPr>
          <p:cNvPr id="8" name="בועת מחשבה: ענן 7">
            <a:extLst>
              <a:ext uri="{FF2B5EF4-FFF2-40B4-BE49-F238E27FC236}">
                <a16:creationId xmlns:a16="http://schemas.microsoft.com/office/drawing/2014/main" id="{C45863BA-9E54-4212-8B65-705F81B42236}"/>
              </a:ext>
            </a:extLst>
          </p:cNvPr>
          <p:cNvSpPr/>
          <p:nvPr/>
        </p:nvSpPr>
        <p:spPr>
          <a:xfrm rot="19359832">
            <a:off x="13994" y="2811855"/>
            <a:ext cx="1897821" cy="138076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לא בכעס</a:t>
            </a:r>
          </a:p>
        </p:txBody>
      </p:sp>
      <p:sp>
        <p:nvSpPr>
          <p:cNvPr id="9" name="בועת מחשבה: ענן 8">
            <a:extLst>
              <a:ext uri="{FF2B5EF4-FFF2-40B4-BE49-F238E27FC236}">
                <a16:creationId xmlns:a16="http://schemas.microsoft.com/office/drawing/2014/main" id="{FE38D849-6E0E-43C4-AE5E-B0F3DB7809CA}"/>
              </a:ext>
            </a:extLst>
          </p:cNvPr>
          <p:cNvSpPr/>
          <p:nvPr/>
        </p:nvSpPr>
        <p:spPr>
          <a:xfrm>
            <a:off x="3276093" y="246524"/>
            <a:ext cx="3115829" cy="181657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יסביר לשומעים למה החרופים לא נכונים</a:t>
            </a:r>
          </a:p>
        </p:txBody>
      </p:sp>
      <p:sp>
        <p:nvSpPr>
          <p:cNvPr id="10" name="בועת מחשבה: ענן 9">
            <a:extLst>
              <a:ext uri="{FF2B5EF4-FFF2-40B4-BE49-F238E27FC236}">
                <a16:creationId xmlns:a16="http://schemas.microsoft.com/office/drawing/2014/main" id="{C0231371-F233-40BC-807D-B86F44BF3F86}"/>
              </a:ext>
            </a:extLst>
          </p:cNvPr>
          <p:cNvSpPr/>
          <p:nvPr/>
        </p:nvSpPr>
        <p:spPr>
          <a:xfrm rot="8863433" flipV="1">
            <a:off x="793344" y="307349"/>
            <a:ext cx="2308855" cy="1718129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י</a:t>
            </a:r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טיל את האחריות על המעליב</a:t>
            </a:r>
          </a:p>
        </p:txBody>
      </p:sp>
    </p:spTree>
    <p:extLst>
      <p:ext uri="{BB962C8B-B14F-4D97-AF65-F5344CB8AC3E}">
        <p14:creationId xmlns:p14="http://schemas.microsoft.com/office/powerpoint/2010/main" val="368991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35A91F06-211B-41CB-8EFC-18F6C6E7B85A}"/>
              </a:ext>
            </a:extLst>
          </p:cNvPr>
          <p:cNvSpPr/>
          <p:nvPr/>
        </p:nvSpPr>
        <p:spPr>
          <a:xfrm>
            <a:off x="6889072" y="665825"/>
            <a:ext cx="4216893" cy="49271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ויש לנו ללמד דבר זה שמותר לנו לענות כסיל, </a:t>
            </a:r>
            <a:br>
              <a:rPr lang="he-IL" sz="2400" dirty="0"/>
            </a:br>
            <a:r>
              <a:rPr lang="he-IL" sz="2400" dirty="0"/>
              <a:t>לפי הדומה מאשר התירה התורה </a:t>
            </a:r>
            <a:r>
              <a:rPr lang="he-IL" sz="2400" b="1" dirty="0"/>
              <a:t>הבא במחתרת להקדים </a:t>
            </a:r>
            <a:r>
              <a:rPr lang="he-IL" sz="2400" b="1" dirty="0" err="1"/>
              <a:t>ולהרגו</a:t>
            </a:r>
            <a:r>
              <a:rPr lang="he-IL" sz="2400" b="1" dirty="0"/>
              <a:t> </a:t>
            </a:r>
            <a:r>
              <a:rPr lang="he-IL" sz="2400" dirty="0"/>
              <a:t>(שמות </a:t>
            </a:r>
            <a:r>
              <a:rPr lang="he-IL" sz="2400" dirty="0" err="1"/>
              <a:t>כב</a:t>
            </a:r>
            <a:r>
              <a:rPr lang="he-IL" sz="2400" dirty="0"/>
              <a:t> א),</a:t>
            </a:r>
          </a:p>
          <a:p>
            <a:pPr algn="ctr"/>
            <a:br>
              <a:rPr lang="he-IL" sz="2400" dirty="0"/>
            </a:br>
            <a:r>
              <a:rPr lang="he-IL" sz="2400" dirty="0"/>
              <a:t>שאין ספק שלא נתחייב האדם לסבול הנזקים מיד </a:t>
            </a:r>
            <a:r>
              <a:rPr lang="he-IL" sz="2400" dirty="0" err="1"/>
              <a:t>חבירו</a:t>
            </a:r>
            <a:r>
              <a:rPr lang="he-IL" sz="2400" dirty="0"/>
              <a:t>, </a:t>
            </a:r>
            <a:br>
              <a:rPr lang="he-IL" sz="2400" dirty="0"/>
            </a:br>
            <a:r>
              <a:rPr lang="he-IL" sz="2400" dirty="0"/>
              <a:t>כי יש לו רשות להינצל מידו </a:t>
            </a:r>
            <a:br>
              <a:rPr lang="he-IL" sz="2400" dirty="0"/>
            </a:br>
            <a:r>
              <a:rPr lang="he-IL" sz="2400" dirty="0"/>
              <a:t>וכמו כן מדברי </a:t>
            </a:r>
            <a:r>
              <a:rPr lang="he-IL" sz="2400" dirty="0" err="1"/>
              <a:t>פיהו</a:t>
            </a:r>
            <a:r>
              <a:rPr lang="he-IL" sz="2400" dirty="0"/>
              <a:t> אשר מלא מרמות ותוך, בכל דבר שהוא יכול להינצל ממנו. </a:t>
            </a:r>
          </a:p>
        </p:txBody>
      </p:sp>
      <p:sp>
        <p:nvSpPr>
          <p:cNvPr id="6" name="מגילה: אופקית 5">
            <a:extLst>
              <a:ext uri="{FF2B5EF4-FFF2-40B4-BE49-F238E27FC236}">
                <a16:creationId xmlns:a16="http://schemas.microsoft.com/office/drawing/2014/main" id="{44C1E05C-95B5-4F8D-97C4-0E5331AEDAA2}"/>
              </a:ext>
            </a:extLst>
          </p:cNvPr>
          <p:cNvSpPr/>
          <p:nvPr/>
        </p:nvSpPr>
        <p:spPr>
          <a:xfrm>
            <a:off x="967665" y="665825"/>
            <a:ext cx="5078028" cy="1464816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>
                <a:latin typeface="Guttman-Aram" panose="02010401010101010101" pitchFamily="2" charset="-79"/>
                <a:cs typeface="Guttman-Aram" panose="02010401010101010101" pitchFamily="2" charset="-79"/>
              </a:rPr>
              <a:t>"הבא להורגך השכם להורגו"</a:t>
            </a:r>
          </a:p>
        </p:txBody>
      </p:sp>
      <p:sp>
        <p:nvSpPr>
          <p:cNvPr id="9" name="פיצוץ : 14 נקודות 8">
            <a:extLst>
              <a:ext uri="{FF2B5EF4-FFF2-40B4-BE49-F238E27FC236}">
                <a16:creationId xmlns:a16="http://schemas.microsoft.com/office/drawing/2014/main" id="{C94F770D-78B2-4CA0-9B11-83467D0F317C}"/>
              </a:ext>
            </a:extLst>
          </p:cNvPr>
          <p:cNvSpPr/>
          <p:nvPr/>
        </p:nvSpPr>
        <p:spPr>
          <a:xfrm rot="1008693">
            <a:off x="3787317" y="1526710"/>
            <a:ext cx="3568824" cy="2467992"/>
          </a:xfrm>
          <a:prstGeom prst="irregularSeal2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אדם לא חייב לסבול נזקים מאחרים.</a:t>
            </a:r>
          </a:p>
        </p:txBody>
      </p:sp>
      <p:sp>
        <p:nvSpPr>
          <p:cNvPr id="10" name="פיצוץ : 14 נקודות 9">
            <a:extLst>
              <a:ext uri="{FF2B5EF4-FFF2-40B4-BE49-F238E27FC236}">
                <a16:creationId xmlns:a16="http://schemas.microsoft.com/office/drawing/2014/main" id="{1B1D7EBC-994A-4083-B982-43F073D71458}"/>
              </a:ext>
            </a:extLst>
          </p:cNvPr>
          <p:cNvSpPr/>
          <p:nvPr/>
        </p:nvSpPr>
        <p:spPr>
          <a:xfrm rot="21161646">
            <a:off x="-87330" y="2033848"/>
            <a:ext cx="3844032" cy="2467992"/>
          </a:xfrm>
          <a:prstGeom prst="irregularSeal2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מותר לאדם לעשות את הנדרש להצלתו.</a:t>
            </a:r>
          </a:p>
        </p:txBody>
      </p:sp>
      <p:sp>
        <p:nvSpPr>
          <p:cNvPr id="11" name="פיצוץ : 14 נקודות 10">
            <a:extLst>
              <a:ext uri="{FF2B5EF4-FFF2-40B4-BE49-F238E27FC236}">
                <a16:creationId xmlns:a16="http://schemas.microsoft.com/office/drawing/2014/main" id="{78A22A09-D8B0-4CA8-B389-E0EB58E42869}"/>
              </a:ext>
            </a:extLst>
          </p:cNvPr>
          <p:cNvSpPr/>
          <p:nvPr/>
        </p:nvSpPr>
        <p:spPr>
          <a:xfrm>
            <a:off x="1210308" y="3634907"/>
            <a:ext cx="5375428" cy="2388093"/>
          </a:xfrm>
          <a:prstGeom prst="irregularSeal2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מותר לאדם לפעול כדי להינצל מדיבורים שליליים כנגדו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61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B8408B6B-674F-41D5-8261-F0A03E44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84029">
            <a:off x="404840" y="405623"/>
            <a:ext cx="4736649" cy="434897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3AB1CF1-C2BF-45FB-BF9C-393B897B4402}"/>
              </a:ext>
            </a:extLst>
          </p:cNvPr>
          <p:cNvSpPr txBox="1"/>
          <p:nvPr/>
        </p:nvSpPr>
        <p:spPr>
          <a:xfrm>
            <a:off x="5417598" y="512192"/>
            <a:ext cx="60945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b="1" dirty="0"/>
              <a:t>ואולם יש כת מבני אדם שעולה חסידותם כל כך,</a:t>
            </a:r>
            <a:br>
              <a:rPr lang="he-IL" sz="2400" b="1" dirty="0"/>
            </a:br>
            <a:r>
              <a:rPr lang="he-IL" sz="2400" b="1" dirty="0"/>
              <a:t>שלא ירצו להכניס עצמם בהוראה זו להשיב חורפיהם דבר,</a:t>
            </a:r>
            <a:br>
              <a:rPr lang="he-IL" sz="2400" b="1" dirty="0"/>
            </a:br>
            <a:r>
              <a:rPr lang="he-IL" sz="2400" b="1" dirty="0"/>
              <a:t> פן יגבר עליהם הכעס ויתפשטו בעניין זה יותר </a:t>
            </a:r>
            <a:r>
              <a:rPr lang="he-IL" sz="2400" b="1" dirty="0" err="1"/>
              <a:t>מדאי</a:t>
            </a:r>
            <a:r>
              <a:rPr lang="he-IL" sz="2400" b="1" dirty="0"/>
              <a:t>, </a:t>
            </a:r>
          </a:p>
          <a:p>
            <a:br>
              <a:rPr lang="he-IL" sz="2400" b="1" dirty="0"/>
            </a:br>
            <a:r>
              <a:rPr lang="he-IL" sz="2400" b="1" dirty="0"/>
              <a:t>ועליהם אמרו </a:t>
            </a:r>
            <a:r>
              <a:rPr lang="he-IL" sz="2400" b="1" dirty="0" err="1"/>
              <a:t>זכרונם</a:t>
            </a:r>
            <a:r>
              <a:rPr lang="he-IL" sz="2400" b="1" dirty="0"/>
              <a:t> לברכה :</a:t>
            </a:r>
          </a:p>
          <a:p>
            <a:r>
              <a:rPr lang="he-IL" sz="2400" b="1" dirty="0">
                <a:solidFill>
                  <a:srgbClr val="FF0000"/>
                </a:solidFill>
              </a:rPr>
              <a:t>"</a:t>
            </a:r>
            <a:r>
              <a:rPr lang="he-IL" sz="2400" b="1" dirty="0" err="1">
                <a:solidFill>
                  <a:srgbClr val="FF0000"/>
                </a:solidFill>
              </a:rPr>
              <a:t>הנעלבין</a:t>
            </a:r>
            <a:r>
              <a:rPr lang="he-IL" sz="2400" b="1" dirty="0">
                <a:solidFill>
                  <a:srgbClr val="FF0000"/>
                </a:solidFill>
              </a:rPr>
              <a:t> ואינם עולבים, </a:t>
            </a:r>
            <a:r>
              <a:rPr lang="he-IL" sz="2400" b="1" dirty="0" err="1">
                <a:solidFill>
                  <a:srgbClr val="FF0000"/>
                </a:solidFill>
              </a:rPr>
              <a:t>שומעין</a:t>
            </a:r>
            <a:r>
              <a:rPr lang="he-IL" sz="2400" b="1" dirty="0">
                <a:solidFill>
                  <a:srgbClr val="FF0000"/>
                </a:solidFill>
              </a:rPr>
              <a:t> חרפתם ואינם </a:t>
            </a:r>
            <a:r>
              <a:rPr lang="he-IL" sz="2400" b="1" dirty="0" err="1">
                <a:solidFill>
                  <a:srgbClr val="FF0000"/>
                </a:solidFill>
              </a:rPr>
              <a:t>משיבין</a:t>
            </a:r>
            <a:r>
              <a:rPr lang="he-IL" sz="2400" b="1" dirty="0">
                <a:solidFill>
                  <a:srgbClr val="FF0000"/>
                </a:solidFill>
              </a:rPr>
              <a:t> </a:t>
            </a:r>
            <a:r>
              <a:rPr lang="he-IL" b="1" dirty="0">
                <a:solidFill>
                  <a:srgbClr val="FF0000"/>
                </a:solidFill>
              </a:rPr>
              <a:t>"</a:t>
            </a:r>
            <a:r>
              <a:rPr lang="he-IL" b="1" dirty="0"/>
              <a:t>(שבת פח, ב) </a:t>
            </a:r>
          </a:p>
          <a:p>
            <a:endParaRPr lang="he-IL" b="1" dirty="0"/>
          </a:p>
          <a:p>
            <a:r>
              <a:rPr lang="he-IL" sz="2400" b="1" dirty="0"/>
              <a:t>עליהם הכתוב אומר:</a:t>
            </a:r>
            <a:endParaRPr lang="he-IL" sz="2400" b="1" dirty="0">
              <a:solidFill>
                <a:srgbClr val="FF0000"/>
              </a:solidFill>
            </a:endParaRPr>
          </a:p>
          <a:p>
            <a:r>
              <a:rPr lang="he-IL" sz="2400" b="1" dirty="0">
                <a:solidFill>
                  <a:srgbClr val="FF0000"/>
                </a:solidFill>
              </a:rPr>
              <a:t>"ואוהביו כצאת השמש בגבורתו"</a:t>
            </a:r>
          </a:p>
          <a:p>
            <a:r>
              <a:rPr lang="he-IL" b="1" dirty="0"/>
              <a:t>                                   (שופטים ה לא)</a:t>
            </a:r>
            <a:br>
              <a:rPr lang="he-IL" sz="2400" b="1" dirty="0"/>
            </a:br>
            <a:endParaRPr lang="he-IL" sz="2400" b="1" dirty="0"/>
          </a:p>
        </p:txBody>
      </p:sp>
      <p:sp>
        <p:nvSpPr>
          <p:cNvPr id="7" name="לב 6">
            <a:extLst>
              <a:ext uri="{FF2B5EF4-FFF2-40B4-BE49-F238E27FC236}">
                <a16:creationId xmlns:a16="http://schemas.microsoft.com/office/drawing/2014/main" id="{B2E5DDBA-1A55-43F8-94DE-E3E60EF47F30}"/>
              </a:ext>
            </a:extLst>
          </p:cNvPr>
          <p:cNvSpPr/>
          <p:nvPr/>
        </p:nvSpPr>
        <p:spPr>
          <a:xfrm rot="20242173">
            <a:off x="1460339" y="3701989"/>
            <a:ext cx="4965579" cy="3107184"/>
          </a:xfrm>
          <a:prstGeom prst="hear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מידת חסידות גדולה-</a:t>
            </a:r>
          </a:p>
          <a:p>
            <a:pPr algn="ctr"/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נמנעים מלהשיב </a:t>
            </a:r>
            <a:r>
              <a:rPr lang="he-IL" sz="2000" dirty="0" err="1">
                <a:latin typeface="Guttman Yad-Brush" panose="02010401010101010101" pitchFamily="2" charset="-79"/>
                <a:cs typeface="Guttman Yad-Brush" panose="02010401010101010101" pitchFamily="2" charset="-79"/>
              </a:rPr>
              <a:t>למחרפיהם</a:t>
            </a:r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 מחשש שיבואו לידי כעס ויגיבו באופן חמור מן הנדרש.</a:t>
            </a:r>
          </a:p>
        </p:txBody>
      </p:sp>
      <p:sp>
        <p:nvSpPr>
          <p:cNvPr id="9" name="לב 8">
            <a:extLst>
              <a:ext uri="{FF2B5EF4-FFF2-40B4-BE49-F238E27FC236}">
                <a16:creationId xmlns:a16="http://schemas.microsoft.com/office/drawing/2014/main" id="{00D53C59-BD22-4C7D-87E5-EE5C313E4289}"/>
              </a:ext>
            </a:extLst>
          </p:cNvPr>
          <p:cNvSpPr/>
          <p:nvPr/>
        </p:nvSpPr>
        <p:spPr>
          <a:xfrm>
            <a:off x="5202314" y="4776186"/>
            <a:ext cx="2476870" cy="1969117"/>
          </a:xfrm>
          <a:prstGeom prst="hear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גבורה</a:t>
            </a:r>
          </a:p>
          <a:p>
            <a:pPr algn="ctr"/>
            <a:r>
              <a:rPr lang="he-IL" sz="24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ואהבת ה'</a:t>
            </a:r>
          </a:p>
        </p:txBody>
      </p:sp>
    </p:spTree>
    <p:extLst>
      <p:ext uri="{BB962C8B-B14F-4D97-AF65-F5344CB8AC3E}">
        <p14:creationId xmlns:p14="http://schemas.microsoft.com/office/powerpoint/2010/main" val="30348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779</Words>
  <Application>Microsoft Office PowerPoint</Application>
  <PresentationFormat>מסך רחב</PresentationFormat>
  <Paragraphs>90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David</vt:lpstr>
      <vt:lpstr>Guttman Stam</vt:lpstr>
      <vt:lpstr>Guttman Yad-Brush</vt:lpstr>
      <vt:lpstr>Guttman-Aram</vt:lpstr>
      <vt:lpstr>ערכת נושא Office</vt:lpstr>
      <vt:lpstr>שלא להונות אחד מישראל בדברים </vt:lpstr>
      <vt:lpstr>מצגת של PowerPoint‏</vt:lpstr>
      <vt:lpstr>מצגת של PowerPoint‏</vt:lpstr>
      <vt:lpstr>מצגת של PowerPoint‏</vt:lpstr>
      <vt:lpstr>שורש המצווה:</vt:lpstr>
      <vt:lpstr>דיני המצווה:</vt:lpstr>
      <vt:lpstr>מצגת של PowerPoint‏</vt:lpstr>
      <vt:lpstr>ונוהגת מצווה זו-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ד"ר קליר דוד חיים</dc:creator>
  <cp:lastModifiedBy>אפרים לוי</cp:lastModifiedBy>
  <cp:revision>14</cp:revision>
  <dcterms:created xsi:type="dcterms:W3CDTF">2020-12-24T06:35:43Z</dcterms:created>
  <dcterms:modified xsi:type="dcterms:W3CDTF">2026-07-04T22:20:38Z</dcterms:modified>
</cp:coreProperties>
</file>