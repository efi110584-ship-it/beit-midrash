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ME" initials="H" lastIdx="1" clrIdx="0">
    <p:extLst>
      <p:ext uri="{19B8F6BF-5375-455C-9EA6-DF929625EA0E}">
        <p15:presenceInfo xmlns:p15="http://schemas.microsoft.com/office/powerpoint/2012/main" userId="HOM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9ED88CF6-AD3F-4D7A-B8D8-3DA59C746D69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83432928-400F-4D32-A82A-5FDB95CA2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63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32928-400F-4D32-A82A-5FDB95CA2C5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62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32928-400F-4D32-A82A-5FDB95CA2C5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20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32928-400F-4D32-A82A-5FDB95CA2C5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00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32928-400F-4D32-A82A-5FDB95CA2C5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37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32928-400F-4D32-A82A-5FDB95CA2C5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2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32928-400F-4D32-A82A-5FDB95CA2C5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91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32928-400F-4D32-A82A-5FDB95CA2C5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7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32928-400F-4D32-A82A-5FDB95CA2C5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9583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32928-400F-4D32-A82A-5FDB95CA2C5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79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32928-400F-4D32-A82A-5FDB95CA2C5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9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32928-400F-4D32-A82A-5FDB95CA2C5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17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32928-400F-4D32-A82A-5FDB95CA2C5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882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32928-400F-4D32-A82A-5FDB95CA2C5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70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32928-400F-4D32-A82A-5FDB95CA2C5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544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32928-400F-4D32-A82A-5FDB95CA2C5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058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32928-400F-4D32-A82A-5FDB95CA2C5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32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32928-400F-4D32-A82A-5FDB95CA2C5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13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7A69864-08AF-407E-BA14-CEBD65688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7970AEF-F1C5-4815-88AF-82AAB5200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426C6B4-C89B-4EF9-A985-4A8E6B946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F48A-FDF2-4C40-9923-849A5403138C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5BAAE23-DC8F-4AFE-B9FC-140BF48F3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738B54A-09E1-423C-9F63-A67967C5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06A31-4AB6-4336-9A0D-228BDF169C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367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3D83778-AEE7-46D6-87B1-B36635D4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0906805-1710-4165-8AA7-F6A6E647B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0615B64-ED53-4ADC-ACEB-6DD4ACEB1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F48A-FDF2-4C40-9923-849A5403138C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6FEE368-7019-4C8A-A1D5-84DC84D64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43D9A9-8720-43AC-AAB7-BB716A068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06A31-4AB6-4336-9A0D-228BDF169C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005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C25172-3803-4CE9-8FB6-C6099E68C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BC71379-64C2-49C2-9B16-90A8345E8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5037DF-60A4-4D79-A909-DC8120732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F48A-FDF2-4C40-9923-849A5403138C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BF87813-9C2F-46B2-A089-78FF3F751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F695D5D-E017-4D24-9E80-09135ABA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06A31-4AB6-4336-9A0D-228BDF169C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24260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C90287-647E-44FA-B0B0-70554C18D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4DF9D22-56CD-4EA6-A699-1660C5FE00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04335A0-2A3E-486B-8BEA-5EDB6C5D5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8C4B8A8-E55C-43BA-8AEB-E4EB9B6C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F48A-FDF2-4C40-9923-849A5403138C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7ED621A-2D5D-4522-8AA3-445466074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E3C30D3-A7DF-4958-8F21-0547925B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06A31-4AB6-4336-9A0D-228BDF169C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741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D4090D0-1744-4FDA-9368-CDEA708F3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71F9AEE-7F3E-49E8-8D81-13D84D0A1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B2296A6-013F-4BBF-B76B-70B4D92B5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4984000-5EF9-45CE-837D-3C6358A4ED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AF0D3E5C-02C2-44A7-BB74-A19375DD6E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5854543-2D09-4C3E-A7EC-FA2516BCC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F48A-FDF2-4C40-9923-849A5403138C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5032D897-A195-4E63-97A2-628554258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AC73922B-86EE-4F2C-8DAE-C879A72A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06A31-4AB6-4336-9A0D-228BDF169C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318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5875165-A1D9-4BD4-B8F3-FD95A792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39B9DD4-B7AE-4A8F-A573-F210183F3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F48A-FDF2-4C40-9923-849A5403138C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A233CD9-9127-4C0D-9BD4-39444C9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77C51E6-58CD-4A4B-8753-FD183FAFB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06A31-4AB6-4336-9A0D-228BDF169C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4923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63521A5E-E6D2-4EB8-A133-65B4A492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F48A-FDF2-4C40-9923-849A5403138C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29E6C9EB-0DCF-46D4-B0AE-239A0797D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69FD202-FF9A-4B13-B99D-064E54B7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06A31-4AB6-4336-9A0D-228BDF169C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63893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BBEF7F3-71C6-4F7F-BBA0-CDF5671DE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BC2BB7F-C9D2-4120-A3F2-CC68DCF3D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A308B95-DEA0-4A51-8E19-CFBCFCD94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8FAC9E8-608C-4E35-982F-AEC2F52CE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F48A-FDF2-4C40-9923-849A5403138C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0496DF7-1675-4999-8205-1EE7B28C1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B8E4F28-40F0-4E38-BB33-A6E285A3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06A31-4AB6-4336-9A0D-228BDF169C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3841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45C8CC-D4AA-4789-AABC-3DABFE24E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33CD8E9-7567-4E40-93AE-5B212CDBB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B948BEB-D6B5-4C7E-861F-A0FF84CD4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5541F9B-10DC-40C7-855B-DABF80186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F48A-FDF2-4C40-9923-849A5403138C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D9994D2-D955-486B-8293-07924AA51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D180EE0-79B0-40B5-B1B6-7E5932A8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06A31-4AB6-4336-9A0D-228BDF169C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4984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DC4AB44-DE23-44E0-BE5D-9919507CC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8827DAB-88FA-474F-ABA5-D899A7B90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5573B27-7F50-4DEB-A611-67C0965A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F48A-FDF2-4C40-9923-849A5403138C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75D862E-DF59-479D-9965-7B959ADE1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D7CA3DD-C5FA-442F-A6DA-6FD57770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06A31-4AB6-4336-9A0D-228BDF169C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3924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77F21277-2C59-406A-B034-26B38CF37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8668AA-1584-4E8B-B957-D4432C737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CCFB9A-4181-4D13-A735-F1925EAED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F48A-FDF2-4C40-9923-849A5403138C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D4CE5FB-3937-4238-9E78-F738DD67C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47E840A-E0AE-4158-841A-9B2E2CBC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06A31-4AB6-4336-9A0D-228BDF169C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09458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8000">
              <a:srgbClr val="B8CAE8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31995831-DADC-4D01-8F40-69B05CBD1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61E84AB-0A97-4DE4-8DDB-80B07D804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3BE6B6E-4F6B-4329-B3D1-33B0C8C94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7F48A-FDF2-4C40-9923-849A5403138C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75F456D-F36A-4237-953F-92C18F89C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CA58FD4-76D8-4A33-9AAF-DE90C9BC5F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06A31-4AB6-4336-9A0D-228BDF169C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4054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EDCC4F2-7247-4DE5-BDAB-63472DCCE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2863"/>
            <a:ext cx="9144000" cy="1296139"/>
          </a:xfrm>
        </p:spPr>
        <p:txBody>
          <a:bodyPr/>
          <a:lstStyle/>
          <a:p>
            <a:r>
              <a:rPr lang="he-IL" dirty="0"/>
              <a:t>מצווה תל"ג-מצוות תפילה </a:t>
            </a:r>
          </a:p>
        </p:txBody>
      </p:sp>
      <p:pic>
        <p:nvPicPr>
          <p:cNvPr id="15" name="תמונה 14">
            <a:extLst>
              <a:ext uri="{FF2B5EF4-FFF2-40B4-BE49-F238E27FC236}">
                <a16:creationId xmlns:a16="http://schemas.microsoft.com/office/drawing/2014/main" id="{F6F00893-4C11-4BA3-A38E-11DD57B0D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118" y="1846555"/>
            <a:ext cx="9951868" cy="481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69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CF796F1-D61E-46B2-B159-CAA244566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03"/>
            <a:ext cx="10515600" cy="1690688"/>
          </a:xfrm>
        </p:spPr>
        <p:txBody>
          <a:bodyPr/>
          <a:lstStyle/>
          <a:p>
            <a:r>
              <a:rPr lang="he-IL" dirty="0"/>
              <a:t>         הגדרת המצווה: </a:t>
            </a:r>
            <a:br>
              <a:rPr lang="he-IL" dirty="0"/>
            </a:br>
            <a:r>
              <a:rPr lang="he-IL" dirty="0"/>
              <a:t>                        </a:t>
            </a:r>
            <a:r>
              <a:rPr lang="he-IL" sz="5400" b="1" dirty="0"/>
              <a:t>לעבוד את ה'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471569F-7289-4376-86D3-8C5BB21D8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575"/>
            <a:ext cx="10515600" cy="4624388"/>
          </a:xfrm>
        </p:spPr>
        <p:txBody>
          <a:bodyPr/>
          <a:lstStyle/>
          <a:p>
            <a:pPr marL="0" indent="0">
              <a:buNone/>
            </a:pPr>
            <a:r>
              <a:rPr lang="he-IL" dirty="0"/>
              <a:t>הרמב"ם</a:t>
            </a:r>
          </a:p>
          <a:p>
            <a:endParaRPr lang="he-IL" sz="2000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4F060A81-61C8-4433-BE32-1FA33F558DFA}"/>
              </a:ext>
            </a:extLst>
          </p:cNvPr>
          <p:cNvSpPr txBox="1"/>
          <p:nvPr/>
        </p:nvSpPr>
        <p:spPr>
          <a:xfrm>
            <a:off x="7362825" y="2228850"/>
            <a:ext cx="3581400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/>
              <a:t>     מצווה כוללת</a:t>
            </a:r>
          </a:p>
          <a:p>
            <a:r>
              <a:rPr lang="he-IL" dirty="0"/>
              <a:t> </a:t>
            </a:r>
            <a:r>
              <a:rPr lang="he-IL" sz="2000" dirty="0"/>
              <a:t>מצווה שאיננה מתייחסת למעשה </a:t>
            </a:r>
            <a:r>
              <a:rPr lang="he-IL" sz="2000" dirty="0" err="1"/>
              <a:t>מסויים</a:t>
            </a:r>
            <a:r>
              <a:rPr lang="he-IL" sz="2000" dirty="0"/>
              <a:t>, אלא כוללת בתוכה כמה מעשים ומצוות.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2B00DF0A-42F4-48F2-93ED-BD2C7229E22C}"/>
              </a:ext>
            </a:extLst>
          </p:cNvPr>
          <p:cNvSpPr txBox="1"/>
          <p:nvPr/>
        </p:nvSpPr>
        <p:spPr>
          <a:xfrm>
            <a:off x="7885509" y="3952755"/>
            <a:ext cx="2743201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b="1" dirty="0"/>
              <a:t>"לעבוד את ה' "</a:t>
            </a:r>
          </a:p>
          <a:p>
            <a:r>
              <a:rPr lang="he-IL" sz="2000" dirty="0"/>
              <a:t>לקיים את כל המצוות, את כל התורה.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6C56E58A-7EB5-45F3-96CF-A28DE83C4C56}"/>
              </a:ext>
            </a:extLst>
          </p:cNvPr>
          <p:cNvSpPr txBox="1"/>
          <p:nvPr/>
        </p:nvSpPr>
        <p:spPr>
          <a:xfrm>
            <a:off x="2419350" y="2352616"/>
            <a:ext cx="2581275" cy="113877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 </a:t>
            </a:r>
            <a:r>
              <a:rPr lang="he-IL" sz="2800" b="1" dirty="0"/>
              <a:t>מצווה פרטית</a:t>
            </a:r>
          </a:p>
          <a:p>
            <a:r>
              <a:rPr lang="he-IL" sz="2000" dirty="0"/>
              <a:t>פרט מתוך הכלל  של עבודת ה': היא התפילה</a:t>
            </a:r>
            <a:r>
              <a:rPr lang="he-IL" dirty="0"/>
              <a:t>.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18DF536C-1998-41B6-9445-9B23B241F6A2}"/>
              </a:ext>
            </a:extLst>
          </p:cNvPr>
          <p:cNvSpPr txBox="1"/>
          <p:nvPr/>
        </p:nvSpPr>
        <p:spPr>
          <a:xfrm>
            <a:off x="1563290" y="3935997"/>
            <a:ext cx="3702845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dirty="0"/>
              <a:t>ספרי- שכתוב</a:t>
            </a:r>
          </a:p>
          <a:p>
            <a:r>
              <a:rPr lang="he-IL" sz="2000" dirty="0"/>
              <a:t>          "ו</a:t>
            </a:r>
            <a:r>
              <a:rPr lang="he-IL" sz="2000" b="1" dirty="0"/>
              <a:t>לעובדו בכל לבבכם" </a:t>
            </a:r>
          </a:p>
          <a:p>
            <a:r>
              <a:rPr lang="he-IL" sz="2000" dirty="0"/>
              <a:t>   מהי עבודה  שבלב</a:t>
            </a:r>
            <a:r>
              <a:rPr lang="he-IL" dirty="0"/>
              <a:t>?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5E8C687F-B993-40EA-8F32-27A2D0C60214}"/>
              </a:ext>
            </a:extLst>
          </p:cNvPr>
          <p:cNvSpPr txBox="1"/>
          <p:nvPr/>
        </p:nvSpPr>
        <p:spPr>
          <a:xfrm>
            <a:off x="2676525" y="4968418"/>
            <a:ext cx="147637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dirty="0"/>
              <a:t>זוהי </a:t>
            </a:r>
            <a:r>
              <a:rPr lang="he-IL" sz="2000" b="1" dirty="0"/>
              <a:t>תפילה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9771A883-5000-4B8A-BA5B-BDB8913C6AD9}"/>
              </a:ext>
            </a:extLst>
          </p:cNvPr>
          <p:cNvSpPr txBox="1"/>
          <p:nvPr/>
        </p:nvSpPr>
        <p:spPr>
          <a:xfrm>
            <a:off x="3629025" y="5569743"/>
            <a:ext cx="5524500" cy="129266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dirty="0"/>
              <a:t>מדרש ר' אליעזר בנו של ר' יוסי הגלילי-</a:t>
            </a:r>
          </a:p>
          <a:p>
            <a:r>
              <a:rPr lang="he-IL" sz="2000" dirty="0"/>
              <a:t>תפילה היא בתוך מניין המצוות שכתוב: </a:t>
            </a:r>
          </a:p>
          <a:p>
            <a:r>
              <a:rPr lang="he-IL" sz="2000" dirty="0"/>
              <a:t>           "את ה' אלוקיך תירא ואותו </a:t>
            </a:r>
            <a:r>
              <a:rPr lang="he-IL" sz="2000" b="1" dirty="0"/>
              <a:t>תעבוד</a:t>
            </a:r>
            <a:r>
              <a:rPr lang="he-IL" sz="2000" dirty="0"/>
              <a:t>".</a:t>
            </a:r>
          </a:p>
          <a:p>
            <a:endParaRPr lang="he-IL" dirty="0"/>
          </a:p>
        </p:txBody>
      </p:sp>
      <p:sp>
        <p:nvSpPr>
          <p:cNvPr id="16" name="חץ: למטה 15">
            <a:extLst>
              <a:ext uri="{FF2B5EF4-FFF2-40B4-BE49-F238E27FC236}">
                <a16:creationId xmlns:a16="http://schemas.microsoft.com/office/drawing/2014/main" id="{03AE9D6B-52F4-4BDF-ABE7-46B438D53C87}"/>
              </a:ext>
            </a:extLst>
          </p:cNvPr>
          <p:cNvSpPr/>
          <p:nvPr/>
        </p:nvSpPr>
        <p:spPr>
          <a:xfrm rot="19170473">
            <a:off x="7454915" y="1630422"/>
            <a:ext cx="777851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8" name="תמונה 17">
            <a:extLst>
              <a:ext uri="{FF2B5EF4-FFF2-40B4-BE49-F238E27FC236}">
                <a16:creationId xmlns:a16="http://schemas.microsoft.com/office/drawing/2014/main" id="{325D6526-0B5A-4394-B622-B7B40184C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774633">
            <a:off x="4842427" y="1648966"/>
            <a:ext cx="847417" cy="89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49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11" grpId="0"/>
      <p:bldP spid="13" grpId="0"/>
      <p:bldP spid="14" grpId="0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34AEECE-92AD-49D1-85F9-98248DD27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3125"/>
          </a:xfrm>
        </p:spPr>
        <p:txBody>
          <a:bodyPr/>
          <a:lstStyle/>
          <a:p>
            <a:r>
              <a:rPr lang="he-IL" dirty="0"/>
              <a:t>                    שורש המצווה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91D6070-1480-434E-AE51-8B0E2A2EF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38249"/>
            <a:ext cx="10696575" cy="4938713"/>
          </a:xfrm>
        </p:spPr>
        <p:txBody>
          <a:bodyPr/>
          <a:lstStyle/>
          <a:p>
            <a:pPr marL="0" indent="0">
              <a:buNone/>
            </a:pPr>
            <a:r>
              <a:rPr lang="he-IL" dirty="0"/>
              <a:t>כלל בספר החינוך:</a:t>
            </a:r>
          </a:p>
          <a:p>
            <a:pPr marL="0" indent="0">
              <a:buNone/>
            </a:pPr>
            <a:r>
              <a:rPr lang="he-IL" dirty="0"/>
              <a:t>"</a:t>
            </a:r>
            <a:r>
              <a:rPr lang="he-IL" dirty="0">
                <a:solidFill>
                  <a:srgbClr val="FF0000"/>
                </a:solidFill>
              </a:rPr>
              <a:t>הטובות והברכות יחולו על בני אדם כפי פעולתם וטוב לבבם וכושר מחשבתם</a:t>
            </a:r>
            <a:r>
              <a:rPr lang="he-IL" dirty="0"/>
              <a:t>,</a:t>
            </a:r>
          </a:p>
          <a:p>
            <a:pPr marL="0" indent="0">
              <a:buNone/>
            </a:pPr>
            <a:r>
              <a:rPr lang="he-IL" dirty="0"/>
              <a:t> </a:t>
            </a:r>
            <a:r>
              <a:rPr lang="he-IL" dirty="0">
                <a:solidFill>
                  <a:schemeClr val="accent5">
                    <a:lumMod val="50000"/>
                  </a:schemeClr>
                </a:solidFill>
              </a:rPr>
              <a:t>ואדון </a:t>
            </a:r>
            <a:r>
              <a:rPr lang="he-IL" dirty="0" err="1">
                <a:solidFill>
                  <a:schemeClr val="accent5">
                    <a:lumMod val="50000"/>
                  </a:schemeClr>
                </a:solidFill>
              </a:rPr>
              <a:t>הכל</a:t>
            </a:r>
            <a:r>
              <a:rPr lang="he-IL" dirty="0">
                <a:solidFill>
                  <a:schemeClr val="accent5">
                    <a:lumMod val="50000"/>
                  </a:schemeClr>
                </a:solidFill>
              </a:rPr>
              <a:t> שבראם חפץ בטובתם והדריכם והצליחם במצוותיו היקרות שיזכו                  בהן."</a:t>
            </a:r>
          </a:p>
          <a:p>
            <a:pPr marL="0" indent="0">
              <a:buNone/>
            </a:pPr>
            <a:endParaRPr lang="he-IL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he-IL" sz="2400" dirty="0">
                <a:solidFill>
                  <a:srgbClr val="FF0000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ה' משפיע שפע טוב בהתאם למה שבני האדם מכינים את עצמם ומטיבים את מעשיהם ואת מחשבתם.</a:t>
            </a:r>
          </a:p>
          <a:p>
            <a:pPr marL="0" indent="0">
              <a:buNone/>
            </a:pPr>
            <a:r>
              <a:rPr lang="he-IL" sz="2400" dirty="0">
                <a:solidFill>
                  <a:schemeClr val="accent5">
                    <a:lumMod val="50000"/>
                  </a:schemeClr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כיוון שה' רוצה להיטיב לנו, הוא נותן לנו מצוות שמסייעות לנו להיות טובים יותר, ובשכר זה אנו זוכים לקבל ממנו שפע טוב.</a:t>
            </a:r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5002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F45C6D4-EC5D-4573-98B9-2DFB4C32E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2943"/>
            <a:ext cx="10515600" cy="5472113"/>
          </a:xfrm>
        </p:spPr>
        <p:txBody>
          <a:bodyPr/>
          <a:lstStyle/>
          <a:p>
            <a:pPr marL="0" indent="0">
              <a:buNone/>
            </a:pPr>
            <a:r>
              <a:rPr lang="he-IL" dirty="0"/>
              <a:t>         </a:t>
            </a:r>
            <a:r>
              <a:rPr lang="he-IL" dirty="0">
                <a:solidFill>
                  <a:schemeClr val="accent1"/>
                </a:solidFill>
              </a:rPr>
              <a:t>תועלת מעשית</a:t>
            </a:r>
          </a:p>
          <a:p>
            <a:pPr marL="0" indent="0">
              <a:buNone/>
            </a:pPr>
            <a:r>
              <a:rPr lang="he-IL" dirty="0"/>
              <a:t>                                                                 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8D789B5C-C180-420F-ACFC-CF134CD09F27}"/>
              </a:ext>
            </a:extLst>
          </p:cNvPr>
          <p:cNvSpPr/>
          <p:nvPr/>
        </p:nvSpPr>
        <p:spPr>
          <a:xfrm>
            <a:off x="6981827" y="1428749"/>
            <a:ext cx="4467225" cy="1362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b="1" dirty="0"/>
              <a:t>ה' ימלא את בקשתנו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A7C43A15-F83E-4CCB-99C5-27491E8908F7}"/>
              </a:ext>
            </a:extLst>
          </p:cNvPr>
          <p:cNvSpPr/>
          <p:nvPr/>
        </p:nvSpPr>
        <p:spPr>
          <a:xfrm>
            <a:off x="1176338" y="1428748"/>
            <a:ext cx="4467226" cy="13620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b="1" dirty="0"/>
              <a:t>חיבור אל ה</a:t>
            </a:r>
            <a:r>
              <a:rPr lang="he-IL" dirty="0"/>
              <a:t>'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1CE93EB-D46A-4519-A70E-BCE9B4BA7645}"/>
              </a:ext>
            </a:extLst>
          </p:cNvPr>
          <p:cNvSpPr txBox="1"/>
          <p:nvPr/>
        </p:nvSpPr>
        <p:spPr>
          <a:xfrm>
            <a:off x="7696200" y="3143250"/>
            <a:ext cx="3657600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dirty="0"/>
              <a:t>התפילה היא דרך לאדם להשיג את משאלות לבו. מבקש מבוראו , שבידו היכולת לענות לכל מי שקורא אליו באמת. 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EF0EC651-90A2-4C88-9BA9-E78A247251FB}"/>
              </a:ext>
            </a:extLst>
          </p:cNvPr>
          <p:cNvSpPr txBox="1"/>
          <p:nvPr/>
        </p:nvSpPr>
        <p:spPr>
          <a:xfrm>
            <a:off x="1271587" y="2954445"/>
            <a:ext cx="3933826" cy="3416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b="1" dirty="0"/>
              <a:t>חיזוק האמונה :</a:t>
            </a:r>
          </a:p>
          <a:p>
            <a:r>
              <a:rPr lang="he-IL" sz="2400" dirty="0"/>
              <a:t>   ה' הוא מלך העולם</a:t>
            </a:r>
          </a:p>
          <a:p>
            <a:r>
              <a:rPr lang="he-IL" sz="2400" dirty="0"/>
              <a:t>   ה' הוא מקור הטוב, </a:t>
            </a:r>
          </a:p>
          <a:p>
            <a:r>
              <a:rPr lang="he-IL" sz="2400" dirty="0"/>
              <a:t>   משגיח על מעשנו וקשוב תמיד לפנייתנו.</a:t>
            </a:r>
          </a:p>
          <a:p>
            <a:r>
              <a:rPr lang="he-IL" sz="2400" dirty="0"/>
              <a:t>    יש לו יכולת בלתי מוגבלת לעשות כרצונו ולמלא את בקשתנו.</a:t>
            </a:r>
          </a:p>
          <a:p>
            <a:r>
              <a:rPr lang="he-IL" sz="2400" dirty="0"/>
              <a:t> </a:t>
            </a:r>
            <a:endParaRPr lang="he-IL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9306300C-56D1-4347-BF0B-CE48F32042F2}"/>
              </a:ext>
            </a:extLst>
          </p:cNvPr>
          <p:cNvSpPr txBox="1"/>
          <p:nvPr/>
        </p:nvSpPr>
        <p:spPr>
          <a:xfrm>
            <a:off x="2097885" y="692943"/>
            <a:ext cx="2533650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>
                <a:solidFill>
                  <a:schemeClr val="accent1"/>
                </a:solidFill>
              </a:rPr>
              <a:t>תועלת רוחנית         </a:t>
            </a:r>
          </a:p>
          <a:p>
            <a:r>
              <a:rPr lang="he-IL" sz="32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12" name="אליפסה 11">
            <a:extLst>
              <a:ext uri="{FF2B5EF4-FFF2-40B4-BE49-F238E27FC236}">
                <a16:creationId xmlns:a16="http://schemas.microsoft.com/office/drawing/2014/main" id="{D520E840-361F-4F52-B9E6-CA2A6416BB28}"/>
              </a:ext>
            </a:extLst>
          </p:cNvPr>
          <p:cNvSpPr/>
          <p:nvPr/>
        </p:nvSpPr>
        <p:spPr>
          <a:xfrm>
            <a:off x="4890314" y="3453653"/>
            <a:ext cx="257175" cy="273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4" name="תמונה 13">
            <a:extLst>
              <a:ext uri="{FF2B5EF4-FFF2-40B4-BE49-F238E27FC236}">
                <a16:creationId xmlns:a16="http://schemas.microsoft.com/office/drawing/2014/main" id="{0272819E-3B85-403B-A100-602069078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242" y="4868874"/>
            <a:ext cx="268247" cy="280440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43DA8621-E664-4CF8-B8EF-EEEF01988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242" y="4226707"/>
            <a:ext cx="268247" cy="280440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C5FD5CF1-3E4C-4D4B-9ECC-E6886D406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314" y="3833995"/>
            <a:ext cx="268247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8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E41AE78-01C4-4285-A184-E4F9093FF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20155"/>
          </a:xfrm>
        </p:spPr>
        <p:txBody>
          <a:bodyPr/>
          <a:lstStyle/>
          <a:p>
            <a:r>
              <a:rPr lang="he-IL" dirty="0"/>
              <a:t>האם חיוב התפילה </a:t>
            </a:r>
            <a:r>
              <a:rPr lang="he-IL" dirty="0" err="1"/>
              <a:t>מדאוריתא</a:t>
            </a:r>
            <a:r>
              <a:rPr lang="he-IL" dirty="0"/>
              <a:t> או מדרבנן?</a:t>
            </a:r>
            <a:br>
              <a:rPr lang="he-IL" dirty="0"/>
            </a:br>
            <a:r>
              <a:rPr lang="he-IL" dirty="0"/>
              <a:t/>
            </a:r>
            <a:br>
              <a:rPr lang="he-IL" dirty="0"/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6638F39-6E7A-4BDA-A9C2-EC2AF1D9C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451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he-IL" b="1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מהתורה אין זמן קבוע לתפילה</a:t>
            </a:r>
          </a:p>
          <a:p>
            <a:pPr marL="0" indent="0">
              <a:buNone/>
            </a:pPr>
            <a:endParaRPr lang="he-IL" b="1" dirty="0"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40765990-EED4-4ECD-AB5B-492B3B6851B0}"/>
              </a:ext>
            </a:extLst>
          </p:cNvPr>
          <p:cNvSpPr txBox="1"/>
          <p:nvPr/>
        </p:nvSpPr>
        <p:spPr>
          <a:xfrm>
            <a:off x="8096250" y="2612886"/>
            <a:ext cx="139065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/>
              <a:t>רמב"ם</a:t>
            </a:r>
          </a:p>
        </p:txBody>
      </p:sp>
      <p:sp>
        <p:nvSpPr>
          <p:cNvPr id="7" name="אליפסה 6">
            <a:extLst>
              <a:ext uri="{FF2B5EF4-FFF2-40B4-BE49-F238E27FC236}">
                <a16:creationId xmlns:a16="http://schemas.microsoft.com/office/drawing/2014/main" id="{A9951630-3B72-4282-B267-636679FB2D88}"/>
              </a:ext>
            </a:extLst>
          </p:cNvPr>
          <p:cNvSpPr/>
          <p:nvPr/>
        </p:nvSpPr>
        <p:spPr>
          <a:xfrm>
            <a:off x="7619999" y="3136106"/>
            <a:ext cx="2638425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חובה </a:t>
            </a:r>
            <a:r>
              <a:rPr lang="he-IL" sz="2000" dirty="0"/>
              <a:t>מהתורה להתפלל בכל יום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A8660020-C294-4C56-BE81-1E1CD5209001}"/>
              </a:ext>
            </a:extLst>
          </p:cNvPr>
          <p:cNvSpPr txBox="1"/>
          <p:nvPr/>
        </p:nvSpPr>
        <p:spPr>
          <a:xfrm>
            <a:off x="3603330" y="2671969"/>
            <a:ext cx="12192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/>
              <a:t>רמב"ן</a:t>
            </a:r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0D415897-87D6-484A-8A4D-1B66EA36AB3D}"/>
              </a:ext>
            </a:extLst>
          </p:cNvPr>
          <p:cNvSpPr/>
          <p:nvPr/>
        </p:nvSpPr>
        <p:spPr>
          <a:xfrm flipH="1">
            <a:off x="2762250" y="3219450"/>
            <a:ext cx="27432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אין</a:t>
            </a:r>
            <a:r>
              <a:rPr lang="he-IL" sz="2000" dirty="0"/>
              <a:t> חובה מהתורה להתפלל</a:t>
            </a:r>
            <a:r>
              <a:rPr lang="he-IL" dirty="0"/>
              <a:t>.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8CF6DA9D-44F2-4206-B5F5-FF03EEBF6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975" y="2471737"/>
            <a:ext cx="1543050" cy="1662113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429B4C9D-F574-47BC-8378-793FB284F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107" y="2500589"/>
            <a:ext cx="1543049" cy="1662113"/>
          </a:xfrm>
          <a:prstGeom prst="rect">
            <a:avLst/>
          </a:prstGeom>
        </p:spPr>
      </p:pic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F1BF89F7-2618-4F9B-8921-C4BAAE97B7E3}"/>
              </a:ext>
            </a:extLst>
          </p:cNvPr>
          <p:cNvSpPr txBox="1"/>
          <p:nvPr/>
        </p:nvSpPr>
        <p:spPr>
          <a:xfrm>
            <a:off x="5738946" y="4396373"/>
            <a:ext cx="4130752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he-IL" dirty="0"/>
          </a:p>
          <a:p>
            <a:r>
              <a:rPr lang="he-IL" dirty="0"/>
              <a:t>אין מספר התפילות מהתורה		</a:t>
            </a:r>
          </a:p>
          <a:p>
            <a:r>
              <a:rPr lang="he-IL" dirty="0"/>
              <a:t>אין נוסח קבוע לתפילה מהתורה                                   </a:t>
            </a:r>
          </a:p>
          <a:p>
            <a:r>
              <a:rPr lang="he-IL" dirty="0"/>
              <a:t>אין זמן קבוע לתפילות ביום מהתורה</a:t>
            </a:r>
          </a:p>
        </p:txBody>
      </p:sp>
      <p:sp>
        <p:nvSpPr>
          <p:cNvPr id="16" name="סוגר מסולסל ימני 15">
            <a:extLst>
              <a:ext uri="{FF2B5EF4-FFF2-40B4-BE49-F238E27FC236}">
                <a16:creationId xmlns:a16="http://schemas.microsoft.com/office/drawing/2014/main" id="{234C9C49-79D5-4D7F-8E3A-5A11A59F45CB}"/>
              </a:ext>
            </a:extLst>
          </p:cNvPr>
          <p:cNvSpPr/>
          <p:nvPr/>
        </p:nvSpPr>
        <p:spPr>
          <a:xfrm>
            <a:off x="9448800" y="4477765"/>
            <a:ext cx="981075" cy="1318042"/>
          </a:xfrm>
          <a:prstGeom prst="rightBrace">
            <a:avLst>
              <a:gd name="adj1" fmla="val 2914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3EE2AE7F-AD7C-463F-ADBA-D436BC1B7F4F}"/>
              </a:ext>
            </a:extLst>
          </p:cNvPr>
          <p:cNvSpPr txBox="1"/>
          <p:nvPr/>
        </p:nvSpPr>
        <p:spPr>
          <a:xfrm>
            <a:off x="10596563" y="4968874"/>
            <a:ext cx="120015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b="1" dirty="0"/>
              <a:t>מדרבנן</a:t>
            </a:r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035A47CE-5423-488A-BF25-8BAC4646EDC5}"/>
              </a:ext>
            </a:extLst>
          </p:cNvPr>
          <p:cNvSpPr txBox="1"/>
          <p:nvPr/>
        </p:nvSpPr>
        <p:spPr>
          <a:xfrm>
            <a:off x="2686048" y="4287838"/>
            <a:ext cx="221932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הזמן לתפילה(בספק) הוא בשעת צרה.</a:t>
            </a:r>
          </a:p>
        </p:txBody>
      </p:sp>
      <p:sp>
        <p:nvSpPr>
          <p:cNvPr id="19" name="פיצוץ: 8 נקודות 18">
            <a:extLst>
              <a:ext uri="{FF2B5EF4-FFF2-40B4-BE49-F238E27FC236}">
                <a16:creationId xmlns:a16="http://schemas.microsoft.com/office/drawing/2014/main" id="{676CB9BD-9FE6-4FD2-B47E-96BB1A4CEEA9}"/>
              </a:ext>
            </a:extLst>
          </p:cNvPr>
          <p:cNvSpPr/>
          <p:nvPr/>
        </p:nvSpPr>
        <p:spPr>
          <a:xfrm rot="20507672">
            <a:off x="6158776" y="2966138"/>
            <a:ext cx="2408917" cy="967571"/>
          </a:xfrm>
          <a:prstGeom prst="irregularSeal1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dirty="0" err="1">
                <a:solidFill>
                  <a:srgbClr val="C00000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דאוריתא</a:t>
            </a:r>
            <a:endParaRPr lang="he-IL" sz="2000" dirty="0">
              <a:solidFill>
                <a:srgbClr val="C00000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</p:txBody>
      </p:sp>
      <p:sp>
        <p:nvSpPr>
          <p:cNvPr id="20" name="פיצוץ: 8 נקודות 19">
            <a:extLst>
              <a:ext uri="{FF2B5EF4-FFF2-40B4-BE49-F238E27FC236}">
                <a16:creationId xmlns:a16="http://schemas.microsoft.com/office/drawing/2014/main" id="{34004387-091B-4E69-AB49-9050BF5E7EB6}"/>
              </a:ext>
            </a:extLst>
          </p:cNvPr>
          <p:cNvSpPr/>
          <p:nvPr/>
        </p:nvSpPr>
        <p:spPr>
          <a:xfrm rot="21031143">
            <a:off x="1703910" y="2833048"/>
            <a:ext cx="2324101" cy="939488"/>
          </a:xfrm>
          <a:prstGeom prst="irregularSeal1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rgbClr val="C00000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דרבנן</a:t>
            </a:r>
          </a:p>
        </p:txBody>
      </p:sp>
      <p:sp>
        <p:nvSpPr>
          <p:cNvPr id="21" name="מלבן: פינות מעוגלות 20">
            <a:extLst>
              <a:ext uri="{FF2B5EF4-FFF2-40B4-BE49-F238E27FC236}">
                <a16:creationId xmlns:a16="http://schemas.microsoft.com/office/drawing/2014/main" id="{D6A92A29-49D2-4A51-ADEA-4E7CD56C50AE}"/>
              </a:ext>
            </a:extLst>
          </p:cNvPr>
          <p:cNvSpPr/>
          <p:nvPr/>
        </p:nvSpPr>
        <p:spPr>
          <a:xfrm>
            <a:off x="2114551" y="5977016"/>
            <a:ext cx="8867774" cy="8809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עיקר החובה היא הפניה אל ה' וההכרה שהוא המענה </a:t>
            </a:r>
            <a:r>
              <a:rPr lang="he-IL" dirty="0" err="1"/>
              <a:t>לבקשותנו</a:t>
            </a:r>
            <a:r>
              <a:rPr lang="he-IL" dirty="0"/>
              <a:t> לכן מי שנמצא במצב סכנה ואינו יכול להתכוון לה' יאמר ברכה </a:t>
            </a:r>
            <a:r>
              <a:rPr lang="he-IL" dirty="0" err="1"/>
              <a:t>קצרה:צרכי</a:t>
            </a:r>
            <a:r>
              <a:rPr lang="he-IL" dirty="0"/>
              <a:t> עמך מרובין ...יהי </a:t>
            </a:r>
            <a:r>
              <a:rPr lang="he-IL" dirty="0" err="1"/>
              <a:t>רצון..ברוך</a:t>
            </a:r>
            <a:r>
              <a:rPr lang="he-IL" dirty="0"/>
              <a:t> אתה ה' שומע תפילה.</a:t>
            </a:r>
          </a:p>
        </p:txBody>
      </p:sp>
    </p:spTree>
    <p:extLst>
      <p:ext uri="{BB962C8B-B14F-4D97-AF65-F5344CB8AC3E}">
        <p14:creationId xmlns:p14="http://schemas.microsoft.com/office/powerpoint/2010/main" val="96026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/>
      <p:bldP spid="9" grpId="0" animBg="1"/>
      <p:bldP spid="14" grpId="0"/>
      <p:bldP spid="16" grpId="0" animBg="1"/>
      <p:bldP spid="17" grpId="0"/>
      <p:bldP spid="18" grpId="0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31706BC-6CFA-48F7-B7F9-6940BCD1E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1572"/>
          </a:xfrm>
        </p:spPr>
        <p:txBody>
          <a:bodyPr>
            <a:normAutofit fontScale="90000"/>
          </a:bodyPr>
          <a:lstStyle/>
          <a:p>
            <a:r>
              <a:rPr lang="he-IL" dirty="0"/>
              <a:t>מדיני המצווה: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46E7A59-23E5-4BE3-9874-0A4FB1E09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9" y="1102198"/>
            <a:ext cx="10515600" cy="5072384"/>
          </a:xfrm>
        </p:spPr>
        <p:txBody>
          <a:bodyPr/>
          <a:lstStyle/>
          <a:p>
            <a:pPr marL="0" indent="0">
              <a:buNone/>
            </a:pPr>
            <a:r>
              <a:rPr lang="he-IL" dirty="0"/>
              <a:t>         חובה להתפלל שלוש פעמים ביום.</a:t>
            </a:r>
          </a:p>
          <a:p>
            <a:pPr marL="0" indent="0">
              <a:buNone/>
            </a:pPr>
            <a:r>
              <a:rPr lang="he-IL" dirty="0"/>
              <a:t>         </a:t>
            </a:r>
            <a:r>
              <a:rPr lang="he-IL" sz="4400" dirty="0"/>
              <a:t>התפילות כנגד </a:t>
            </a:r>
            <a:r>
              <a:rPr lang="he-IL" sz="4400" dirty="0" err="1"/>
              <a:t>הקרבנות</a:t>
            </a:r>
            <a:r>
              <a:rPr lang="he-IL" sz="4400" dirty="0"/>
              <a:t> תקנום               </a:t>
            </a:r>
          </a:p>
          <a:p>
            <a:pPr marL="0" indent="0">
              <a:buNone/>
            </a:pPr>
            <a:endParaRPr lang="he-IL" sz="4400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			</a:t>
            </a:r>
          </a:p>
        </p:txBody>
      </p:sp>
      <p:sp>
        <p:nvSpPr>
          <p:cNvPr id="4" name="פיצוץ: 8 נקודות 3">
            <a:extLst>
              <a:ext uri="{FF2B5EF4-FFF2-40B4-BE49-F238E27FC236}">
                <a16:creationId xmlns:a16="http://schemas.microsoft.com/office/drawing/2014/main" id="{E000F291-E883-45F8-AF34-270D66C4C9B3}"/>
              </a:ext>
            </a:extLst>
          </p:cNvPr>
          <p:cNvSpPr/>
          <p:nvPr/>
        </p:nvSpPr>
        <p:spPr>
          <a:xfrm>
            <a:off x="10474665" y="1102198"/>
            <a:ext cx="466724" cy="428625"/>
          </a:xfrm>
          <a:prstGeom prst="irregularSeal1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7885325D-2451-4F19-9C34-194C08742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8924" y="1756323"/>
            <a:ext cx="518205" cy="487722"/>
          </a:xfrm>
          <a:prstGeom prst="rect">
            <a:avLst/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6D2D7194-3960-4737-8EA6-B284D80F2333}"/>
              </a:ext>
            </a:extLst>
          </p:cNvPr>
          <p:cNvSpPr/>
          <p:nvPr/>
        </p:nvSpPr>
        <p:spPr>
          <a:xfrm rot="1386816">
            <a:off x="9415785" y="2976144"/>
            <a:ext cx="2117760" cy="1780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000" dirty="0"/>
          </a:p>
          <a:p>
            <a:pPr algn="ctr"/>
            <a:r>
              <a:rPr lang="he-IL" sz="2000" dirty="0"/>
              <a:t>תפילת </a:t>
            </a:r>
            <a:r>
              <a:rPr lang="he-IL" sz="2000" b="1" dirty="0"/>
              <a:t>שחרית</a:t>
            </a:r>
          </a:p>
          <a:p>
            <a:pPr algn="ctr"/>
            <a:r>
              <a:rPr lang="he-IL" sz="2000" dirty="0"/>
              <a:t> כנגד קורבן תמיד </a:t>
            </a:r>
            <a:r>
              <a:rPr lang="he-IL" sz="2000" b="1" dirty="0"/>
              <a:t>של שחר</a:t>
            </a:r>
          </a:p>
          <a:p>
            <a:pPr algn="ctr"/>
            <a:r>
              <a:rPr lang="he-IL" sz="2000" dirty="0"/>
              <a:t>		</a:t>
            </a:r>
            <a:r>
              <a:rPr lang="he-IL" dirty="0"/>
              <a:t>	 </a:t>
            </a: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618BCEDD-9253-4865-B1F7-943835B1D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30605">
            <a:off x="5229847" y="4796105"/>
            <a:ext cx="2117760" cy="1780186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E6ED69EB-5AC4-4FAD-82F7-874B4783F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355321">
            <a:off x="488443" y="2761115"/>
            <a:ext cx="2314575" cy="1780186"/>
          </a:xfrm>
          <a:prstGeom prst="rect">
            <a:avLst/>
          </a:prstGeom>
        </p:spPr>
      </p:pic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8297A4A7-B1D9-4C31-8BDB-A971F59B4628}"/>
              </a:ext>
            </a:extLst>
          </p:cNvPr>
          <p:cNvSpPr txBox="1"/>
          <p:nvPr/>
        </p:nvSpPr>
        <p:spPr>
          <a:xfrm rot="20339008">
            <a:off x="406434" y="3041687"/>
            <a:ext cx="23775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000" dirty="0">
                <a:solidFill>
                  <a:schemeClr val="bg1"/>
                </a:solidFill>
              </a:rPr>
              <a:t>תפילת </a:t>
            </a:r>
            <a:r>
              <a:rPr lang="he-IL" sz="2000" b="1" dirty="0">
                <a:solidFill>
                  <a:schemeClr val="bg1"/>
                </a:solidFill>
              </a:rPr>
              <a:t>ערבית</a:t>
            </a:r>
            <a:r>
              <a:rPr lang="he-IL" sz="2000" dirty="0">
                <a:solidFill>
                  <a:schemeClr val="bg1"/>
                </a:solidFill>
              </a:rPr>
              <a:t> </a:t>
            </a:r>
          </a:p>
          <a:p>
            <a:r>
              <a:rPr lang="he-IL" sz="2000" dirty="0">
                <a:solidFill>
                  <a:schemeClr val="bg1"/>
                </a:solidFill>
              </a:rPr>
              <a:t>כנגד שיירי הקורבנות</a:t>
            </a:r>
          </a:p>
          <a:p>
            <a:r>
              <a:rPr lang="he-IL" sz="2000" dirty="0">
                <a:solidFill>
                  <a:schemeClr val="bg1"/>
                </a:solidFill>
              </a:rPr>
              <a:t>(שהיו ממשיכים </a:t>
            </a:r>
            <a:r>
              <a:rPr lang="he-IL" sz="2000" dirty="0" err="1">
                <a:solidFill>
                  <a:schemeClr val="bg1"/>
                </a:solidFill>
              </a:rPr>
              <a:t>להשרף</a:t>
            </a:r>
            <a:r>
              <a:rPr lang="he-IL" sz="2000" dirty="0">
                <a:solidFill>
                  <a:schemeClr val="bg1"/>
                </a:solidFill>
              </a:rPr>
              <a:t> על המזבח)</a:t>
            </a:r>
          </a:p>
        </p:txBody>
      </p: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DA1D63D4-8DA8-42EB-9912-AF607999E60A}"/>
              </a:ext>
            </a:extLst>
          </p:cNvPr>
          <p:cNvSpPr txBox="1"/>
          <p:nvPr/>
        </p:nvSpPr>
        <p:spPr>
          <a:xfrm rot="1249988">
            <a:off x="5125701" y="5002773"/>
            <a:ext cx="18954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000" i="1" dirty="0">
                <a:solidFill>
                  <a:schemeClr val="bg1"/>
                </a:solidFill>
              </a:rPr>
              <a:t>תפ</a:t>
            </a:r>
            <a:r>
              <a:rPr lang="he-IL" sz="2000" dirty="0">
                <a:solidFill>
                  <a:schemeClr val="bg1"/>
                </a:solidFill>
              </a:rPr>
              <a:t>ילת </a:t>
            </a:r>
            <a:r>
              <a:rPr lang="he-IL" sz="2000" b="1" dirty="0">
                <a:solidFill>
                  <a:schemeClr val="bg1"/>
                </a:solidFill>
              </a:rPr>
              <a:t>מנחה</a:t>
            </a:r>
            <a:r>
              <a:rPr lang="he-IL" sz="2000" dirty="0">
                <a:solidFill>
                  <a:schemeClr val="bg1"/>
                </a:solidFill>
              </a:rPr>
              <a:t> כנגד </a:t>
            </a:r>
          </a:p>
          <a:p>
            <a:r>
              <a:rPr lang="he-IL" sz="2000" dirty="0">
                <a:solidFill>
                  <a:schemeClr val="bg1"/>
                </a:solidFill>
              </a:rPr>
              <a:t>תמיד של בין הערביים</a:t>
            </a:r>
          </a:p>
        </p:txBody>
      </p:sp>
      <p:pic>
        <p:nvPicPr>
          <p:cNvPr id="33" name="תמונה 32">
            <a:extLst>
              <a:ext uri="{FF2B5EF4-FFF2-40B4-BE49-F238E27FC236}">
                <a16:creationId xmlns:a16="http://schemas.microsoft.com/office/drawing/2014/main" id="{0CF07B6E-D4FD-4C63-BE0F-BF35E67F3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883" y="2421297"/>
            <a:ext cx="5031077" cy="2127688"/>
          </a:xfrm>
          <a:prstGeom prst="rect">
            <a:avLst/>
          </a:prstGeom>
        </p:spPr>
      </p:pic>
      <p:pic>
        <p:nvPicPr>
          <p:cNvPr id="35" name="תמונה 34">
            <a:extLst>
              <a:ext uri="{FF2B5EF4-FFF2-40B4-BE49-F238E27FC236}">
                <a16:creationId xmlns:a16="http://schemas.microsoft.com/office/drawing/2014/main" id="{B72706C3-B2E8-4AE7-A386-169353E6A3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006" y="4678661"/>
            <a:ext cx="3450539" cy="2084209"/>
          </a:xfrm>
          <a:prstGeom prst="rect">
            <a:avLst/>
          </a:prstGeom>
        </p:spPr>
      </p:pic>
      <p:pic>
        <p:nvPicPr>
          <p:cNvPr id="37" name="תמונה 36">
            <a:extLst>
              <a:ext uri="{FF2B5EF4-FFF2-40B4-BE49-F238E27FC236}">
                <a16:creationId xmlns:a16="http://schemas.microsoft.com/office/drawing/2014/main" id="{301E6A36-9486-453D-964A-40F740B18E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2445" y="4747443"/>
            <a:ext cx="3450539" cy="1981200"/>
          </a:xfrm>
          <a:prstGeom prst="rect">
            <a:avLst/>
          </a:prstGeom>
        </p:spPr>
      </p:pic>
      <p:pic>
        <p:nvPicPr>
          <p:cNvPr id="41" name="תמונה 40">
            <a:extLst>
              <a:ext uri="{FF2B5EF4-FFF2-40B4-BE49-F238E27FC236}">
                <a16:creationId xmlns:a16="http://schemas.microsoft.com/office/drawing/2014/main" id="{EF4D2681-3DBD-4757-A645-338F496EA4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80" y="983853"/>
            <a:ext cx="3492079" cy="185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1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0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9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25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9821D9F-0DCB-42C1-919F-A4EF72BB3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0544"/>
          </a:xfrm>
        </p:spPr>
        <p:txBody>
          <a:bodyPr>
            <a:normAutofit fontScale="90000"/>
          </a:bodyPr>
          <a:lstStyle/>
          <a:p>
            <a:r>
              <a:rPr lang="he-IL" dirty="0"/>
              <a:t>תפילת ערבית</a:t>
            </a:r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7C0E4037-3D8B-4782-9BD3-13390A93F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7097" y="835670"/>
            <a:ext cx="11410950" cy="6322457"/>
          </a:xfr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DDEDB887-C501-4E61-BC39-12852AF98BA3}"/>
              </a:ext>
            </a:extLst>
          </p:cNvPr>
          <p:cNvSpPr txBox="1"/>
          <p:nvPr/>
        </p:nvSpPr>
        <p:spPr>
          <a:xfrm>
            <a:off x="704850" y="1504861"/>
            <a:ext cx="767715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>
                <a:solidFill>
                  <a:schemeClr val="bg2"/>
                </a:solidFill>
              </a:rPr>
              <a:t>מלכתחילה- </a:t>
            </a:r>
          </a:p>
          <a:p>
            <a:r>
              <a:rPr lang="he-IL" dirty="0">
                <a:solidFill>
                  <a:schemeClr val="bg2"/>
                </a:solidFill>
              </a:rPr>
              <a:t>מאחר שתפילה זו נקבעה כנגד שיירי הקורבנות- ולא תמיד היו ,ולא היה חובה שיהיו..</a:t>
            </a:r>
          </a:p>
          <a:p>
            <a:endParaRPr lang="he-IL" dirty="0">
              <a:solidFill>
                <a:schemeClr val="bg2"/>
              </a:solidFill>
            </a:endParaRPr>
          </a:p>
          <a:p>
            <a:endParaRPr lang="he-IL" dirty="0">
              <a:solidFill>
                <a:schemeClr val="bg2"/>
              </a:solidFill>
            </a:endParaRPr>
          </a:p>
          <a:p>
            <a:r>
              <a:rPr lang="he-IL" dirty="0">
                <a:solidFill>
                  <a:schemeClr val="bg2"/>
                </a:solidFill>
              </a:rPr>
              <a:t> תפילת ערבית אינה חובה וכל אחד יכול לבחור אם </a:t>
            </a:r>
            <a:r>
              <a:rPr lang="he-IL" dirty="0" err="1">
                <a:solidFill>
                  <a:schemeClr val="bg2"/>
                </a:solidFill>
              </a:rPr>
              <a:t>רוצה,אם</a:t>
            </a:r>
            <a:r>
              <a:rPr lang="he-IL" dirty="0">
                <a:solidFill>
                  <a:schemeClr val="bg2"/>
                </a:solidFill>
              </a:rPr>
              <a:t> פנוי לתפילה </a:t>
            </a:r>
          </a:p>
          <a:p>
            <a:r>
              <a:rPr lang="he-IL" dirty="0">
                <a:solidFill>
                  <a:schemeClr val="bg2"/>
                </a:solidFill>
              </a:rPr>
              <a:t>                          </a:t>
            </a:r>
            <a:r>
              <a:rPr lang="he-IL" sz="2800" b="1" dirty="0">
                <a:solidFill>
                  <a:schemeClr val="bg2"/>
                </a:solidFill>
              </a:rPr>
              <a:t>ואם לא יתפלל-אין לו עבירה..</a:t>
            </a:r>
          </a:p>
        </p:txBody>
      </p:sp>
      <p:sp>
        <p:nvSpPr>
          <p:cNvPr id="8" name="חץ: למטה 7">
            <a:extLst>
              <a:ext uri="{FF2B5EF4-FFF2-40B4-BE49-F238E27FC236}">
                <a16:creationId xmlns:a16="http://schemas.microsoft.com/office/drawing/2014/main" id="{98B0A99D-23C8-4089-AA54-D88D33F10D4D}"/>
              </a:ext>
            </a:extLst>
          </p:cNvPr>
          <p:cNvSpPr/>
          <p:nvPr/>
        </p:nvSpPr>
        <p:spPr>
          <a:xfrm>
            <a:off x="5095875" y="2115324"/>
            <a:ext cx="484632" cy="533400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rgbClr val="FFFF00"/>
              </a:solidFill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F5EA3BAE-9065-47A0-9F73-2CBF43F7CA10}"/>
              </a:ext>
            </a:extLst>
          </p:cNvPr>
          <p:cNvSpPr txBox="1"/>
          <p:nvPr/>
        </p:nvSpPr>
        <p:spPr>
          <a:xfrm>
            <a:off x="7667624" y="3875581"/>
            <a:ext cx="3655174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he-IL" sz="2000" b="1" dirty="0">
                <a:solidFill>
                  <a:schemeClr val="accent4"/>
                </a:solidFill>
              </a:rPr>
              <a:t>למרות זאת נהגו ישראל היום בכל מקום להתפלל תפלת הערב בקבע בכל לילה, </a:t>
            </a:r>
          </a:p>
        </p:txBody>
      </p:sp>
      <p:sp>
        <p:nvSpPr>
          <p:cNvPr id="11" name="חץ: מעוקל שמאלה 10">
            <a:extLst>
              <a:ext uri="{FF2B5EF4-FFF2-40B4-BE49-F238E27FC236}">
                <a16:creationId xmlns:a16="http://schemas.microsoft.com/office/drawing/2014/main" id="{5475B275-9743-411E-8A8A-830925CAF0BC}"/>
              </a:ext>
            </a:extLst>
          </p:cNvPr>
          <p:cNvSpPr/>
          <p:nvPr/>
        </p:nvSpPr>
        <p:spPr>
          <a:xfrm rot="19700420">
            <a:off x="9155591" y="2560921"/>
            <a:ext cx="914400" cy="1406652"/>
          </a:xfrm>
          <a:prstGeom prst="curvedLeftArrow">
            <a:avLst>
              <a:gd name="adj1" fmla="val 25000"/>
              <a:gd name="adj2" fmla="val 53709"/>
              <a:gd name="adj3" fmla="val 72491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accent4"/>
              </a:solidFill>
            </a:endParaRP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47FAC3CB-CBB6-4525-95C7-6E95FCE85607}"/>
              </a:ext>
            </a:extLst>
          </p:cNvPr>
          <p:cNvSpPr txBox="1"/>
          <p:nvPr/>
        </p:nvSpPr>
        <p:spPr>
          <a:xfrm>
            <a:off x="1915873" y="4537301"/>
            <a:ext cx="4704002" cy="126188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b="1" dirty="0">
                <a:solidFill>
                  <a:srgbClr val="FFC000"/>
                </a:solidFill>
              </a:rPr>
              <a:t>מאחר שקיבלו עליהם כחובה-</a:t>
            </a:r>
          </a:p>
          <a:p>
            <a:r>
              <a:rPr lang="he-IL" sz="2800" b="1" dirty="0">
                <a:solidFill>
                  <a:srgbClr val="FFC000"/>
                </a:solidFill>
              </a:rPr>
              <a:t>חייב כל אחד מישראל להתפלל ערבית בכל מקרה</a:t>
            </a:r>
          </a:p>
        </p:txBody>
      </p:sp>
      <p:pic>
        <p:nvPicPr>
          <p:cNvPr id="16" name="תמונה 15">
            <a:extLst>
              <a:ext uri="{FF2B5EF4-FFF2-40B4-BE49-F238E27FC236}">
                <a16:creationId xmlns:a16="http://schemas.microsoft.com/office/drawing/2014/main" id="{62EE1417-4525-4782-AA45-F92EA7802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156441">
            <a:off x="7541872" y="4731630"/>
            <a:ext cx="518205" cy="10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4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BBDD423-09F2-44CC-B542-6963E644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463674"/>
          </a:xfrm>
        </p:spPr>
        <p:txBody>
          <a:bodyPr>
            <a:normAutofit/>
          </a:bodyPr>
          <a:lstStyle/>
          <a:p>
            <a:r>
              <a:rPr lang="he-IL" dirty="0"/>
              <a:t>                      תפילות בשבתות ומועדים: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6A4998D-1733-4006-A5C8-E628B6D98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275"/>
            <a:ext cx="10515600" cy="5314950"/>
          </a:xfrm>
        </p:spPr>
        <p:txBody>
          <a:bodyPr/>
          <a:lstStyle/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בשבתות מועדים וראשי חודשים: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D76C7100-4A84-4BA3-A9E3-4AF6CD60C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2705725"/>
            <a:ext cx="4714876" cy="3346448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D602282E-BE55-4AB7-955B-7B53AEF5E9C5}"/>
              </a:ext>
            </a:extLst>
          </p:cNvPr>
          <p:cNvSpPr txBox="1"/>
          <p:nvPr/>
        </p:nvSpPr>
        <p:spPr>
          <a:xfrm>
            <a:off x="6815137" y="2686178"/>
            <a:ext cx="3724275" cy="206210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b="1" dirty="0"/>
              <a:t>מוסיפים </a:t>
            </a:r>
            <a:r>
              <a:rPr lang="he-IL" sz="3200" b="1" dirty="0"/>
              <a:t>תפילת מוסף</a:t>
            </a:r>
            <a:r>
              <a:rPr lang="he-IL" sz="2400" b="1" dirty="0"/>
              <a:t>- </a:t>
            </a:r>
          </a:p>
          <a:p>
            <a:r>
              <a:rPr lang="he-IL" sz="2400" b="1" dirty="0"/>
              <a:t>כנגד קורבנות המוספים של ימים טובים ושבת.</a:t>
            </a:r>
          </a:p>
          <a:p>
            <a:r>
              <a:rPr lang="he-IL" sz="2400" b="1" dirty="0"/>
              <a:t> </a:t>
            </a:r>
          </a:p>
          <a:p>
            <a:r>
              <a:rPr lang="he-IL" sz="2400" b="1" dirty="0"/>
              <a:t>סה"כ-4 תפילות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675F75BF-04E1-4CCA-8A70-64D0972A9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4" y="3346450"/>
            <a:ext cx="4867275" cy="3346448"/>
          </a:xfrm>
          <a:prstGeom prst="rect">
            <a:avLst/>
          </a:prstGeom>
        </p:spPr>
      </p:pic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339FAFA8-5F65-40E9-87D7-7B42AFAD867C}"/>
              </a:ext>
            </a:extLst>
          </p:cNvPr>
          <p:cNvSpPr txBox="1"/>
          <p:nvPr/>
        </p:nvSpPr>
        <p:spPr>
          <a:xfrm>
            <a:off x="2290764" y="3321049"/>
            <a:ext cx="330517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400" b="1" dirty="0"/>
              <a:t>מוסיפים </a:t>
            </a:r>
            <a:r>
              <a:rPr lang="he-IL" sz="2800" b="1" dirty="0"/>
              <a:t>תפילת נעילה</a:t>
            </a:r>
            <a:r>
              <a:rPr lang="he-IL" sz="3200" b="1" dirty="0"/>
              <a:t>-</a:t>
            </a:r>
            <a:r>
              <a:rPr lang="he-IL" sz="2400" b="1" dirty="0"/>
              <a:t>בגלל קדושת היום </a:t>
            </a:r>
          </a:p>
          <a:p>
            <a:r>
              <a:rPr lang="he-IL" sz="2400" b="1" dirty="0"/>
              <a:t>ובקשת הסליחה. </a:t>
            </a:r>
          </a:p>
          <a:p>
            <a:endParaRPr lang="he-IL" sz="2400" b="1" dirty="0"/>
          </a:p>
          <a:p>
            <a:r>
              <a:rPr lang="he-IL" sz="2400" b="1" dirty="0"/>
              <a:t>סה"כ-5 תפילות </a:t>
            </a:r>
          </a:p>
          <a:p>
            <a:endParaRPr lang="he-IL" dirty="0"/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8F98D1E6-B3A2-4C7D-B29A-E1F5340FEC3D}"/>
              </a:ext>
            </a:extLst>
          </p:cNvPr>
          <p:cNvSpPr txBox="1"/>
          <p:nvPr/>
        </p:nvSpPr>
        <p:spPr>
          <a:xfrm>
            <a:off x="2009774" y="2427229"/>
            <a:ext cx="2581275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dirty="0"/>
              <a:t>ביום הכיפורים</a:t>
            </a:r>
          </a:p>
        </p:txBody>
      </p:sp>
    </p:spTree>
    <p:extLst>
      <p:ext uri="{BB962C8B-B14F-4D97-AF65-F5344CB8AC3E}">
        <p14:creationId xmlns:p14="http://schemas.microsoft.com/office/powerpoint/2010/main" val="93631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7BA90AA-5958-424B-95CC-D478AA1EF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6000"/>
          </a:xfrm>
        </p:spPr>
        <p:txBody>
          <a:bodyPr/>
          <a:lstStyle/>
          <a:p>
            <a:r>
              <a:rPr lang="he-IL" dirty="0">
                <a:solidFill>
                  <a:schemeClr val="accent1"/>
                </a:solidFill>
              </a:rPr>
              <a:t>                        </a:t>
            </a:r>
            <a:r>
              <a:rPr lang="he-IL" dirty="0"/>
              <a:t>נוסח התפילה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93514CC-8B4B-4C3F-B3A9-CEF3609C4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7300"/>
            <a:ext cx="10515600" cy="4919663"/>
          </a:xfrm>
        </p:spPr>
        <p:txBody>
          <a:bodyPr/>
          <a:lstStyle/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.</a:t>
            </a:r>
          </a:p>
          <a:p>
            <a:pPr marL="0" indent="0">
              <a:buNone/>
            </a:pPr>
            <a:endParaRPr lang="he-IL" dirty="0"/>
          </a:p>
        </p:txBody>
      </p:sp>
      <p:sp>
        <p:nvSpPr>
          <p:cNvPr id="4" name="מלבן: מסגרת משופעת 3">
            <a:extLst>
              <a:ext uri="{FF2B5EF4-FFF2-40B4-BE49-F238E27FC236}">
                <a16:creationId xmlns:a16="http://schemas.microsoft.com/office/drawing/2014/main" id="{AE543187-ECD5-4F39-9870-870E7E903890}"/>
              </a:ext>
            </a:extLst>
          </p:cNvPr>
          <p:cNvSpPr/>
          <p:nvPr/>
        </p:nvSpPr>
        <p:spPr>
          <a:xfrm rot="10800000" flipV="1">
            <a:off x="2500545" y="1337813"/>
            <a:ext cx="8352258" cy="1803056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b="1" dirty="0"/>
              <a:t>עזרא ובית דינו , </a:t>
            </a:r>
            <a:r>
              <a:rPr lang="he-IL" sz="3600" b="1" dirty="0"/>
              <a:t>אנשי כנסת הגדולה</a:t>
            </a:r>
            <a:r>
              <a:rPr lang="he-IL" sz="2800" b="1" dirty="0"/>
              <a:t>, חברו את נוסח התפילה בזמן שיבת ציון.</a:t>
            </a:r>
          </a:p>
          <a:p>
            <a:pPr algn="ctr"/>
            <a:r>
              <a:rPr lang="he-IL" sz="2800" b="1" dirty="0">
                <a:solidFill>
                  <a:srgbClr val="FFC000"/>
                </a:solidFill>
              </a:rPr>
              <a:t>לפני בית המקדש השני</a:t>
            </a:r>
          </a:p>
        </p:txBody>
      </p:sp>
      <p:sp>
        <p:nvSpPr>
          <p:cNvPr id="5" name="מלבן: מסגרת משופעת 4">
            <a:extLst>
              <a:ext uri="{FF2B5EF4-FFF2-40B4-BE49-F238E27FC236}">
                <a16:creationId xmlns:a16="http://schemas.microsoft.com/office/drawing/2014/main" id="{D6CB63AB-F308-45C4-90A9-1C03EBF473AE}"/>
              </a:ext>
            </a:extLst>
          </p:cNvPr>
          <p:cNvSpPr/>
          <p:nvPr/>
        </p:nvSpPr>
        <p:spPr>
          <a:xfrm>
            <a:off x="3178872" y="3334259"/>
            <a:ext cx="6995604" cy="1032919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 dirty="0"/>
              <a:t>שמואל הקטן הוסיף את ברכת המינים </a:t>
            </a:r>
          </a:p>
          <a:p>
            <a:pPr algn="ctr"/>
            <a:r>
              <a:rPr lang="he-IL" sz="2400" b="1" dirty="0">
                <a:solidFill>
                  <a:srgbClr val="FFC000"/>
                </a:solidFill>
              </a:rPr>
              <a:t>לאחר חורבן בית שני</a:t>
            </a:r>
          </a:p>
        </p:txBody>
      </p:sp>
      <p:sp>
        <p:nvSpPr>
          <p:cNvPr id="6" name="מלבן: מסגרת משופעת 5">
            <a:extLst>
              <a:ext uri="{FF2B5EF4-FFF2-40B4-BE49-F238E27FC236}">
                <a16:creationId xmlns:a16="http://schemas.microsoft.com/office/drawing/2014/main" id="{745875E9-57E9-4364-B49A-1DA655A637D6}"/>
              </a:ext>
            </a:extLst>
          </p:cNvPr>
          <p:cNvSpPr/>
          <p:nvPr/>
        </p:nvSpPr>
        <p:spPr>
          <a:xfrm>
            <a:off x="2500545" y="5287392"/>
            <a:ext cx="8233631" cy="1443951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 dirty="0"/>
              <a:t>שמעון </a:t>
            </a:r>
            <a:r>
              <a:rPr lang="he-IL" sz="2400" b="1" dirty="0" err="1"/>
              <a:t>הפקולי</a:t>
            </a:r>
            <a:r>
              <a:rPr lang="he-IL" sz="2400" b="1" dirty="0"/>
              <a:t> חזר וסידר את הסדר כפי שקבעו עזרא ובית דינו ,מאחר ולאחר זמן נשכח הסדר המדויק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F9FBBFD4-67A9-4345-ADDF-7F8FD8F97194}"/>
              </a:ext>
            </a:extLst>
          </p:cNvPr>
          <p:cNvSpPr txBox="1"/>
          <p:nvPr/>
        </p:nvSpPr>
        <p:spPr>
          <a:xfrm>
            <a:off x="2500544" y="4367178"/>
            <a:ext cx="82336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b="1" dirty="0"/>
              <a:t>ברכת המינים- ברכה שהתווספה לאחר חורבן בית שני בו סבלו היהודים מרדיפות מאויבים מתוכם ומהנוצרים והמלשינים ואז חיבר שמואל הקטן את הברכה-שה' יכניע את המלשינים.</a:t>
            </a:r>
          </a:p>
          <a:p>
            <a:endParaRPr lang="he-IL" b="1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13588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498657E4-5212-4C71-B33F-F8065AAA0CCF}"/>
              </a:ext>
            </a:extLst>
          </p:cNvPr>
          <p:cNvSpPr/>
          <p:nvPr/>
        </p:nvSpPr>
        <p:spPr>
          <a:xfrm>
            <a:off x="8806648" y="1248803"/>
            <a:ext cx="2929629" cy="5490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solidFill>
                  <a:schemeClr val="tx1"/>
                </a:solidFill>
              </a:rPr>
              <a:t>יום חול</a:t>
            </a:r>
          </a:p>
        </p:txBody>
      </p:sp>
      <p:sp>
        <p:nvSpPr>
          <p:cNvPr id="7" name="כוכב: 32 פינות 6">
            <a:extLst>
              <a:ext uri="{FF2B5EF4-FFF2-40B4-BE49-F238E27FC236}">
                <a16:creationId xmlns:a16="http://schemas.microsoft.com/office/drawing/2014/main" id="{4F472D50-DB97-4357-B699-D445704F310E}"/>
              </a:ext>
            </a:extLst>
          </p:cNvPr>
          <p:cNvSpPr/>
          <p:nvPr/>
        </p:nvSpPr>
        <p:spPr>
          <a:xfrm>
            <a:off x="2578406" y="320131"/>
            <a:ext cx="7208668" cy="807868"/>
          </a:xfrm>
          <a:prstGeom prst="star3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תפילת העמידה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3525C9ED-EBA4-41AF-B22E-94E4B04E55BE}"/>
              </a:ext>
            </a:extLst>
          </p:cNvPr>
          <p:cNvSpPr/>
          <p:nvPr/>
        </p:nvSpPr>
        <p:spPr>
          <a:xfrm>
            <a:off x="5069149" y="1266112"/>
            <a:ext cx="3142695" cy="5490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solidFill>
                  <a:schemeClr val="tx1"/>
                </a:solidFill>
              </a:rPr>
              <a:t>יום טוב, </a:t>
            </a:r>
            <a:r>
              <a:rPr lang="he-IL" sz="2000" b="1">
                <a:solidFill>
                  <a:schemeClr val="tx1"/>
                </a:solidFill>
              </a:rPr>
              <a:t>שבת </a:t>
            </a:r>
            <a:endParaRPr lang="he-IL" sz="2000" b="1" dirty="0">
              <a:solidFill>
                <a:schemeClr val="tx1"/>
              </a:solidFill>
            </a:endParaRP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4F94D07A-0B88-466E-9089-6A4AB2021C6B}"/>
              </a:ext>
            </a:extLst>
          </p:cNvPr>
          <p:cNvSpPr/>
          <p:nvPr/>
        </p:nvSpPr>
        <p:spPr>
          <a:xfrm>
            <a:off x="1389354" y="1248803"/>
            <a:ext cx="3045041" cy="5490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solidFill>
                  <a:schemeClr val="tx1"/>
                </a:solidFill>
              </a:rPr>
              <a:t>מוסף ראש השנה</a:t>
            </a: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26E014DE-4C48-42A1-B6BE-41AD3BAD26DA}"/>
              </a:ext>
            </a:extLst>
          </p:cNvPr>
          <p:cNvSpPr/>
          <p:nvPr/>
        </p:nvSpPr>
        <p:spPr>
          <a:xfrm>
            <a:off x="2582293" y="2045650"/>
            <a:ext cx="8012096" cy="3149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b="1" dirty="0">
                <a:solidFill>
                  <a:schemeClr val="tx1"/>
                </a:solidFill>
              </a:rPr>
              <a:t>אבות</a:t>
            </a:r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F43528D9-E38B-4EF1-9945-F7C5809C576A}"/>
              </a:ext>
            </a:extLst>
          </p:cNvPr>
          <p:cNvSpPr/>
          <p:nvPr/>
        </p:nvSpPr>
        <p:spPr>
          <a:xfrm>
            <a:off x="2578406" y="2489209"/>
            <a:ext cx="8012096" cy="3149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b="1" dirty="0">
                <a:solidFill>
                  <a:schemeClr val="tx1"/>
                </a:solidFill>
              </a:rPr>
              <a:t>גבורות</a:t>
            </a:r>
          </a:p>
        </p:txBody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7B32000B-68CC-48C8-A27C-2B273976A846}"/>
              </a:ext>
            </a:extLst>
          </p:cNvPr>
          <p:cNvSpPr/>
          <p:nvPr/>
        </p:nvSpPr>
        <p:spPr>
          <a:xfrm>
            <a:off x="2578406" y="2945215"/>
            <a:ext cx="8012096" cy="3149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b="1" dirty="0">
                <a:solidFill>
                  <a:schemeClr val="tx1"/>
                </a:solidFill>
              </a:rPr>
              <a:t>קדושת ה'</a:t>
            </a:r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E1063DC2-524F-4475-AB60-B57D33748BE3}"/>
              </a:ext>
            </a:extLst>
          </p:cNvPr>
          <p:cNvSpPr/>
          <p:nvPr/>
        </p:nvSpPr>
        <p:spPr>
          <a:xfrm>
            <a:off x="2578406" y="5270321"/>
            <a:ext cx="8088667" cy="3357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b="1" dirty="0">
                <a:solidFill>
                  <a:schemeClr val="tx1"/>
                </a:solidFill>
              </a:rPr>
              <a:t>עבודה</a:t>
            </a:r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66C75D39-24ED-4F5B-88CE-AC917A3DCDA6}"/>
              </a:ext>
            </a:extLst>
          </p:cNvPr>
          <p:cNvSpPr/>
          <p:nvPr/>
        </p:nvSpPr>
        <p:spPr>
          <a:xfrm>
            <a:off x="2578405" y="5726599"/>
            <a:ext cx="8088667" cy="3357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b="1" dirty="0">
                <a:solidFill>
                  <a:schemeClr val="tx1"/>
                </a:solidFill>
              </a:rPr>
              <a:t>הודאה</a:t>
            </a:r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DD883178-93D5-4E75-962E-AFE3108035DB}"/>
              </a:ext>
            </a:extLst>
          </p:cNvPr>
          <p:cNvSpPr/>
          <p:nvPr/>
        </p:nvSpPr>
        <p:spPr>
          <a:xfrm>
            <a:off x="2578405" y="6182876"/>
            <a:ext cx="8088667" cy="3510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b="1" dirty="0">
                <a:solidFill>
                  <a:schemeClr val="tx1"/>
                </a:solidFill>
              </a:rPr>
              <a:t>שים שלום</a:t>
            </a:r>
          </a:p>
        </p:txBody>
      </p:sp>
      <p:sp>
        <p:nvSpPr>
          <p:cNvPr id="30" name="מלבן 29">
            <a:extLst>
              <a:ext uri="{FF2B5EF4-FFF2-40B4-BE49-F238E27FC236}">
                <a16:creationId xmlns:a16="http://schemas.microsoft.com/office/drawing/2014/main" id="{D4CCE739-F21E-407A-A968-A353A61EBAB4}"/>
              </a:ext>
            </a:extLst>
          </p:cNvPr>
          <p:cNvSpPr/>
          <p:nvPr/>
        </p:nvSpPr>
        <p:spPr>
          <a:xfrm>
            <a:off x="8904300" y="3357418"/>
            <a:ext cx="2831977" cy="182868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dirty="0">
                <a:solidFill>
                  <a:schemeClr val="tx1"/>
                </a:solidFill>
              </a:rPr>
              <a:t>        </a:t>
            </a:r>
            <a:r>
              <a:rPr lang="he-IL" sz="2000" b="1" dirty="0">
                <a:solidFill>
                  <a:schemeClr val="tx1"/>
                </a:solidFill>
              </a:rPr>
              <a:t>13</a:t>
            </a:r>
            <a:r>
              <a:rPr lang="he-IL" dirty="0">
                <a:solidFill>
                  <a:schemeClr val="tx1"/>
                </a:solidFill>
              </a:rPr>
              <a:t> </a:t>
            </a:r>
            <a:r>
              <a:rPr lang="he-IL" sz="2800" b="1" dirty="0">
                <a:solidFill>
                  <a:schemeClr val="tx1"/>
                </a:solidFill>
              </a:rPr>
              <a:t>בקשות </a:t>
            </a:r>
            <a:r>
              <a:rPr lang="he-IL" b="1" dirty="0">
                <a:solidFill>
                  <a:schemeClr val="tx1"/>
                </a:solidFill>
              </a:rPr>
              <a:t> </a:t>
            </a:r>
          </a:p>
          <a:p>
            <a:r>
              <a:rPr lang="he-IL" dirty="0">
                <a:solidFill>
                  <a:schemeClr val="tx1"/>
                </a:solidFill>
              </a:rPr>
              <a:t>בינה, תשובה, סליחה, גאולה, </a:t>
            </a:r>
          </a:p>
          <a:p>
            <a:r>
              <a:rPr lang="he-IL" dirty="0">
                <a:solidFill>
                  <a:schemeClr val="tx1"/>
                </a:solidFill>
              </a:rPr>
              <a:t>רפואה, שנים, קיבוץ גלויות, </a:t>
            </a:r>
          </a:p>
          <a:p>
            <a:r>
              <a:rPr lang="he-IL" dirty="0">
                <a:solidFill>
                  <a:schemeClr val="tx1"/>
                </a:solidFill>
              </a:rPr>
              <a:t>השבת המשפט, המינים, </a:t>
            </a:r>
          </a:p>
          <a:p>
            <a:r>
              <a:rPr lang="he-IL" dirty="0">
                <a:solidFill>
                  <a:schemeClr val="tx1"/>
                </a:solidFill>
              </a:rPr>
              <a:t>הצדיקים, בנין ירושלים, </a:t>
            </a:r>
          </a:p>
          <a:p>
            <a:r>
              <a:rPr lang="he-IL" dirty="0">
                <a:solidFill>
                  <a:schemeClr val="tx1"/>
                </a:solidFill>
              </a:rPr>
              <a:t>מלכות בית דויד, שומע תפילה</a:t>
            </a:r>
          </a:p>
        </p:txBody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ABA0F267-0857-4398-970F-7242507D7420}"/>
              </a:ext>
            </a:extLst>
          </p:cNvPr>
          <p:cNvSpPr/>
          <p:nvPr/>
        </p:nvSpPr>
        <p:spPr>
          <a:xfrm>
            <a:off x="5279992" y="3357418"/>
            <a:ext cx="2574524" cy="172026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b="1" dirty="0">
                <a:solidFill>
                  <a:schemeClr val="tx1"/>
                </a:solidFill>
              </a:rPr>
              <a:t>קדושת היום.</a:t>
            </a:r>
          </a:p>
        </p:txBody>
      </p:sp>
      <p:sp>
        <p:nvSpPr>
          <p:cNvPr id="34" name="מלבן 33">
            <a:extLst>
              <a:ext uri="{FF2B5EF4-FFF2-40B4-BE49-F238E27FC236}">
                <a16:creationId xmlns:a16="http://schemas.microsoft.com/office/drawing/2014/main" id="{9C55B447-7E62-4D44-B160-F3DFDD77A50D}"/>
              </a:ext>
            </a:extLst>
          </p:cNvPr>
          <p:cNvSpPr/>
          <p:nvPr/>
        </p:nvSpPr>
        <p:spPr>
          <a:xfrm>
            <a:off x="1478131" y="3372696"/>
            <a:ext cx="2574524" cy="170498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b="1" dirty="0">
                <a:solidFill>
                  <a:schemeClr val="tx1"/>
                </a:solidFill>
              </a:rPr>
              <a:t>1.מלכויות.</a:t>
            </a:r>
          </a:p>
          <a:p>
            <a:pPr algn="ctr"/>
            <a:r>
              <a:rPr lang="he-IL" sz="2800" b="1" dirty="0">
                <a:solidFill>
                  <a:schemeClr val="tx1"/>
                </a:solidFill>
              </a:rPr>
              <a:t> 2.זיכרונות.</a:t>
            </a:r>
          </a:p>
          <a:p>
            <a:pPr algn="ctr"/>
            <a:r>
              <a:rPr lang="he-IL" sz="2800" b="1" dirty="0">
                <a:solidFill>
                  <a:schemeClr val="tx1"/>
                </a:solidFill>
              </a:rPr>
              <a:t>3.שופרות.</a:t>
            </a:r>
          </a:p>
        </p:txBody>
      </p:sp>
      <p:sp>
        <p:nvSpPr>
          <p:cNvPr id="36" name="מלבן 35">
            <a:extLst>
              <a:ext uri="{FF2B5EF4-FFF2-40B4-BE49-F238E27FC236}">
                <a16:creationId xmlns:a16="http://schemas.microsoft.com/office/drawing/2014/main" id="{1EDEE209-7F72-416D-AC93-DB47B38486DB}"/>
              </a:ext>
            </a:extLst>
          </p:cNvPr>
          <p:cNvSpPr/>
          <p:nvPr/>
        </p:nvSpPr>
        <p:spPr>
          <a:xfrm>
            <a:off x="528221" y="2016950"/>
            <a:ext cx="1899821" cy="125951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b="1" dirty="0"/>
              <a:t>ברכות השבח</a:t>
            </a:r>
          </a:p>
        </p:txBody>
      </p:sp>
      <p:sp>
        <p:nvSpPr>
          <p:cNvPr id="37" name="מלבן 36">
            <a:extLst>
              <a:ext uri="{FF2B5EF4-FFF2-40B4-BE49-F238E27FC236}">
                <a16:creationId xmlns:a16="http://schemas.microsoft.com/office/drawing/2014/main" id="{1E73F347-F8AC-419F-BD3D-99E5D00DED24}"/>
              </a:ext>
            </a:extLst>
          </p:cNvPr>
          <p:cNvSpPr/>
          <p:nvPr/>
        </p:nvSpPr>
        <p:spPr>
          <a:xfrm>
            <a:off x="568170" y="5186103"/>
            <a:ext cx="1819922" cy="13828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b="1" dirty="0"/>
              <a:t>ברכות ההודאה</a:t>
            </a:r>
          </a:p>
        </p:txBody>
      </p:sp>
      <p:sp>
        <p:nvSpPr>
          <p:cNvPr id="38" name="מלבן 37">
            <a:extLst>
              <a:ext uri="{FF2B5EF4-FFF2-40B4-BE49-F238E27FC236}">
                <a16:creationId xmlns:a16="http://schemas.microsoft.com/office/drawing/2014/main" id="{3C632F41-0588-45D4-ABD5-07B4C5B29715}"/>
              </a:ext>
            </a:extLst>
          </p:cNvPr>
          <p:cNvSpPr/>
          <p:nvPr/>
        </p:nvSpPr>
        <p:spPr>
          <a:xfrm>
            <a:off x="10140241" y="6289807"/>
            <a:ext cx="580008" cy="52383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39" name="מלבן 38">
            <a:extLst>
              <a:ext uri="{FF2B5EF4-FFF2-40B4-BE49-F238E27FC236}">
                <a16:creationId xmlns:a16="http://schemas.microsoft.com/office/drawing/2014/main" id="{9FDD100A-0716-4007-94A7-D43923DEF40F}"/>
              </a:ext>
            </a:extLst>
          </p:cNvPr>
          <p:cNvSpPr/>
          <p:nvPr/>
        </p:nvSpPr>
        <p:spPr>
          <a:xfrm>
            <a:off x="6350492" y="6478915"/>
            <a:ext cx="580008" cy="3510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0" name="מלבן 39">
            <a:extLst>
              <a:ext uri="{FF2B5EF4-FFF2-40B4-BE49-F238E27FC236}">
                <a16:creationId xmlns:a16="http://schemas.microsoft.com/office/drawing/2014/main" id="{B91FF74A-79FA-48AA-8167-B0649F1B3795}"/>
              </a:ext>
            </a:extLst>
          </p:cNvPr>
          <p:cNvSpPr/>
          <p:nvPr/>
        </p:nvSpPr>
        <p:spPr>
          <a:xfrm>
            <a:off x="2329829" y="6401147"/>
            <a:ext cx="580008" cy="55252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solidFill>
                  <a:schemeClr val="tx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5295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3" grpId="0" animBg="1"/>
      <p:bldP spid="34" grpId="0" animBg="1"/>
      <p:bldP spid="38" grpId="0" animBg="1"/>
      <p:bldP spid="39" grpId="0" animBg="1"/>
      <p:bldP spid="4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5303BB45-241A-406A-9959-FA9F3A9E18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69507" y="924092"/>
            <a:ext cx="5646198" cy="5288859"/>
          </a:xfr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EAD41AA0-12AB-4243-9178-8309C6B25B63}"/>
              </a:ext>
            </a:extLst>
          </p:cNvPr>
          <p:cNvSpPr/>
          <p:nvPr/>
        </p:nvSpPr>
        <p:spPr>
          <a:xfrm rot="1454169">
            <a:off x="6892032" y="2377599"/>
            <a:ext cx="3417903" cy="3044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כדי שלא להטריח הצבור ביום שמחתם תקנו להתפלל </a:t>
            </a:r>
          </a:p>
          <a:p>
            <a:pPr algn="ctr"/>
            <a:r>
              <a:rPr lang="he-IL" sz="2400" b="1" dirty="0"/>
              <a:t>שבע  ברכות בשבת ובמועדים</a:t>
            </a:r>
          </a:p>
          <a:p>
            <a:pPr algn="ctr"/>
            <a:r>
              <a:rPr lang="he-IL" dirty="0"/>
              <a:t>ואין אומרים את הברכות העוסקות בבקשת צרכים.</a:t>
            </a:r>
          </a:p>
        </p:txBody>
      </p:sp>
    </p:spTree>
    <p:extLst>
      <p:ext uri="{BB962C8B-B14F-4D97-AF65-F5344CB8AC3E}">
        <p14:creationId xmlns:p14="http://schemas.microsoft.com/office/powerpoint/2010/main" val="166886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C2D2E4B-6763-44B1-A6E2-A5CDB3630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408" y="571338"/>
            <a:ext cx="10515600" cy="5715324"/>
          </a:xfrm>
        </p:spPr>
        <p:txBody>
          <a:bodyPr/>
          <a:lstStyle/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sz="4000" b="1" dirty="0"/>
              <a:t>                     </a:t>
            </a: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F45923E8-9455-4105-82D8-B7C7985A2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3546" y="310719"/>
            <a:ext cx="11976842" cy="6749974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6D52875-DAD0-409B-9E0A-14700F25D0B4}"/>
              </a:ext>
            </a:extLst>
          </p:cNvPr>
          <p:cNvSpPr txBox="1"/>
          <p:nvPr/>
        </p:nvSpPr>
        <p:spPr>
          <a:xfrm>
            <a:off x="4642282" y="1062961"/>
            <a:ext cx="64363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6600" b="1" dirty="0">
                <a:latin typeface="FrankRuehl" panose="020E0503060101010101" pitchFamily="34" charset="-79"/>
                <a:cs typeface="FrankRuehl" panose="020E0503060101010101" pitchFamily="34" charset="-79"/>
              </a:rPr>
              <a:t>כוונה בתפילה</a:t>
            </a:r>
          </a:p>
          <a:p>
            <a:endParaRPr lang="he-IL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DEB78B5B-1907-4860-8840-4A6951BB8CD8}"/>
              </a:ext>
            </a:extLst>
          </p:cNvPr>
          <p:cNvSpPr txBox="1"/>
          <p:nvPr/>
        </p:nvSpPr>
        <p:spPr>
          <a:xfrm>
            <a:off x="1259890" y="1984441"/>
            <a:ext cx="9818702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3600" b="1" dirty="0"/>
              <a:t>שייתן האדם אל לבו </a:t>
            </a:r>
            <a:r>
              <a:rPr lang="he-IL" sz="4400" b="1" dirty="0"/>
              <a:t>שלפני ה' הוא מתפלל </a:t>
            </a:r>
            <a:r>
              <a:rPr lang="he-IL" sz="3600" b="1" dirty="0"/>
              <a:t>ואליו הוא קורא, ויפנה מחשבתו מכל שאר מחשבות העולם וייחד אותה על זה. 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6728CDE2-44BB-4570-9E07-E71567F35348}"/>
              </a:ext>
            </a:extLst>
          </p:cNvPr>
          <p:cNvSpPr txBox="1"/>
          <p:nvPr/>
        </p:nvSpPr>
        <p:spPr>
          <a:xfrm>
            <a:off x="562992" y="4551049"/>
            <a:ext cx="623656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3200" b="1" dirty="0">
                <a:solidFill>
                  <a:schemeClr val="bg2"/>
                </a:solidFill>
              </a:rPr>
              <a:t>יש להקפיד על כוונת התפילה במיוחד בברכה הראשונה-ברכת אבות ,</a:t>
            </a:r>
          </a:p>
          <a:p>
            <a:r>
              <a:rPr lang="he-IL" sz="3200" b="1" dirty="0">
                <a:solidFill>
                  <a:schemeClr val="bg2"/>
                </a:solidFill>
              </a:rPr>
              <a:t>ואם לא התכוון חוזר לתחילת שמונה עשרה. </a:t>
            </a:r>
          </a:p>
          <a:p>
            <a:r>
              <a:rPr lang="he-IL" sz="3200" b="1" dirty="0">
                <a:solidFill>
                  <a:schemeClr val="bg2"/>
                </a:solidFill>
              </a:rPr>
              <a:t>(כיום להלכה נפסק שלא חוזרים)</a:t>
            </a:r>
          </a:p>
        </p:txBody>
      </p:sp>
    </p:spTree>
    <p:extLst>
      <p:ext uri="{BB962C8B-B14F-4D97-AF65-F5344CB8AC3E}">
        <p14:creationId xmlns:p14="http://schemas.microsoft.com/office/powerpoint/2010/main" val="330813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657978A-3AE7-40CA-AC60-692544656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609" y="532660"/>
            <a:ext cx="10835937" cy="5662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dirty="0"/>
              <a:t>דברים המעכבים את התפילה גם אם הגיע זמנה: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</p:txBody>
      </p:sp>
      <p:sp>
        <p:nvSpPr>
          <p:cNvPr id="5" name="כוכב: 32 פינות 4">
            <a:extLst>
              <a:ext uri="{FF2B5EF4-FFF2-40B4-BE49-F238E27FC236}">
                <a16:creationId xmlns:a16="http://schemas.microsoft.com/office/drawing/2014/main" id="{46808F5B-1AFF-41DC-82B9-00969A5D9078}"/>
              </a:ext>
            </a:extLst>
          </p:cNvPr>
          <p:cNvSpPr/>
          <p:nvPr/>
        </p:nvSpPr>
        <p:spPr>
          <a:xfrm>
            <a:off x="669542" y="3866225"/>
            <a:ext cx="2840853" cy="2214981"/>
          </a:xfrm>
          <a:prstGeom prst="star3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כיסוי הערווה- צניעות</a:t>
            </a:r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46FC5563-3C76-4053-97F6-7DB42E4B9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474" y="1057275"/>
            <a:ext cx="3273178" cy="2371725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4AB12A34-202F-44CA-AA48-73CA4C5AC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269" y="1245669"/>
            <a:ext cx="2834886" cy="2420322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F154EE6E-D17F-4430-BEA6-73941D302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255" y="3584010"/>
            <a:ext cx="6463776" cy="3231888"/>
          </a:xfrm>
          <a:prstGeom prst="rect">
            <a:avLst/>
          </a:prstGeom>
        </p:spPr>
      </p:pic>
      <p:pic>
        <p:nvPicPr>
          <p:cNvPr id="19" name="תמונה 18">
            <a:extLst>
              <a:ext uri="{FF2B5EF4-FFF2-40B4-BE49-F238E27FC236}">
                <a16:creationId xmlns:a16="http://schemas.microsoft.com/office/drawing/2014/main" id="{A32E97D1-8A06-45F4-A9E2-7DE3CDFADC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5474" y="4487405"/>
            <a:ext cx="3225064" cy="2499577"/>
          </a:xfrm>
          <a:prstGeom prst="rect">
            <a:avLst/>
          </a:prstGeom>
        </p:spPr>
      </p:pic>
      <p:pic>
        <p:nvPicPr>
          <p:cNvPr id="21" name="תמונה 20">
            <a:extLst>
              <a:ext uri="{FF2B5EF4-FFF2-40B4-BE49-F238E27FC236}">
                <a16:creationId xmlns:a16="http://schemas.microsoft.com/office/drawing/2014/main" id="{48559689-39F4-4671-A9F9-A92A98E5BE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7020" y="287660"/>
            <a:ext cx="2372348" cy="3076029"/>
          </a:xfrm>
          <a:prstGeom prst="rect">
            <a:avLst/>
          </a:prstGeom>
        </p:spPr>
      </p:pic>
      <p:pic>
        <p:nvPicPr>
          <p:cNvPr id="23" name="תמונה 22">
            <a:extLst>
              <a:ext uri="{FF2B5EF4-FFF2-40B4-BE49-F238E27FC236}">
                <a16:creationId xmlns:a16="http://schemas.microsoft.com/office/drawing/2014/main" id="{20451FD5-B4C6-4357-924B-2F40960ABC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8545" y="658450"/>
            <a:ext cx="3407959" cy="268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4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8BC8E25-10A2-4986-AC1E-9D39F74F9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2458"/>
            <a:ext cx="10515600" cy="587701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he-IL" b="1" dirty="0"/>
              <a:t>דברים שצריך להקפיד עליהם אך אינם מעכבים את התפילה:</a:t>
            </a:r>
          </a:p>
          <a:p>
            <a:pPr marL="0" indent="0">
              <a:buNone/>
            </a:pPr>
            <a:r>
              <a:rPr lang="he-IL" dirty="0"/>
              <a:t>   </a:t>
            </a:r>
          </a:p>
          <a:p>
            <a:pPr marL="0" indent="0">
              <a:buNone/>
            </a:pPr>
            <a:r>
              <a:rPr lang="he-IL" dirty="0"/>
              <a:t>    תפילת שמונה עשרה בעמידה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    לעמוד לכיוון המקדש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   להכין את גופו לתפילה –שיעמוד ביראה </a:t>
            </a:r>
          </a:p>
          <a:p>
            <a:pPr marL="0" indent="0">
              <a:buNone/>
            </a:pPr>
            <a:r>
              <a:rPr lang="he-IL" dirty="0"/>
              <a:t>   (עיניים מושפלות, ידיים מונחות על הלב וכד)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    לבוש ראוי.("</a:t>
            </a:r>
            <a:r>
              <a:rPr lang="he-IL"/>
              <a:t>ושיתקן מלבושיו..")</a:t>
            </a: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 </a:t>
            </a:r>
          </a:p>
          <a:p>
            <a:pPr marL="0" indent="0">
              <a:buNone/>
            </a:pPr>
            <a:r>
              <a:rPr lang="he-IL" dirty="0"/>
              <a:t> תפילה בקול אך לא בצעקה או בלחש.</a:t>
            </a:r>
          </a:p>
          <a:p>
            <a:pPr marL="0" indent="0">
              <a:buNone/>
            </a:pPr>
            <a:r>
              <a:rPr lang="he-IL" dirty="0"/>
              <a:t>("וישווה הקול ,לא גבוה יותר מידי ולא נמוך..")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   לכרוע היכן שצריך: ב'אבות,' בהודאה(מודים אנחנו לך)</a:t>
            </a:r>
          </a:p>
          <a:p>
            <a:endParaRPr lang="he-IL" dirty="0"/>
          </a:p>
          <a:p>
            <a:endParaRPr lang="he-IL" dirty="0"/>
          </a:p>
        </p:txBody>
      </p:sp>
      <p:sp>
        <p:nvSpPr>
          <p:cNvPr id="4" name="פיצוץ: 8 נקודות 3">
            <a:extLst>
              <a:ext uri="{FF2B5EF4-FFF2-40B4-BE49-F238E27FC236}">
                <a16:creationId xmlns:a16="http://schemas.microsoft.com/office/drawing/2014/main" id="{1F03373A-201E-436B-9DF0-896F644673E5}"/>
              </a:ext>
            </a:extLst>
          </p:cNvPr>
          <p:cNvSpPr/>
          <p:nvPr/>
        </p:nvSpPr>
        <p:spPr>
          <a:xfrm>
            <a:off x="11023093" y="1348338"/>
            <a:ext cx="550416" cy="408373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4B0BD69A-F712-4195-B6EF-430B7E2AF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766" y="4979770"/>
            <a:ext cx="609653" cy="451143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DC946097-0E2E-4A9C-83F5-D0F1EF143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973" y="3841209"/>
            <a:ext cx="609653" cy="451143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DDC7F676-D0F5-4A29-ACFB-D27949FDA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67" y="2843514"/>
            <a:ext cx="609653" cy="451143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9D8327D1-B4D9-4C6C-9FB1-F4867879D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3475" y="1968598"/>
            <a:ext cx="609653" cy="451143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1C03D695-0725-4488-B11A-0394986F2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8828" y="5998705"/>
            <a:ext cx="609653" cy="451143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49F6A7FC-05E5-4864-9B4C-FA27DE6D1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68" y="1298813"/>
            <a:ext cx="3994951" cy="446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12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מציין מיקום תוכן 13">
            <a:extLst>
              <a:ext uri="{FF2B5EF4-FFF2-40B4-BE49-F238E27FC236}">
                <a16:creationId xmlns:a16="http://schemas.microsoft.com/office/drawing/2014/main" id="{77A1C564-FBCC-447D-8D44-13433663C6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299089">
            <a:off x="775826" y="2130345"/>
            <a:ext cx="10412870" cy="3121423"/>
          </a:xfr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09D38FF2-89EF-4E17-B9F1-CC044638949E}"/>
              </a:ext>
            </a:extLst>
          </p:cNvPr>
          <p:cNvSpPr txBox="1"/>
          <p:nvPr/>
        </p:nvSpPr>
        <p:spPr>
          <a:xfrm>
            <a:off x="2354799" y="520725"/>
            <a:ext cx="527111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4400" b="1" dirty="0"/>
              <a:t>זמני התפילה</a:t>
            </a:r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9E2CDEEF-C3F1-4CFC-8AEE-49C0FE93344E}"/>
              </a:ext>
            </a:extLst>
          </p:cNvPr>
          <p:cNvSpPr/>
          <p:nvPr/>
        </p:nvSpPr>
        <p:spPr>
          <a:xfrm>
            <a:off x="-24478" y="1587058"/>
            <a:ext cx="6573914" cy="1248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הנץ החמה- </a:t>
            </a:r>
            <a:r>
              <a:rPr lang="he-IL" dirty="0"/>
              <a:t>זריחה-כאשר רואים את קרני השמש הראשונות.</a:t>
            </a:r>
          </a:p>
          <a:p>
            <a:pPr algn="ctr"/>
            <a:r>
              <a:rPr lang="he-IL" dirty="0"/>
              <a:t>        </a:t>
            </a:r>
          </a:p>
        </p:txBody>
      </p:sp>
      <p:sp>
        <p:nvSpPr>
          <p:cNvPr id="12" name="אליפסה 11">
            <a:extLst>
              <a:ext uri="{FF2B5EF4-FFF2-40B4-BE49-F238E27FC236}">
                <a16:creationId xmlns:a16="http://schemas.microsoft.com/office/drawing/2014/main" id="{2BBE7741-6911-4137-AE21-F771E8EF6E98}"/>
              </a:ext>
            </a:extLst>
          </p:cNvPr>
          <p:cNvSpPr/>
          <p:nvPr/>
        </p:nvSpPr>
        <p:spPr>
          <a:xfrm>
            <a:off x="6086995" y="1159739"/>
            <a:ext cx="6105005" cy="10919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עלות השחר/ עמוד השחר- </a:t>
            </a:r>
            <a:r>
              <a:rPr lang="he-IL" dirty="0"/>
              <a:t>האור שנראה לפני שהשמש זורחת ורואים את קרני השמש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EAFCE686-C84A-4839-A72F-F43D59AE0223}"/>
              </a:ext>
            </a:extLst>
          </p:cNvPr>
          <p:cNvSpPr txBox="1"/>
          <p:nvPr/>
        </p:nvSpPr>
        <p:spPr>
          <a:xfrm>
            <a:off x="8691238" y="3522381"/>
            <a:ext cx="3195961" cy="35702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/>
              <a:t>שחרית: </a:t>
            </a:r>
          </a:p>
          <a:p>
            <a:r>
              <a:rPr lang="he-IL" dirty="0"/>
              <a:t>מהנץ החמה עד סוף שעה רביעית</a:t>
            </a:r>
          </a:p>
          <a:p>
            <a:endParaRPr lang="he-IL" dirty="0"/>
          </a:p>
          <a:p>
            <a:r>
              <a:rPr lang="he-IL" dirty="0"/>
              <a:t>בשעת הדחק: אם צריך לצאת ומתפלל מוקדם יותר-בעלות השחר-יצא ידי חובה.</a:t>
            </a:r>
          </a:p>
          <a:p>
            <a:endParaRPr lang="he-IL" dirty="0"/>
          </a:p>
          <a:p>
            <a:r>
              <a:rPr lang="he-IL" dirty="0"/>
              <a:t> אם לא הספיק והתפלל עד חצות היום ,יצא ידי חובת תפילה </a:t>
            </a:r>
          </a:p>
          <a:p>
            <a:r>
              <a:rPr lang="he-IL" dirty="0"/>
              <a:t>אך לא יצא ידי חובת התפילה בזמנה, פחות טוב.</a:t>
            </a:r>
          </a:p>
          <a:p>
            <a:endParaRPr lang="he-IL" dirty="0"/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CD958EBA-A912-4449-98F6-6C59DEE81DD6}"/>
              </a:ext>
            </a:extLst>
          </p:cNvPr>
          <p:cNvSpPr txBox="1"/>
          <p:nvPr/>
        </p:nvSpPr>
        <p:spPr>
          <a:xfrm>
            <a:off x="4820573" y="5164131"/>
            <a:ext cx="33202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800" b="1" dirty="0"/>
              <a:t>מנחה:</a:t>
            </a:r>
          </a:p>
          <a:p>
            <a:r>
              <a:rPr lang="he-IL" dirty="0"/>
              <a:t> משש וחצי שעות זמניות ביום, </a:t>
            </a:r>
          </a:p>
          <a:p>
            <a:r>
              <a:rPr lang="he-IL" dirty="0"/>
              <a:t> עד הערב- הלילה</a:t>
            </a: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B6448575-6EA3-4218-A2B3-20A7FB53F03B}"/>
              </a:ext>
            </a:extLst>
          </p:cNvPr>
          <p:cNvSpPr txBox="1"/>
          <p:nvPr/>
        </p:nvSpPr>
        <p:spPr>
          <a:xfrm>
            <a:off x="2090690" y="5473801"/>
            <a:ext cx="258340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800" b="1" dirty="0"/>
              <a:t>ערבית:</a:t>
            </a:r>
          </a:p>
          <a:p>
            <a:r>
              <a:rPr lang="he-IL" dirty="0"/>
              <a:t>כל הלילה עד עלות השחר. </a:t>
            </a:r>
          </a:p>
        </p:txBody>
      </p:sp>
    </p:spTree>
    <p:extLst>
      <p:ext uri="{BB962C8B-B14F-4D97-AF65-F5344CB8AC3E}">
        <p14:creationId xmlns:p14="http://schemas.microsoft.com/office/powerpoint/2010/main" val="111851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6" grpId="0"/>
      <p:bldP spid="18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641D8F2-3B29-459B-AF2B-B647BD735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3973"/>
            <a:ext cx="10515600" cy="6235301"/>
          </a:xfrm>
        </p:spPr>
        <p:txBody>
          <a:bodyPr/>
          <a:lstStyle/>
          <a:p>
            <a:pPr marL="0" indent="0">
              <a:buNone/>
            </a:pPr>
            <a:r>
              <a:rPr lang="he-IL" sz="3200" b="1" dirty="0"/>
              <a:t>הלכות שונות בקשר לתפילה:</a:t>
            </a:r>
          </a:p>
          <a:p>
            <a:pPr marL="0" indent="0">
              <a:buNone/>
            </a:pPr>
            <a:endParaRPr lang="he-IL" sz="3200" b="1" dirty="0"/>
          </a:p>
          <a:p>
            <a:pPr marL="0" indent="0">
              <a:buNone/>
            </a:pPr>
            <a:r>
              <a:rPr lang="he-IL" dirty="0"/>
              <a:t>  לא לעסוק במלאכה לפני שמתפללים כדי שלא ישכח.  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  תשלומי תפילה: אם שכח תפילה משלים אותה בתפילה שבאה לאחריה.- מתפלל פעמיים תפילת עמידה.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  הפסקה בתפילה: אין להפסיק בתפילה  בשום מקרה- אפילו אם מלך אומר לו שלום, אלא אם כן יש בכך סכנה, אפילו בגלל נחש אלא אם כן חושש שהוא מסוכן.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  יש להקפיד על תפילה </a:t>
            </a:r>
            <a:r>
              <a:rPr lang="he-IL" dirty="0" err="1"/>
              <a:t>בציבור,במניין</a:t>
            </a:r>
            <a:r>
              <a:rPr lang="he-IL" dirty="0"/>
              <a:t> .שתפילה בציבור מתקבלת יותר.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52C2F28A-2960-4055-9E9E-F741FE68C33E}"/>
              </a:ext>
            </a:extLst>
          </p:cNvPr>
          <p:cNvSpPr/>
          <p:nvPr/>
        </p:nvSpPr>
        <p:spPr>
          <a:xfrm>
            <a:off x="11185124" y="1669003"/>
            <a:ext cx="337352" cy="39061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CFDD6D0F-196A-48A7-96F4-7BEABC3A8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124" y="2665472"/>
            <a:ext cx="353599" cy="40846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65B5E618-84FA-4841-92F9-D4E4476DD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124" y="5834801"/>
            <a:ext cx="353599" cy="408467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A21884C6-E1D3-4E47-8113-B4297E78C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000" y="4085900"/>
            <a:ext cx="353599" cy="40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9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BF1B7B2-EBB8-4C97-A3BF-57DC3839B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8588"/>
            <a:ext cx="10515600" cy="4880823"/>
          </a:xfrm>
        </p:spPr>
        <p:txBody>
          <a:bodyPr/>
          <a:lstStyle/>
          <a:p>
            <a:endParaRPr lang="he-IL" dirty="0"/>
          </a:p>
          <a:p>
            <a:pPr marL="0" indent="0">
              <a:buNone/>
            </a:pPr>
            <a:endParaRPr lang="he-IL" sz="5400" b="1" dirty="0"/>
          </a:p>
          <a:p>
            <a:pPr marL="0" indent="0">
              <a:buNone/>
            </a:pPr>
            <a:r>
              <a:rPr lang="he-IL" sz="5400" b="1" dirty="0"/>
              <a:t>     נוהגת:</a:t>
            </a:r>
          </a:p>
        </p:txBody>
      </p:sp>
      <p:sp>
        <p:nvSpPr>
          <p:cNvPr id="4" name="מסגרת 3">
            <a:extLst>
              <a:ext uri="{FF2B5EF4-FFF2-40B4-BE49-F238E27FC236}">
                <a16:creationId xmlns:a16="http://schemas.microsoft.com/office/drawing/2014/main" id="{CFA1A2BF-A25B-441F-BC6A-F25787BB61CC}"/>
              </a:ext>
            </a:extLst>
          </p:cNvPr>
          <p:cNvSpPr/>
          <p:nvPr/>
        </p:nvSpPr>
        <p:spPr>
          <a:xfrm rot="20607972">
            <a:off x="3333041" y="1100764"/>
            <a:ext cx="5565612" cy="199612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E7A4D76-0B47-4FC6-9241-A6B8ABCA9002}"/>
              </a:ext>
            </a:extLst>
          </p:cNvPr>
          <p:cNvSpPr txBox="1"/>
          <p:nvPr/>
        </p:nvSpPr>
        <p:spPr>
          <a:xfrm rot="20632189">
            <a:off x="4025120" y="1469621"/>
            <a:ext cx="40149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בכל מקום – ארץ וחוץ לארץ.</a:t>
            </a:r>
          </a:p>
          <a:p>
            <a:r>
              <a:rPr lang="he-IL" dirty="0"/>
              <a:t>ובכל זמן – בזמן המקדש ולאחר חורבנו.</a:t>
            </a:r>
          </a:p>
          <a:p>
            <a:r>
              <a:rPr lang="he-IL" dirty="0"/>
              <a:t>בזכרים ונקבות.</a:t>
            </a:r>
          </a:p>
          <a:p>
            <a:r>
              <a:rPr lang="he-IL" dirty="0"/>
              <a:t> </a:t>
            </a:r>
          </a:p>
        </p:txBody>
      </p:sp>
      <p:sp>
        <p:nvSpPr>
          <p:cNvPr id="7" name="מסגרת 6">
            <a:extLst>
              <a:ext uri="{FF2B5EF4-FFF2-40B4-BE49-F238E27FC236}">
                <a16:creationId xmlns:a16="http://schemas.microsoft.com/office/drawing/2014/main" id="{B843D186-D5B3-4211-8EC9-B59F5F2FF239}"/>
              </a:ext>
            </a:extLst>
          </p:cNvPr>
          <p:cNvSpPr/>
          <p:nvPr/>
        </p:nvSpPr>
        <p:spPr>
          <a:xfrm>
            <a:off x="4296792" y="3739092"/>
            <a:ext cx="7481337" cy="2589985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448FE104-2D1F-4ADB-AE8E-A3F040BE5332}"/>
              </a:ext>
            </a:extLst>
          </p:cNvPr>
          <p:cNvSpPr txBox="1"/>
          <p:nvPr/>
        </p:nvSpPr>
        <p:spPr>
          <a:xfrm>
            <a:off x="4512942" y="4115085"/>
            <a:ext cx="67580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מי עובר על המצווה?</a:t>
            </a:r>
          </a:p>
          <a:p>
            <a:r>
              <a:rPr lang="he-IL" b="1" dirty="0"/>
              <a:t>רמב"ם</a:t>
            </a:r>
            <a:r>
              <a:rPr lang="he-IL" dirty="0"/>
              <a:t>- אדם שעבר עליו יום ולילה בלי תפילה,  ביטל עשה. </a:t>
            </a:r>
          </a:p>
          <a:p>
            <a:r>
              <a:rPr lang="he-IL" dirty="0"/>
              <a:t>             (החיוב תפילה בכל יום)</a:t>
            </a:r>
          </a:p>
          <a:p>
            <a:r>
              <a:rPr lang="he-IL" b="1" dirty="0"/>
              <a:t>רמב"ן</a:t>
            </a:r>
            <a:r>
              <a:rPr lang="he-IL" dirty="0"/>
              <a:t>- מי שצר לו ולא פנה אל ה' להושיעו, ביטל עשה זה.</a:t>
            </a:r>
          </a:p>
          <a:p>
            <a:r>
              <a:rPr lang="he-IL" dirty="0"/>
              <a:t>               (תפילה בשעת צרה) </a:t>
            </a:r>
          </a:p>
          <a:p>
            <a:r>
              <a:rPr lang="he-IL" b="1" dirty="0"/>
              <a:t>העובר על מצווה </a:t>
            </a:r>
            <a:r>
              <a:rPr lang="he-IL" b="1" dirty="0" err="1"/>
              <a:t>זו,עונשו</a:t>
            </a:r>
            <a:r>
              <a:rPr lang="he-IL" b="1" dirty="0"/>
              <a:t> גדול מאד שהוא כמסיר השגחת השם מעליו</a:t>
            </a:r>
          </a:p>
        </p:txBody>
      </p:sp>
      <p:sp>
        <p:nvSpPr>
          <p:cNvPr id="10" name="מעגל: חלול 9">
            <a:extLst>
              <a:ext uri="{FF2B5EF4-FFF2-40B4-BE49-F238E27FC236}">
                <a16:creationId xmlns:a16="http://schemas.microsoft.com/office/drawing/2014/main" id="{DB57418C-8FD0-48FD-BD50-8FC9B8285D00}"/>
              </a:ext>
            </a:extLst>
          </p:cNvPr>
          <p:cNvSpPr/>
          <p:nvPr/>
        </p:nvSpPr>
        <p:spPr>
          <a:xfrm>
            <a:off x="413871" y="3052932"/>
            <a:ext cx="3302130" cy="3276145"/>
          </a:xfrm>
          <a:prstGeom prst="donut">
            <a:avLst>
              <a:gd name="adj" fmla="val 135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FF845EC2-FEBA-4561-B0AD-996989CF2D96}"/>
              </a:ext>
            </a:extLst>
          </p:cNvPr>
          <p:cNvSpPr txBox="1"/>
          <p:nvPr/>
        </p:nvSpPr>
        <p:spPr>
          <a:xfrm>
            <a:off x="920983" y="3739092"/>
            <a:ext cx="22430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          מדוע?</a:t>
            </a:r>
          </a:p>
          <a:p>
            <a:r>
              <a:rPr lang="he-IL" dirty="0"/>
              <a:t>-כי מי שלא מתפלל אל ה' מראה בכך שאינו מכיר בה' ביכולתו </a:t>
            </a:r>
            <a:r>
              <a:rPr lang="he-IL"/>
              <a:t>ובהשגחה של ה</a:t>
            </a:r>
            <a:r>
              <a:rPr lang="he-IL" dirty="0"/>
              <a:t>' על כל    אחד ואחד.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80929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10" grpId="0" animBg="1"/>
    </p:bld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1069</Words>
  <Application>Microsoft Office PowerPoint</Application>
  <PresentationFormat>מסך רחב</PresentationFormat>
  <Paragraphs>215</Paragraphs>
  <Slides>17</Slides>
  <Notes>17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FrankRuehl</vt:lpstr>
      <vt:lpstr>Guttman Yad-Brush</vt:lpstr>
      <vt:lpstr>Times New Roman</vt:lpstr>
      <vt:lpstr>ערכת נושא Office</vt:lpstr>
      <vt:lpstr>מצווה תל"ג-מצוות תפילה </vt:lpstr>
      <vt:lpstr>         הגדרת המצווה:                          לעבוד את ה'</vt:lpstr>
      <vt:lpstr>                    שורש המצווה</vt:lpstr>
      <vt:lpstr>מצגת של PowerPoint‏</vt:lpstr>
      <vt:lpstr>האם חיוב התפילה מדאוריתא או מדרבנן?  </vt:lpstr>
      <vt:lpstr>מדיני המצווה:</vt:lpstr>
      <vt:lpstr>תפילת ערבית</vt:lpstr>
      <vt:lpstr>                      תפילות בשבתות ומועדים: </vt:lpstr>
      <vt:lpstr>                        נוסח התפילה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מצווה תל"ג-מצוות תפילה</dc:title>
  <dc:creator>HOME</dc:creator>
  <cp:lastModifiedBy>דוד עצמון</cp:lastModifiedBy>
  <cp:revision>28</cp:revision>
  <dcterms:created xsi:type="dcterms:W3CDTF">2020-10-13T07:57:48Z</dcterms:created>
  <dcterms:modified xsi:type="dcterms:W3CDTF">2023-10-19T11:41:22Z</dcterms:modified>
</cp:coreProperties>
</file>